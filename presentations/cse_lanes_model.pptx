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Two per system: the one the machine blesses as its baseline, plus GCC as the portable reference. CSEinit offers GCC and Intel today, so whether Intel stays one of the two on the systems that have it is the open part.</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2B62B8"/>
                </a:solidFill>
                <a:latin typeface="Avenir Next"/>
              </a:defRPr>
            </a:pPr>
            <a:r>
              <a:t>Do we anchor the older version to what the systems run today?</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Each package carries two versions, and the newer is always the newest release. The older is the open part: match what is deployed on the systems now so existing code keeps building, or just carry the previous release and move users up. Decide before the roster locks.</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OpenBLAS is the one BLAS and LAPACK today. Cray LibSci is already on the path on the Cray systems, and Intel systems expect MKL. Both are registered rather than built, so this is policy per system, not build cost.</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Build every lane at the portable baseline, prove the model, then turn on per-lane tuning for Genoa, Milan, or Cascade Lake. Each target is a flag plus a full rebuild, so the open part is when, not whether.</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What does consistency promise across systems?</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Users build, link, and run the same way everywhere: same front door, same rosters, same workflow. That much is the goal. The open part is what sits underneath: each machine's native MPI and compiler, or a pinned CSE compiler and a shared MPI? Which promise do we make?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DISCUSSION · STARTER QUESTIONS FOR THE BUILD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If we start building: what has to be decided?</a:t>
            </a:r>
          </a:p>
        </p:txBody>
      </p:sp>
      <p:sp>
        <p:nvSpPr>
          <p:cNvPr id="5" name="Rounded Rectangle 4"/>
          <p:cNvSpPr/>
          <p:nvPr/>
        </p:nvSpPr>
        <p:spPr>
          <a:xfrm>
            <a:off x="548640" y="146304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45336"/>
            <a:ext cx="10515600" cy="274320"/>
          </a:xfrm>
          <a:prstGeom prst="rect">
            <a:avLst/>
          </a:prstGeom>
          <a:noFill/>
        </p:spPr>
        <p:txBody>
          <a:bodyPr wrap="square" anchor="t">
            <a:spAutoFit/>
          </a:bodyPr>
          <a:lstStyle/>
          <a:p>
            <a:pPr algn="l">
              <a:defRPr sz="1300" b="1">
                <a:solidFill>
                  <a:srgbClr val="117A72"/>
                </a:solidFill>
                <a:latin typeface="Avenir Next"/>
              </a:defRPr>
            </a:pPr>
            <a:r>
              <a:t>Which compiler anchors each system's stack?</a:t>
            </a:r>
          </a:p>
        </p:txBody>
      </p:sp>
      <p:sp>
        <p:nvSpPr>
          <p:cNvPr id="7" name="TextBox 6"/>
          <p:cNvSpPr txBox="1"/>
          <p:nvPr/>
        </p:nvSpPr>
        <p:spPr>
          <a:xfrm>
            <a:off x="868680" y="1828800"/>
            <a:ext cx="10515600" cy="457200"/>
          </a:xfrm>
          <a:prstGeom prst="rect">
            <a:avLst/>
          </a:prstGeom>
          <a:noFill/>
        </p:spPr>
        <p:txBody>
          <a:bodyPr wrap="square" anchor="t">
            <a:spAutoFit/>
          </a:bodyPr>
          <a:lstStyle/>
          <a:p>
            <a:pPr algn="l">
              <a:defRPr sz="1000" b="0">
                <a:solidFill>
                  <a:srgbClr val="6E7B90"/>
                </a:solidFill>
                <a:latin typeface="Avenir Next"/>
              </a:defRPr>
            </a:pPr>
            <a:r>
              <a:t>It comes first, because everything else on the system is built with it. Each machine's own compiler, one shared version across systems, or a mix?</a:t>
            </a:r>
          </a:p>
        </p:txBody>
      </p:sp>
      <p:sp>
        <p:nvSpPr>
          <p:cNvPr id="8" name="Rounded Rectangle 7"/>
          <p:cNvSpPr/>
          <p:nvPr/>
        </p:nvSpPr>
        <p:spPr>
          <a:xfrm>
            <a:off x="548640" y="2345436"/>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27732"/>
            <a:ext cx="10515600" cy="274320"/>
          </a:xfrm>
          <a:prstGeom prst="rect">
            <a:avLst/>
          </a:prstGeom>
          <a:noFill/>
        </p:spPr>
        <p:txBody>
          <a:bodyPr wrap="square" anchor="t">
            <a:spAutoFit/>
          </a:bodyPr>
          <a:lstStyle/>
          <a:p>
            <a:pPr algn="l">
              <a:defRPr sz="1300" b="1">
                <a:solidFill>
                  <a:srgbClr val="2C7A4B"/>
                </a:solidFill>
                <a:latin typeface="Avenir Next"/>
              </a:defRPr>
            </a:pPr>
            <a:r>
              <a:t>Which components do we take from the system instead of building?</a:t>
            </a:r>
          </a:p>
        </p:txBody>
      </p:sp>
      <p:sp>
        <p:nvSpPr>
          <p:cNvPr id="10" name="TextBox 9"/>
          <p:cNvSpPr txBox="1"/>
          <p:nvPr/>
        </p:nvSpPr>
        <p:spPr>
          <a:xfrm>
            <a:off x="868680" y="2711196"/>
            <a:ext cx="10515600" cy="457200"/>
          </a:xfrm>
          <a:prstGeom prst="rect">
            <a:avLst/>
          </a:prstGeom>
          <a:noFill/>
        </p:spPr>
        <p:txBody>
          <a:bodyPr wrap="square" anchor="t">
            <a:spAutoFit/>
          </a:bodyPr>
          <a:lstStyle/>
          <a:p>
            <a:pPr algn="l">
              <a:defRPr sz="1000" b="0">
                <a:solidFill>
                  <a:srgbClr val="6E7B90"/>
                </a:solidFill>
                <a:latin typeface="Avenir Next"/>
              </a:defRPr>
            </a:pPr>
            <a:r>
              <a:t>OpenSSL and curl look like clear cases to start. Which others do we commit to as system-provided rather than build ourselves?</a:t>
            </a:r>
          </a:p>
        </p:txBody>
      </p:sp>
      <p:sp>
        <p:nvSpPr>
          <p:cNvPr id="11" name="Rounded Rectangle 10"/>
          <p:cNvSpPr/>
          <p:nvPr/>
        </p:nvSpPr>
        <p:spPr>
          <a:xfrm>
            <a:off x="548640" y="3227832"/>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10128"/>
            <a:ext cx="10515600" cy="274320"/>
          </a:xfrm>
          <a:prstGeom prst="rect">
            <a:avLst/>
          </a:prstGeom>
          <a:noFill/>
        </p:spPr>
        <p:txBody>
          <a:bodyPr wrap="square" anchor="t">
            <a:spAutoFit/>
          </a:bodyPr>
          <a:lstStyle/>
          <a:p>
            <a:pPr algn="l">
              <a:defRPr sz="1300" b="1">
                <a:solidFill>
                  <a:srgbClr val="2B62B8"/>
                </a:solidFill>
                <a:latin typeface="Avenir Next"/>
              </a:defRPr>
            </a:pPr>
            <a:r>
              <a:t>Which MPI do we use on each system?</a:t>
            </a:r>
          </a:p>
        </p:txBody>
      </p:sp>
      <p:sp>
        <p:nvSpPr>
          <p:cNvPr id="13" name="TextBox 12"/>
          <p:cNvSpPr txBox="1"/>
          <p:nvPr/>
        </p:nvSpPr>
        <p:spPr>
          <a:xfrm>
            <a:off x="868680" y="3593592"/>
            <a:ext cx="10515600" cy="457200"/>
          </a:xfrm>
          <a:prstGeom prst="rect">
            <a:avLst/>
          </a:prstGeom>
          <a:noFill/>
        </p:spPr>
        <p:txBody>
          <a:bodyPr wrap="square" anchor="t">
            <a:spAutoFit/>
          </a:bodyPr>
          <a:lstStyle/>
          <a:p>
            <a:pPr algn="l">
              <a:defRPr sz="1000" b="0">
                <a:solidFill>
                  <a:srgbClr val="6E7B90"/>
                </a:solidFill>
                <a:latin typeface="Avenir Next"/>
              </a:defRPr>
            </a:pPr>
            <a:r>
              <a:t>cray-mpich on the Cray machines, once we confirm we can build against it; OpenMPI on the rest, ideally the same one across them.</a:t>
            </a:r>
          </a:p>
        </p:txBody>
      </p:sp>
      <p:sp>
        <p:nvSpPr>
          <p:cNvPr id="14" name="Rounded Rectangle 13"/>
          <p:cNvSpPr/>
          <p:nvPr/>
        </p:nvSpPr>
        <p:spPr>
          <a:xfrm>
            <a:off x="548640" y="4110228"/>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92524"/>
            <a:ext cx="10515600" cy="274320"/>
          </a:xfrm>
          <a:prstGeom prst="rect">
            <a:avLst/>
          </a:prstGeom>
          <a:noFill/>
        </p:spPr>
        <p:txBody>
          <a:bodyPr wrap="square" anchor="t">
            <a:spAutoFit/>
          </a:bodyPr>
          <a:lstStyle/>
          <a:p>
            <a:pPr algn="l">
              <a:defRPr sz="1300" b="1">
                <a:solidFill>
                  <a:srgbClr val="BA740E"/>
                </a:solidFill>
                <a:latin typeface="Avenir Next"/>
              </a:defRPr>
            </a:pPr>
            <a:r>
              <a:t>What CPU baseline do we set?</a:t>
            </a:r>
          </a:p>
        </p:txBody>
      </p:sp>
      <p:sp>
        <p:nvSpPr>
          <p:cNvPr id="16" name="TextBox 15"/>
          <p:cNvSpPr txBox="1"/>
          <p:nvPr/>
        </p:nvSpPr>
        <p:spPr>
          <a:xfrm>
            <a:off x="868680" y="4475988"/>
            <a:ext cx="10515600" cy="457200"/>
          </a:xfrm>
          <a:prstGeom prst="rect">
            <a:avLst/>
          </a:prstGeom>
          <a:noFill/>
        </p:spPr>
        <p:txBody>
          <a:bodyPr wrap="square" anchor="t">
            <a:spAutoFit/>
          </a:bodyPr>
          <a:lstStyle/>
          <a:p>
            <a:pPr algn="l">
              <a:defRPr sz="1000" b="0">
                <a:solidFill>
                  <a:srgbClr val="6E7B90"/>
                </a:solidFill>
                <a:latin typeface="Avenir Next"/>
              </a:defRPr>
            </a:pPr>
            <a:r>
              <a:t>We name the target rather than let the tools choose it. Which baseline, and where do we allow per-system tuning later?</a:t>
            </a:r>
          </a:p>
        </p:txBody>
      </p:sp>
      <p:sp>
        <p:nvSpPr>
          <p:cNvPr id="17" name="Rounded Rectangle 16"/>
          <p:cNvSpPr/>
          <p:nvPr/>
        </p:nvSpPr>
        <p:spPr>
          <a:xfrm>
            <a:off x="548640" y="4992624"/>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74920"/>
            <a:ext cx="10515600" cy="274320"/>
          </a:xfrm>
          <a:prstGeom prst="rect">
            <a:avLst/>
          </a:prstGeom>
          <a:noFill/>
        </p:spPr>
        <p:txBody>
          <a:bodyPr wrap="square" anchor="t">
            <a:spAutoFit/>
          </a:bodyPr>
          <a:lstStyle/>
          <a:p>
            <a:pPr algn="l">
              <a:defRPr sz="1300" b="1">
                <a:solidFill>
                  <a:srgbClr val="6D4EAA"/>
                </a:solidFill>
                <a:latin typeface="Avenir Next"/>
              </a:defRPr>
            </a:pPr>
            <a:r>
              <a:t>Where does the stack live, and which Spack builds it?</a:t>
            </a:r>
          </a:p>
        </p:txBody>
      </p:sp>
      <p:sp>
        <p:nvSpPr>
          <p:cNvPr id="19" name="TextBox 18"/>
          <p:cNvSpPr txBox="1"/>
          <p:nvPr/>
        </p:nvSpPr>
        <p:spPr>
          <a:xfrm>
            <a:off x="868680" y="5358384"/>
            <a:ext cx="10515600" cy="457200"/>
          </a:xfrm>
          <a:prstGeom prst="rect">
            <a:avLst/>
          </a:prstGeom>
          <a:noFill/>
        </p:spPr>
        <p:txBody>
          <a:bodyPr wrap="square" anchor="t">
            <a:spAutoFit/>
          </a:bodyPr>
          <a:lstStyle/>
          <a:p>
            <a:pPr algn="l">
              <a:defRPr sz="1000" b="0">
                <a:solidFill>
                  <a:srgbClr val="6E7B90"/>
                </a:solidFill>
                <a:latin typeface="Avenir Next"/>
              </a:defRPr>
            </a:pPr>
            <a:r>
              <a:t>Install locations per system, most likely the CSE directory, and the Spack version we standardize on for the pilot.</a:t>
            </a:r>
          </a:p>
        </p:txBody>
      </p:sp>
      <p:sp>
        <p:nvSpPr>
          <p:cNvPr id="20" name="Rounded Rectangle 19"/>
          <p:cNvSpPr/>
          <p:nvPr/>
        </p:nvSpPr>
        <p:spPr>
          <a:xfrm>
            <a:off x="548640" y="5875020"/>
            <a:ext cx="11091672" cy="8229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957316"/>
            <a:ext cx="10515600" cy="274320"/>
          </a:xfrm>
          <a:prstGeom prst="rect">
            <a:avLst/>
          </a:prstGeom>
          <a:noFill/>
        </p:spPr>
        <p:txBody>
          <a:bodyPr wrap="square" anchor="t">
            <a:spAutoFit/>
          </a:bodyPr>
          <a:lstStyle/>
          <a:p>
            <a:pPr algn="l">
              <a:defRPr sz="1300" b="1">
                <a:solidFill>
                  <a:srgbClr val="9A7614"/>
                </a:solidFill>
                <a:latin typeface="Avenir Next"/>
              </a:defRPr>
            </a:pPr>
            <a:r>
              <a:t>What counts as done?</a:t>
            </a:r>
          </a:p>
        </p:txBody>
      </p:sp>
      <p:sp>
        <p:nvSpPr>
          <p:cNvPr id="22" name="TextBox 21"/>
          <p:cNvSpPr txBox="1"/>
          <p:nvPr/>
        </p:nvSpPr>
        <p:spPr>
          <a:xfrm>
            <a:off x="868680" y="6240780"/>
            <a:ext cx="10515600" cy="457200"/>
          </a:xfrm>
          <a:prstGeom prst="rect">
            <a:avLst/>
          </a:prstGeom>
          <a:noFill/>
        </p:spPr>
        <p:txBody>
          <a:bodyPr wrap="square" anchor="t">
            <a:spAutoFit/>
          </a:bodyPr>
          <a:lstStyle/>
          <a:p>
            <a:pPr algn="l">
              <a:defRPr sz="1000" b="0">
                <a:solidFill>
                  <a:srgbClr val="6E7B90"/>
                </a:solidFill>
                <a:latin typeface="Avenir Next"/>
              </a:defRPr>
            </a:pPr>
            <a:r>
              <a:t>The packages built and tested, or the full user environment stood up and ready to load?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
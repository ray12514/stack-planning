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SCOPE AND POLICY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Bigger questions to settle together</a:t>
            </a:r>
          </a:p>
        </p:txBody>
      </p:sp>
      <p:sp>
        <p:nvSpPr>
          <p:cNvPr id="5" name="Rounded Rectangle 4"/>
          <p:cNvSpPr/>
          <p:nvPr/>
        </p:nvSpPr>
        <p:spPr>
          <a:xfrm>
            <a:off x="548640" y="1600200"/>
            <a:ext cx="11091672" cy="1024128"/>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28216"/>
            <a:ext cx="10515600" cy="274320"/>
          </a:xfrm>
          <a:prstGeom prst="rect">
            <a:avLst/>
          </a:prstGeom>
          <a:noFill/>
        </p:spPr>
        <p:txBody>
          <a:bodyPr wrap="square" anchor="t">
            <a:spAutoFit/>
          </a:bodyPr>
          <a:lstStyle/>
          <a:p>
            <a:pPr algn="l">
              <a:defRPr sz="1300" b="1">
                <a:solidFill>
                  <a:srgbClr val="2B62B8"/>
                </a:solidFill>
                <a:latin typeface="Avenir Next"/>
              </a:defRPr>
            </a:pPr>
            <a:r>
              <a:t>Do we anchor the older version to what the systems run today?</a:t>
            </a:r>
          </a:p>
        </p:txBody>
      </p:sp>
      <p:sp>
        <p:nvSpPr>
          <p:cNvPr id="7" name="TextBox 6"/>
          <p:cNvSpPr txBox="1"/>
          <p:nvPr/>
        </p:nvSpPr>
        <p:spPr>
          <a:xfrm>
            <a:off x="868680" y="2039112"/>
            <a:ext cx="10515600" cy="512064"/>
          </a:xfrm>
          <a:prstGeom prst="rect">
            <a:avLst/>
          </a:prstGeom>
          <a:noFill/>
        </p:spPr>
        <p:txBody>
          <a:bodyPr wrap="square" anchor="t">
            <a:spAutoFit/>
          </a:bodyPr>
          <a:lstStyle/>
          <a:p>
            <a:pPr algn="l">
              <a:defRPr sz="1050" b="0">
                <a:solidFill>
                  <a:srgbClr val="6E7B90"/>
                </a:solidFill>
                <a:latin typeface="Avenir Next"/>
              </a:defRPr>
            </a:pPr>
            <a:r>
              <a:t>Each package carries two versions, and the newer is always the newest release. The older is the open part: match what is deployed on the systems now so existing code keeps building, or just carry the previous release and move users up. Decide before the roster locks.</a:t>
            </a:r>
          </a:p>
        </p:txBody>
      </p:sp>
      <p:sp>
        <p:nvSpPr>
          <p:cNvPr id="8" name="Rounded Rectangle 7"/>
          <p:cNvSpPr/>
          <p:nvPr/>
        </p:nvSpPr>
        <p:spPr>
          <a:xfrm>
            <a:off x="548640" y="2770632"/>
            <a:ext cx="11091672" cy="1024128"/>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98648"/>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10" name="TextBox 9"/>
          <p:cNvSpPr txBox="1"/>
          <p:nvPr/>
        </p:nvSpPr>
        <p:spPr>
          <a:xfrm>
            <a:off x="868680" y="3209544"/>
            <a:ext cx="10515600" cy="512064"/>
          </a:xfrm>
          <a:prstGeom prst="rect">
            <a:avLst/>
          </a:prstGeom>
          <a:noFill/>
        </p:spPr>
        <p:txBody>
          <a:bodyPr wrap="square" anchor="t">
            <a:spAutoFit/>
          </a:bodyPr>
          <a:lstStyle/>
          <a:p>
            <a:pPr algn="l">
              <a:defRPr sz="1050" b="0">
                <a:solidFill>
                  <a:srgbClr val="6E7B90"/>
                </a:solidFill>
                <a:latin typeface="Avenir Next"/>
              </a:defRPr>
            </a:pPr>
            <a:r>
              <a:t>OpenBLAS is the one BLAS and LAPACK today. Cray LibSci is already on the path on the Cray systems, and Intel systems expect MKL. Both are registered rather than built, so this is policy per system, not build cost.</a:t>
            </a:r>
          </a:p>
        </p:txBody>
      </p:sp>
      <p:sp>
        <p:nvSpPr>
          <p:cNvPr id="11" name="Rounded Rectangle 10"/>
          <p:cNvSpPr/>
          <p:nvPr/>
        </p:nvSpPr>
        <p:spPr>
          <a:xfrm>
            <a:off x="548640" y="3941064"/>
            <a:ext cx="11091672" cy="1024128"/>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069080"/>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3" name="TextBox 12"/>
          <p:cNvSpPr txBox="1"/>
          <p:nvPr/>
        </p:nvSpPr>
        <p:spPr>
          <a:xfrm>
            <a:off x="868680" y="4379976"/>
            <a:ext cx="10515600" cy="512064"/>
          </a:xfrm>
          <a:prstGeom prst="rect">
            <a:avLst/>
          </a:prstGeom>
          <a:noFill/>
        </p:spPr>
        <p:txBody>
          <a:bodyPr wrap="square" anchor="t">
            <a:spAutoFit/>
          </a:bodyPr>
          <a:lstStyle/>
          <a:p>
            <a:pPr algn="l">
              <a:defRPr sz="1050" b="0">
                <a:solidFill>
                  <a:srgbClr val="6E7B90"/>
                </a:solidFill>
                <a:latin typeface="Avenir Next"/>
              </a:defRPr>
            </a:pPr>
            <a:r>
              <a:t>Build every lane at the portable baseline, prove the model, then turn on per-lane tuning for Genoa, Milan, or Cascade Lake. Each target is a flag plus a full rebuild, so the open part is when, not whether.</a:t>
            </a:r>
          </a:p>
        </p:txBody>
      </p:sp>
      <p:sp>
        <p:nvSpPr>
          <p:cNvPr id="14" name="Rounded Rectangle 13"/>
          <p:cNvSpPr/>
          <p:nvPr/>
        </p:nvSpPr>
        <p:spPr>
          <a:xfrm>
            <a:off x="548640" y="5111496"/>
            <a:ext cx="11091672" cy="1024128"/>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239512"/>
            <a:ext cx="10515600" cy="274320"/>
          </a:xfrm>
          <a:prstGeom prst="rect">
            <a:avLst/>
          </a:prstGeom>
          <a:noFill/>
        </p:spPr>
        <p:txBody>
          <a:bodyPr wrap="square" anchor="t">
            <a:spAutoFit/>
          </a:bodyPr>
          <a:lstStyle/>
          <a:p>
            <a:pPr algn="l">
              <a:defRPr sz="1300" b="1">
                <a:solidFill>
                  <a:srgbClr val="9A7614"/>
                </a:solidFill>
                <a:latin typeface="Avenir Next"/>
              </a:defRPr>
            </a:pPr>
            <a:r>
              <a:t>What does consistency promise across systems?</a:t>
            </a:r>
          </a:p>
        </p:txBody>
      </p:sp>
      <p:sp>
        <p:nvSpPr>
          <p:cNvPr id="16" name="TextBox 15"/>
          <p:cNvSpPr txBox="1"/>
          <p:nvPr/>
        </p:nvSpPr>
        <p:spPr>
          <a:xfrm>
            <a:off x="868680" y="5550408"/>
            <a:ext cx="10515600" cy="512064"/>
          </a:xfrm>
          <a:prstGeom prst="rect">
            <a:avLst/>
          </a:prstGeom>
          <a:noFill/>
        </p:spPr>
        <p:txBody>
          <a:bodyPr wrap="square" anchor="t">
            <a:spAutoFit/>
          </a:bodyPr>
          <a:lstStyle/>
          <a:p>
            <a:pPr algn="l">
              <a:defRPr sz="1050" b="0">
                <a:solidFill>
                  <a:srgbClr val="6E7B90"/>
                </a:solidFill>
                <a:latin typeface="Avenir Next"/>
              </a:defRPr>
            </a:pPr>
            <a:r>
              <a:t>Users build, link, and run the same way everywhere: same front door, same rosters, same workflow. That much is the goal. The open part is what sits underneath: each machine's native MPI and compiler, or a pinned CSE compiler and a shared MPI? Which promise do we make?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SETUP · WHAT BLOCKS THE FIRST BUILD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If we start building: what has to be decided?</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117A72"/>
                </a:solidFill>
                <a:latin typeface="Avenir Next"/>
              </a:defRPr>
            </a:pPr>
            <a:r>
              <a:t>Which compiler anchors each system's stack?</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It comes first, because everything else on the system is built with it: each machine's own compiler, one shared version across systems, or a mix. Whether Intel stays a surface where it still exists is part of this.</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2C7A4B"/>
                </a:solidFill>
                <a:latin typeface="Avenir Next"/>
              </a:defRPr>
            </a:pPr>
            <a:r>
              <a:t>Which components do we take from the system instead of building?</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OpenSSL and curl look like clear cases to start. Which others do we commit to as system-provided rather than build ourselves?</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Which MPI do we use on each system?</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cray-mpich on the Cray machines, once we confirm we can build against it; OpenMPI on the rest, ideally the same one across them.</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BA740E"/>
                </a:solidFill>
                <a:latin typeface="Avenir Next"/>
              </a:defRPr>
            </a:pPr>
            <a:r>
              <a:t>What CPU baseline do we set?</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We name the target rather than let the tools choose it. Which baseline, and where do we allow per-system tuning later?</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Where does the stack live, and which Spack builds it?</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Install locations per system, most likely the CSE directory, and the Spack version we standardize on for the pilot.</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What counts as done?</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The packages built and tested, or the full user environment stood up and ready to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
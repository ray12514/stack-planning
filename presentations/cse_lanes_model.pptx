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600200"/>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28216"/>
            <a:ext cx="10515600" cy="274320"/>
          </a:xfrm>
          <a:prstGeom prst="rect">
            <a:avLst/>
          </a:prstGeom>
          <a:noFill/>
        </p:spPr>
        <p:txBody>
          <a:bodyPr wrap="square" anchor="t">
            <a:spAutoFit/>
          </a:bodyPr>
          <a:lstStyle/>
          <a:p>
            <a:pPr algn="l">
              <a:defRPr sz="1350" b="1">
                <a:solidFill>
                  <a:srgbClr val="2C7A4B"/>
                </a:solidFill>
                <a:latin typeface="Avenir Next"/>
              </a:defRPr>
            </a:pPr>
            <a:r>
              <a:t>Do we offer the vendor's math libraries as well as OpenBLAS?</a:t>
            </a:r>
          </a:p>
        </p:txBody>
      </p:sp>
      <p:sp>
        <p:nvSpPr>
          <p:cNvPr id="7" name="TextBox 6"/>
          <p:cNvSpPr txBox="1"/>
          <p:nvPr/>
        </p:nvSpPr>
        <p:spPr>
          <a:xfrm>
            <a:off x="868680" y="2011680"/>
            <a:ext cx="10515600" cy="530352"/>
          </a:xfrm>
          <a:prstGeom prst="rect">
            <a:avLst/>
          </a:prstGeom>
          <a:noFill/>
        </p:spPr>
        <p:txBody>
          <a:bodyPr wrap="square" anchor="t">
            <a:spAutoFit/>
          </a:bodyPr>
          <a:lstStyle/>
          <a:p>
            <a:pPr algn="l">
              <a:defRPr sz="110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679191"/>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07208"/>
            <a:ext cx="10515600" cy="274320"/>
          </a:xfrm>
          <a:prstGeom prst="rect">
            <a:avLst/>
          </a:prstGeom>
          <a:noFill/>
        </p:spPr>
        <p:txBody>
          <a:bodyPr wrap="square" anchor="t">
            <a:spAutoFit/>
          </a:bodyPr>
          <a:lstStyle/>
          <a:p>
            <a:pPr algn="l">
              <a:defRPr sz="1350" b="1">
                <a:solidFill>
                  <a:srgbClr val="117A72"/>
                </a:solidFill>
                <a:latin typeface="Avenir Next"/>
              </a:defRPr>
            </a:pPr>
            <a:r>
              <a:t>Which compiler surfaces does the pilot carry?</a:t>
            </a:r>
          </a:p>
        </p:txBody>
      </p:sp>
      <p:sp>
        <p:nvSpPr>
          <p:cNvPr id="10" name="TextBox 9"/>
          <p:cNvSpPr txBox="1"/>
          <p:nvPr/>
        </p:nvSpPr>
        <p:spPr>
          <a:xfrm>
            <a:off x="868680" y="3090672"/>
            <a:ext cx="10515600" cy="530352"/>
          </a:xfrm>
          <a:prstGeom prst="rect">
            <a:avLst/>
          </a:prstGeom>
          <a:noFill/>
        </p:spPr>
        <p:txBody>
          <a:bodyPr wrap="square" anchor="t">
            <a:spAutoFit/>
          </a:bodyPr>
          <a:lstStyle/>
          <a:p>
            <a:pPr algn="l">
              <a:defRPr sz="110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758183"/>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886199"/>
            <a:ext cx="10515600" cy="274320"/>
          </a:xfrm>
          <a:prstGeom prst="rect">
            <a:avLst/>
          </a:prstGeom>
          <a:noFill/>
        </p:spPr>
        <p:txBody>
          <a:bodyPr wrap="square" anchor="t">
            <a:spAutoFit/>
          </a:bodyPr>
          <a:lstStyle/>
          <a:p>
            <a:pPr algn="l">
              <a:defRPr sz="1350" b="1">
                <a:solidFill>
                  <a:srgbClr val="BA740E"/>
                </a:solidFill>
                <a:latin typeface="Avenir Next"/>
              </a:defRPr>
            </a:pPr>
            <a:r>
              <a:t>Does the Serial lane stay?</a:t>
            </a:r>
          </a:p>
        </p:txBody>
      </p:sp>
      <p:sp>
        <p:nvSpPr>
          <p:cNvPr id="13" name="TextBox 12"/>
          <p:cNvSpPr txBox="1"/>
          <p:nvPr/>
        </p:nvSpPr>
        <p:spPr>
          <a:xfrm>
            <a:off x="868680" y="4169663"/>
            <a:ext cx="10515600" cy="530352"/>
          </a:xfrm>
          <a:prstGeom prst="rect">
            <a:avLst/>
          </a:prstGeom>
          <a:noFill/>
        </p:spPr>
        <p:txBody>
          <a:bodyPr wrap="square" anchor="t">
            <a:spAutoFit/>
          </a:bodyPr>
          <a:lstStyle/>
          <a:p>
            <a:pPr algn="l">
              <a:defRPr sz="110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837176"/>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65192"/>
            <a:ext cx="10515600" cy="274320"/>
          </a:xfrm>
          <a:prstGeom prst="rect">
            <a:avLst/>
          </a:prstGeom>
          <a:noFill/>
        </p:spPr>
        <p:txBody>
          <a:bodyPr wrap="square" anchor="t">
            <a:spAutoFit/>
          </a:bodyPr>
          <a:lstStyle/>
          <a:p>
            <a:pPr algn="l">
              <a:defRPr sz="1350" b="1">
                <a:solidFill>
                  <a:srgbClr val="6D4EAA"/>
                </a:solidFill>
                <a:latin typeface="Avenir Next"/>
              </a:defRPr>
            </a:pPr>
            <a:r>
              <a:t>Performance targeting: baseline first, tuning after.</a:t>
            </a:r>
          </a:p>
        </p:txBody>
      </p:sp>
      <p:sp>
        <p:nvSpPr>
          <p:cNvPr id="16" name="TextBox 15"/>
          <p:cNvSpPr txBox="1"/>
          <p:nvPr/>
        </p:nvSpPr>
        <p:spPr>
          <a:xfrm>
            <a:off x="868680" y="5248656"/>
            <a:ext cx="10515600" cy="530352"/>
          </a:xfrm>
          <a:prstGeom prst="rect">
            <a:avLst/>
          </a:prstGeom>
          <a:noFill/>
        </p:spPr>
        <p:txBody>
          <a:bodyPr wrap="square" anchor="t">
            <a:spAutoFit/>
          </a:bodyPr>
          <a:lstStyle/>
          <a:p>
            <a:pPr algn="l">
              <a:defRPr sz="110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
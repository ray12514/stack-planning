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BA740E"/>
                </a:solidFill>
                <a:latin typeface="Avenir Next"/>
              </a:defRPr>
            </a:pPr>
            <a:r>
              <a:t>Does the Serial lane stay?</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Consistency means the same functionality, not the same implementations.</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A user builds and runs the same way on every system: same front door, same rosters, same workflow, with each machine's native MPI and compiler underneath. The open part is the floor: which capabilities every system must provide, and whether one pinned CSE GCC anchors the compilers.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DISCUSSION · FROM MODEL TO FIRST INSTALLS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Starting the builds: what to decide together</a:t>
            </a:r>
          </a:p>
        </p:txBody>
      </p:sp>
      <p:sp>
        <p:nvSpPr>
          <p:cNvPr id="5" name="TextBox 4"/>
          <p:cNvSpPr txBox="1"/>
          <p:nvPr/>
        </p:nvSpPr>
        <p:spPr>
          <a:xfrm>
            <a:off x="548640" y="1481328"/>
            <a:ext cx="5394960" cy="365760"/>
          </a:xfrm>
          <a:prstGeom prst="rect">
            <a:avLst/>
          </a:prstGeom>
          <a:noFill/>
        </p:spPr>
        <p:txBody>
          <a:bodyPr wrap="square" anchor="t">
            <a:spAutoFit/>
          </a:bodyPr>
          <a:lstStyle/>
          <a:p>
            <a:pPr algn="l">
              <a:defRPr sz="1500" b="1">
                <a:solidFill>
                  <a:srgbClr val="2C7A4B"/>
                </a:solidFill>
                <a:latin typeface="Avenir Next"/>
              </a:defRPr>
            </a:pPr>
            <a:r>
              <a:t>What I'm bringing</a:t>
            </a:r>
          </a:p>
        </p:txBody>
      </p:sp>
      <p:sp>
        <p:nvSpPr>
          <p:cNvPr id="6" name="TextBox 5"/>
          <p:cNvSpPr txBox="1"/>
          <p:nvPr/>
        </p:nvSpPr>
        <p:spPr>
          <a:xfrm>
            <a:off x="548640" y="1938528"/>
            <a:ext cx="365760" cy="365760"/>
          </a:xfrm>
          <a:prstGeom prst="rect">
            <a:avLst/>
          </a:prstGeom>
          <a:noFill/>
        </p:spPr>
        <p:txBody>
          <a:bodyPr wrap="square" anchor="t">
            <a:spAutoFit/>
          </a:bodyPr>
          <a:lstStyle/>
          <a:p>
            <a:pPr algn="l">
              <a:defRPr sz="1500" b="1">
                <a:solidFill>
                  <a:srgbClr val="2C7A4B"/>
                </a:solidFill>
                <a:latin typeface="Avenir Next"/>
              </a:defRPr>
            </a:pPr>
            <a:r>
              <a:t>✓</a:t>
            </a:r>
          </a:p>
        </p:txBody>
      </p:sp>
      <p:sp>
        <p:nvSpPr>
          <p:cNvPr id="7" name="TextBox 6"/>
          <p:cNvSpPr txBox="1"/>
          <p:nvPr/>
        </p:nvSpPr>
        <p:spPr>
          <a:xfrm>
            <a:off x="960120" y="1938528"/>
            <a:ext cx="5029200" cy="292608"/>
          </a:xfrm>
          <a:prstGeom prst="rect">
            <a:avLst/>
          </a:prstGeom>
          <a:noFill/>
        </p:spPr>
        <p:txBody>
          <a:bodyPr wrap="square" anchor="t">
            <a:spAutoFit/>
          </a:bodyPr>
          <a:lstStyle/>
          <a:p>
            <a:pPr algn="l">
              <a:defRPr sz="1300" b="1">
                <a:solidFill>
                  <a:srgbClr val="16243D"/>
                </a:solidFill>
                <a:latin typeface="Avenir Next"/>
              </a:defRPr>
            </a:pPr>
            <a:r>
              <a:t>Pilot systems and order</a:t>
            </a:r>
          </a:p>
        </p:txBody>
      </p:sp>
      <p:sp>
        <p:nvSpPr>
          <p:cNvPr id="8" name="TextBox 7"/>
          <p:cNvSpPr txBox="1"/>
          <p:nvPr/>
        </p:nvSpPr>
        <p:spPr>
          <a:xfrm>
            <a:off x="960120" y="2249424"/>
            <a:ext cx="5029200" cy="566928"/>
          </a:xfrm>
          <a:prstGeom prst="rect">
            <a:avLst/>
          </a:prstGeom>
          <a:noFill/>
        </p:spPr>
        <p:txBody>
          <a:bodyPr wrap="square" anchor="t">
            <a:spAutoFit/>
          </a:bodyPr>
          <a:lstStyle/>
          <a:p>
            <a:pPr algn="l">
              <a:defRPr sz="1100" b="0">
                <a:solidFill>
                  <a:srgbClr val="6E7B90"/>
                </a:solidFill>
                <a:latin typeface="Avenir Next"/>
              </a:defRPr>
            </a:pPr>
            <a:r>
              <a:t>Blueback first, then Raider and Wheat; Fran when it arrives</a:t>
            </a:r>
          </a:p>
        </p:txBody>
      </p:sp>
      <p:sp>
        <p:nvSpPr>
          <p:cNvPr id="9" name="TextBox 8"/>
          <p:cNvSpPr txBox="1"/>
          <p:nvPr/>
        </p:nvSpPr>
        <p:spPr>
          <a:xfrm>
            <a:off x="548640" y="2944368"/>
            <a:ext cx="365760" cy="365760"/>
          </a:xfrm>
          <a:prstGeom prst="rect">
            <a:avLst/>
          </a:prstGeom>
          <a:noFill/>
        </p:spPr>
        <p:txBody>
          <a:bodyPr wrap="square" anchor="t">
            <a:spAutoFit/>
          </a:bodyPr>
          <a:lstStyle/>
          <a:p>
            <a:pPr algn="l">
              <a:defRPr sz="1500" b="1">
                <a:solidFill>
                  <a:srgbClr val="2C7A4B"/>
                </a:solidFill>
                <a:latin typeface="Avenir Next"/>
              </a:defRPr>
            </a:pPr>
            <a:r>
              <a:t>✓</a:t>
            </a:r>
          </a:p>
        </p:txBody>
      </p:sp>
      <p:sp>
        <p:nvSpPr>
          <p:cNvPr id="10" name="TextBox 9"/>
          <p:cNvSpPr txBox="1"/>
          <p:nvPr/>
        </p:nvSpPr>
        <p:spPr>
          <a:xfrm>
            <a:off x="960120" y="2944368"/>
            <a:ext cx="5029200" cy="292608"/>
          </a:xfrm>
          <a:prstGeom prst="rect">
            <a:avLst/>
          </a:prstGeom>
          <a:noFill/>
        </p:spPr>
        <p:txBody>
          <a:bodyPr wrap="square" anchor="t">
            <a:spAutoFit/>
          </a:bodyPr>
          <a:lstStyle/>
          <a:p>
            <a:pPr algn="l">
              <a:defRPr sz="1300" b="1">
                <a:solidFill>
                  <a:srgbClr val="16243D"/>
                </a:solidFill>
                <a:latin typeface="Avenir Next"/>
              </a:defRPr>
            </a:pPr>
            <a:r>
              <a:t>A package roster with versions</a:t>
            </a:r>
          </a:p>
        </p:txBody>
      </p:sp>
      <p:sp>
        <p:nvSpPr>
          <p:cNvPr id="11" name="TextBox 10"/>
          <p:cNvSpPr txBox="1"/>
          <p:nvPr/>
        </p:nvSpPr>
        <p:spPr>
          <a:xfrm>
            <a:off x="960120" y="3255264"/>
            <a:ext cx="5029200" cy="566928"/>
          </a:xfrm>
          <a:prstGeom prst="rect">
            <a:avLst/>
          </a:prstGeom>
          <a:noFill/>
        </p:spPr>
        <p:txBody>
          <a:bodyPr wrap="square" anchor="t">
            <a:spAutoFit/>
          </a:bodyPr>
          <a:lstStyle/>
          <a:p>
            <a:pPr algn="l">
              <a:defRPr sz="1100" b="0">
                <a:solidFill>
                  <a:srgbClr val="6E7B90"/>
                </a:solidFill>
                <a:latin typeface="Avenir Next"/>
              </a:defRPr>
            </a:pPr>
            <a:r>
              <a:t>newest supported release plus its predecessor, variants written down</a:t>
            </a:r>
          </a:p>
        </p:txBody>
      </p:sp>
      <p:sp>
        <p:nvSpPr>
          <p:cNvPr id="12" name="TextBox 11"/>
          <p:cNvSpPr txBox="1"/>
          <p:nvPr/>
        </p:nvSpPr>
        <p:spPr>
          <a:xfrm>
            <a:off x="548640" y="3950208"/>
            <a:ext cx="365760" cy="365760"/>
          </a:xfrm>
          <a:prstGeom prst="rect">
            <a:avLst/>
          </a:prstGeom>
          <a:noFill/>
        </p:spPr>
        <p:txBody>
          <a:bodyPr wrap="square" anchor="t">
            <a:spAutoFit/>
          </a:bodyPr>
          <a:lstStyle/>
          <a:p>
            <a:pPr algn="l">
              <a:defRPr sz="1500" b="1">
                <a:solidFill>
                  <a:srgbClr val="2C7A4B"/>
                </a:solidFill>
                <a:latin typeface="Avenir Next"/>
              </a:defRPr>
            </a:pPr>
            <a:r>
              <a:t>✓</a:t>
            </a:r>
          </a:p>
        </p:txBody>
      </p:sp>
      <p:sp>
        <p:nvSpPr>
          <p:cNvPr id="13" name="TextBox 12"/>
          <p:cNvSpPr txBox="1"/>
          <p:nvPr/>
        </p:nvSpPr>
        <p:spPr>
          <a:xfrm>
            <a:off x="960120" y="3950208"/>
            <a:ext cx="5029200" cy="292608"/>
          </a:xfrm>
          <a:prstGeom prst="rect">
            <a:avLst/>
          </a:prstGeom>
          <a:noFill/>
        </p:spPr>
        <p:txBody>
          <a:bodyPr wrap="square" anchor="t">
            <a:spAutoFit/>
          </a:bodyPr>
          <a:lstStyle/>
          <a:p>
            <a:pPr algn="l">
              <a:defRPr sz="1300" b="1">
                <a:solidFill>
                  <a:srgbClr val="16243D"/>
                </a:solidFill>
                <a:latin typeface="Avenir Next"/>
              </a:defRPr>
            </a:pPr>
            <a:r>
              <a:t>A baseline CPU target</a:t>
            </a:r>
          </a:p>
        </p:txBody>
      </p:sp>
      <p:sp>
        <p:nvSpPr>
          <p:cNvPr id="14" name="TextBox 13"/>
          <p:cNvSpPr txBox="1"/>
          <p:nvPr/>
        </p:nvSpPr>
        <p:spPr>
          <a:xfrm>
            <a:off x="960120" y="4261104"/>
            <a:ext cx="5029200" cy="566928"/>
          </a:xfrm>
          <a:prstGeom prst="rect">
            <a:avLst/>
          </a:prstGeom>
          <a:noFill/>
        </p:spPr>
        <p:txBody>
          <a:bodyPr wrap="square" anchor="t">
            <a:spAutoFit/>
          </a:bodyPr>
          <a:lstStyle/>
          <a:p>
            <a:pPr algn="l">
              <a:defRPr sz="1100" b="0">
                <a:solidFill>
                  <a:srgbClr val="6E7B90"/>
                </a:solidFill>
                <a:latin typeface="Avenir Next"/>
              </a:defRPr>
            </a:pPr>
            <a:r>
              <a:t>x86_64_v3 runs natively on every pilot system; tuning is a later flag</a:t>
            </a:r>
          </a:p>
        </p:txBody>
      </p:sp>
      <p:sp>
        <p:nvSpPr>
          <p:cNvPr id="15" name="TextBox 14"/>
          <p:cNvSpPr txBox="1"/>
          <p:nvPr/>
        </p:nvSpPr>
        <p:spPr>
          <a:xfrm>
            <a:off x="548640" y="4956048"/>
            <a:ext cx="365760" cy="365760"/>
          </a:xfrm>
          <a:prstGeom prst="rect">
            <a:avLst/>
          </a:prstGeom>
          <a:noFill/>
        </p:spPr>
        <p:txBody>
          <a:bodyPr wrap="square" anchor="t">
            <a:spAutoFit/>
          </a:bodyPr>
          <a:lstStyle/>
          <a:p>
            <a:pPr algn="l">
              <a:defRPr sz="1500" b="1">
                <a:solidFill>
                  <a:srgbClr val="2C7A4B"/>
                </a:solidFill>
                <a:latin typeface="Avenir Next"/>
              </a:defRPr>
            </a:pPr>
            <a:r>
              <a:t>✓</a:t>
            </a:r>
          </a:p>
        </p:txBody>
      </p:sp>
      <p:sp>
        <p:nvSpPr>
          <p:cNvPr id="16" name="TextBox 15"/>
          <p:cNvSpPr txBox="1"/>
          <p:nvPr/>
        </p:nvSpPr>
        <p:spPr>
          <a:xfrm>
            <a:off x="960120" y="4956048"/>
            <a:ext cx="5029200" cy="292608"/>
          </a:xfrm>
          <a:prstGeom prst="rect">
            <a:avLst/>
          </a:prstGeom>
          <a:noFill/>
        </p:spPr>
        <p:txBody>
          <a:bodyPr wrap="square" anchor="t">
            <a:spAutoFit/>
          </a:bodyPr>
          <a:lstStyle/>
          <a:p>
            <a:pPr algn="l">
              <a:defRPr sz="1300" b="1">
                <a:solidFill>
                  <a:srgbClr val="16243D"/>
                </a:solidFill>
                <a:latin typeface="Avenir Next"/>
              </a:defRPr>
            </a:pPr>
            <a:r>
              <a:t>A draft definition of done</a:t>
            </a:r>
          </a:p>
        </p:txBody>
      </p:sp>
      <p:sp>
        <p:nvSpPr>
          <p:cNvPr id="17" name="TextBox 16"/>
          <p:cNvSpPr txBox="1"/>
          <p:nvPr/>
        </p:nvSpPr>
        <p:spPr>
          <a:xfrm>
            <a:off x="960120" y="5266944"/>
            <a:ext cx="5029200" cy="566928"/>
          </a:xfrm>
          <a:prstGeom prst="rect">
            <a:avLst/>
          </a:prstGeom>
          <a:noFill/>
        </p:spPr>
        <p:txBody>
          <a:bodyPr wrap="square" anchor="t">
            <a:spAutoFit/>
          </a:bodyPr>
          <a:lstStyle/>
          <a:p>
            <a:pPr algn="l">
              <a:defRPr sz="1100" b="0">
                <a:solidFill>
                  <a:srgbClr val="6E7B90"/>
                </a:solidFill>
                <a:latin typeface="Avenir Next"/>
              </a:defRPr>
            </a:pPr>
            <a:r>
              <a:t>five checks, spelled out below</a:t>
            </a:r>
          </a:p>
        </p:txBody>
      </p:sp>
      <p:sp>
        <p:nvSpPr>
          <p:cNvPr id="18" name="TextBox 17"/>
          <p:cNvSpPr txBox="1"/>
          <p:nvPr/>
        </p:nvSpPr>
        <p:spPr>
          <a:xfrm>
            <a:off x="6263640" y="1481328"/>
            <a:ext cx="5394960" cy="365760"/>
          </a:xfrm>
          <a:prstGeom prst="rect">
            <a:avLst/>
          </a:prstGeom>
          <a:noFill/>
        </p:spPr>
        <p:txBody>
          <a:bodyPr wrap="square" anchor="t">
            <a:spAutoFit/>
          </a:bodyPr>
          <a:lstStyle/>
          <a:p>
            <a:pPr algn="l">
              <a:defRPr sz="1500" b="1">
                <a:solidFill>
                  <a:srgbClr val="9A7614"/>
                </a:solidFill>
                <a:latin typeface="Avenir Next"/>
              </a:defRPr>
            </a:pPr>
            <a:r>
              <a:t>What I need from you</a:t>
            </a:r>
          </a:p>
        </p:txBody>
      </p:sp>
      <p:sp>
        <p:nvSpPr>
          <p:cNvPr id="19" name="TextBox 18"/>
          <p:cNvSpPr txBox="1"/>
          <p:nvPr/>
        </p:nvSpPr>
        <p:spPr>
          <a:xfrm>
            <a:off x="6263640" y="1938528"/>
            <a:ext cx="365760" cy="365760"/>
          </a:xfrm>
          <a:prstGeom prst="rect">
            <a:avLst/>
          </a:prstGeom>
          <a:noFill/>
        </p:spPr>
        <p:txBody>
          <a:bodyPr wrap="square" anchor="t">
            <a:spAutoFit/>
          </a:bodyPr>
          <a:lstStyle/>
          <a:p>
            <a:pPr algn="l">
              <a:defRPr sz="1500" b="1">
                <a:solidFill>
                  <a:srgbClr val="9A7614"/>
                </a:solidFill>
                <a:latin typeface="Avenir Next"/>
              </a:defRPr>
            </a:pPr>
            <a:r>
              <a:t>→</a:t>
            </a:r>
          </a:p>
        </p:txBody>
      </p:sp>
      <p:sp>
        <p:nvSpPr>
          <p:cNvPr id="20" name="TextBox 19"/>
          <p:cNvSpPr txBox="1"/>
          <p:nvPr/>
        </p:nvSpPr>
        <p:spPr>
          <a:xfrm>
            <a:off x="6675120" y="1938528"/>
            <a:ext cx="4937760" cy="292608"/>
          </a:xfrm>
          <a:prstGeom prst="rect">
            <a:avLst/>
          </a:prstGeom>
          <a:noFill/>
        </p:spPr>
        <p:txBody>
          <a:bodyPr wrap="square" anchor="t">
            <a:spAutoFit/>
          </a:bodyPr>
          <a:lstStyle/>
          <a:p>
            <a:pPr algn="l">
              <a:defRPr sz="1300" b="1">
                <a:solidFill>
                  <a:srgbClr val="16243D"/>
                </a:solidFill>
                <a:latin typeface="Avenir Next"/>
              </a:defRPr>
            </a:pPr>
            <a:r>
              <a:t>Which GCC on each system</a:t>
            </a:r>
          </a:p>
        </p:txBody>
      </p:sp>
      <p:sp>
        <p:nvSpPr>
          <p:cNvPr id="21" name="TextBox 20"/>
          <p:cNvSpPr txBox="1"/>
          <p:nvPr/>
        </p:nvSpPr>
        <p:spPr>
          <a:xfrm>
            <a:off x="6675120" y="2249424"/>
            <a:ext cx="4937760" cy="566928"/>
          </a:xfrm>
          <a:prstGeom prst="rect">
            <a:avLst/>
          </a:prstGeom>
          <a:noFill/>
        </p:spPr>
        <p:txBody>
          <a:bodyPr wrap="square" anchor="t">
            <a:spAutoFit/>
          </a:bodyPr>
          <a:lstStyle/>
          <a:p>
            <a:pPr algn="l">
              <a:defRPr sz="1100" b="0">
                <a:solidFill>
                  <a:srgbClr val="6E7B90"/>
                </a:solidFill>
                <a:latin typeface="Avenir Next"/>
              </a:defRPr>
            </a:pPr>
            <a:r>
              <a:t>the system's own, or one version built everywhere; every package rests on this</a:t>
            </a:r>
          </a:p>
        </p:txBody>
      </p:sp>
      <p:sp>
        <p:nvSpPr>
          <p:cNvPr id="22" name="TextBox 21"/>
          <p:cNvSpPr txBox="1"/>
          <p:nvPr/>
        </p:nvSpPr>
        <p:spPr>
          <a:xfrm>
            <a:off x="6263640" y="2944368"/>
            <a:ext cx="365760" cy="365760"/>
          </a:xfrm>
          <a:prstGeom prst="rect">
            <a:avLst/>
          </a:prstGeom>
          <a:noFill/>
        </p:spPr>
        <p:txBody>
          <a:bodyPr wrap="square" anchor="t">
            <a:spAutoFit/>
          </a:bodyPr>
          <a:lstStyle/>
          <a:p>
            <a:pPr algn="l">
              <a:defRPr sz="1500" b="1">
                <a:solidFill>
                  <a:srgbClr val="9A7614"/>
                </a:solidFill>
                <a:latin typeface="Avenir Next"/>
              </a:defRPr>
            </a:pPr>
            <a:r>
              <a:t>→</a:t>
            </a:r>
          </a:p>
        </p:txBody>
      </p:sp>
      <p:sp>
        <p:nvSpPr>
          <p:cNvPr id="23" name="TextBox 22"/>
          <p:cNvSpPr txBox="1"/>
          <p:nvPr/>
        </p:nvSpPr>
        <p:spPr>
          <a:xfrm>
            <a:off x="6675120" y="2944368"/>
            <a:ext cx="4937760" cy="292608"/>
          </a:xfrm>
          <a:prstGeom prst="rect">
            <a:avLst/>
          </a:prstGeom>
          <a:noFill/>
        </p:spPr>
        <p:txBody>
          <a:bodyPr wrap="square" anchor="t">
            <a:spAutoFit/>
          </a:bodyPr>
          <a:lstStyle/>
          <a:p>
            <a:pPr algn="l">
              <a:defRPr sz="1300" b="1">
                <a:solidFill>
                  <a:srgbClr val="16243D"/>
                </a:solidFill>
                <a:latin typeface="Avenir Next"/>
              </a:defRPr>
            </a:pPr>
            <a:r>
              <a:t>MPI pairing on Raider and Wheat</a:t>
            </a:r>
          </a:p>
        </p:txBody>
      </p:sp>
      <p:sp>
        <p:nvSpPr>
          <p:cNvPr id="24" name="TextBox 23"/>
          <p:cNvSpPr txBox="1"/>
          <p:nvPr/>
        </p:nvSpPr>
        <p:spPr>
          <a:xfrm>
            <a:off x="6675120" y="3255264"/>
            <a:ext cx="4937760" cy="566928"/>
          </a:xfrm>
          <a:prstGeom prst="rect">
            <a:avLst/>
          </a:prstGeom>
          <a:noFill/>
        </p:spPr>
        <p:txBody>
          <a:bodyPr wrap="square" anchor="t">
            <a:spAutoFit/>
          </a:bodyPr>
          <a:lstStyle/>
          <a:p>
            <a:pPr algn="l">
              <a:defRPr sz="1100" b="0">
                <a:solidFill>
                  <a:srgbClr val="6E7B90"/>
                </a:solidFill>
                <a:latin typeface="Avenir Next"/>
              </a:defRPr>
            </a:pPr>
            <a:r>
              <a:t>the Crays point at cray-mpich; the others need the site MPI confirmed</a:t>
            </a:r>
          </a:p>
        </p:txBody>
      </p:sp>
      <p:sp>
        <p:nvSpPr>
          <p:cNvPr id="25" name="TextBox 24"/>
          <p:cNvSpPr txBox="1"/>
          <p:nvPr/>
        </p:nvSpPr>
        <p:spPr>
          <a:xfrm>
            <a:off x="6263640" y="3950208"/>
            <a:ext cx="365760" cy="365760"/>
          </a:xfrm>
          <a:prstGeom prst="rect">
            <a:avLst/>
          </a:prstGeom>
          <a:noFill/>
        </p:spPr>
        <p:txBody>
          <a:bodyPr wrap="square" anchor="t">
            <a:spAutoFit/>
          </a:bodyPr>
          <a:lstStyle/>
          <a:p>
            <a:pPr algn="l">
              <a:defRPr sz="1500" b="1">
                <a:solidFill>
                  <a:srgbClr val="9A7614"/>
                </a:solidFill>
                <a:latin typeface="Avenir Next"/>
              </a:defRPr>
            </a:pPr>
            <a:r>
              <a:t>→</a:t>
            </a:r>
          </a:p>
        </p:txBody>
      </p:sp>
      <p:sp>
        <p:nvSpPr>
          <p:cNvPr id="26" name="TextBox 25"/>
          <p:cNvSpPr txBox="1"/>
          <p:nvPr/>
        </p:nvSpPr>
        <p:spPr>
          <a:xfrm>
            <a:off x="6675120" y="3950208"/>
            <a:ext cx="4937760" cy="292608"/>
          </a:xfrm>
          <a:prstGeom prst="rect">
            <a:avLst/>
          </a:prstGeom>
          <a:noFill/>
        </p:spPr>
        <p:txBody>
          <a:bodyPr wrap="square" anchor="t">
            <a:spAutoFit/>
          </a:bodyPr>
          <a:lstStyle/>
          <a:p>
            <a:pPr algn="l">
              <a:defRPr sz="1300" b="1">
                <a:solidFill>
                  <a:srgbClr val="16243D"/>
                </a:solidFill>
                <a:latin typeface="Avenir Next"/>
              </a:defRPr>
            </a:pPr>
            <a:r>
              <a:t>System details and install paths</a:t>
            </a:r>
          </a:p>
        </p:txBody>
      </p:sp>
      <p:sp>
        <p:nvSpPr>
          <p:cNvPr id="27" name="TextBox 26"/>
          <p:cNvSpPr txBox="1"/>
          <p:nvPr/>
        </p:nvSpPr>
        <p:spPr>
          <a:xfrm>
            <a:off x="6675120" y="4261104"/>
            <a:ext cx="4937760" cy="566928"/>
          </a:xfrm>
          <a:prstGeom prst="rect">
            <a:avLst/>
          </a:prstGeom>
          <a:noFill/>
        </p:spPr>
        <p:txBody>
          <a:bodyPr wrap="square" anchor="t">
            <a:spAutoFit/>
          </a:bodyPr>
          <a:lstStyle/>
          <a:p>
            <a:pPr algn="l">
              <a:defRPr sz="1100" b="0">
                <a:solidFill>
                  <a:srgbClr val="6E7B90"/>
                </a:solidFill>
                <a:latin typeface="Avenir Next"/>
              </a:defRPr>
            </a:pPr>
            <a:r>
              <a:t>each system needs its facts confirmed and locations chosen, with an owner</a:t>
            </a:r>
          </a:p>
        </p:txBody>
      </p:sp>
      <p:sp>
        <p:nvSpPr>
          <p:cNvPr id="28" name="TextBox 27"/>
          <p:cNvSpPr txBox="1"/>
          <p:nvPr/>
        </p:nvSpPr>
        <p:spPr>
          <a:xfrm>
            <a:off x="6263640" y="4956048"/>
            <a:ext cx="365760" cy="365760"/>
          </a:xfrm>
          <a:prstGeom prst="rect">
            <a:avLst/>
          </a:prstGeom>
          <a:noFill/>
        </p:spPr>
        <p:txBody>
          <a:bodyPr wrap="square" anchor="t">
            <a:spAutoFit/>
          </a:bodyPr>
          <a:lstStyle/>
          <a:p>
            <a:pPr algn="l">
              <a:defRPr sz="1500" b="1">
                <a:solidFill>
                  <a:srgbClr val="9A7614"/>
                </a:solidFill>
                <a:latin typeface="Avenir Next"/>
              </a:defRPr>
            </a:pPr>
            <a:r>
              <a:t>→</a:t>
            </a:r>
          </a:p>
        </p:txBody>
      </p:sp>
      <p:sp>
        <p:nvSpPr>
          <p:cNvPr id="29" name="TextBox 28"/>
          <p:cNvSpPr txBox="1"/>
          <p:nvPr/>
        </p:nvSpPr>
        <p:spPr>
          <a:xfrm>
            <a:off x="6675120" y="4956048"/>
            <a:ext cx="4937760" cy="292608"/>
          </a:xfrm>
          <a:prstGeom prst="rect">
            <a:avLst/>
          </a:prstGeom>
          <a:noFill/>
        </p:spPr>
        <p:txBody>
          <a:bodyPr wrap="square" anchor="t">
            <a:spAutoFit/>
          </a:bodyPr>
          <a:lstStyle/>
          <a:p>
            <a:pPr algn="l">
              <a:defRPr sz="1300" b="1">
                <a:solidFill>
                  <a:srgbClr val="16243D"/>
                </a:solidFill>
                <a:latin typeface="Avenir Next"/>
              </a:defRPr>
            </a:pPr>
            <a:r>
              <a:t>Agreement on the definition of done</a:t>
            </a:r>
          </a:p>
        </p:txBody>
      </p:sp>
      <p:sp>
        <p:nvSpPr>
          <p:cNvPr id="30" name="TextBox 29"/>
          <p:cNvSpPr txBox="1"/>
          <p:nvPr/>
        </p:nvSpPr>
        <p:spPr>
          <a:xfrm>
            <a:off x="6675120" y="5266944"/>
            <a:ext cx="4937760" cy="566928"/>
          </a:xfrm>
          <a:prstGeom prst="rect">
            <a:avLst/>
          </a:prstGeom>
          <a:noFill/>
        </p:spPr>
        <p:txBody>
          <a:bodyPr wrap="square" anchor="t">
            <a:spAutoFit/>
          </a:bodyPr>
          <a:lstStyle/>
          <a:p>
            <a:pPr algn="l">
              <a:defRPr sz="1100" b="0">
                <a:solidFill>
                  <a:srgbClr val="6E7B90"/>
                </a:solidFill>
                <a:latin typeface="Avenir Next"/>
              </a:defRPr>
            </a:pPr>
            <a:r>
              <a:t>so the first build has a finish line</a:t>
            </a:r>
          </a:p>
        </p:txBody>
      </p:sp>
      <p:sp>
        <p:nvSpPr>
          <p:cNvPr id="31" name="Rounded Rectangle 30"/>
          <p:cNvSpPr/>
          <p:nvPr/>
        </p:nvSpPr>
        <p:spPr>
          <a:xfrm>
            <a:off x="548640" y="5943600"/>
            <a:ext cx="11091672" cy="71323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16243D"/>
                </a:solidFill>
                <a:latin typeface="Avenir Next"/>
              </a:defRPr>
            </a:pPr>
            <a:r>
              <a:t>Draft definition of done: packages build · sample C, C++, and Fortran codes compile and run ·</a:t>
            </a:r>
          </a:p>
          <a:p>
            <a:pPr algn="ctr">
              <a:defRPr sz="1250" b="1">
                <a:solidFill>
                  <a:srgbClr val="16243D"/>
                </a:solidFill>
                <a:latin typeface="Avenir Next"/>
              </a:defRPr>
            </a:pPr>
            <a:r>
              <a:t>MPI jobs run across nodes · a rebuild reproduces the result · installs come from the build cache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
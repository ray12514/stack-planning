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0F172A"/>
                </a:solidFill>
                <a:latin typeface="Avenir Next"/>
              </a:defRPr>
            </a:pPr>
            <a:r>
              <a:t>The CSE Software Stack</a:t>
            </a:r>
          </a:p>
        </p:txBody>
      </p:sp>
      <p:sp>
        <p:nvSpPr>
          <p:cNvPr id="5" name="Rectangle 4"/>
          <p:cNvSpPr/>
          <p:nvPr/>
        </p:nvSpPr>
        <p:spPr>
          <a:xfrm>
            <a:off x="868680" y="3063240"/>
            <a:ext cx="2194560" cy="54864"/>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291840"/>
            <a:ext cx="10515600" cy="1280160"/>
          </a:xfrm>
          <a:prstGeom prst="rect">
            <a:avLst/>
          </a:prstGeom>
          <a:noFill/>
        </p:spPr>
        <p:txBody>
          <a:bodyPr wrap="square" anchor="t">
            <a:spAutoFit/>
          </a:bodyPr>
          <a:lstStyle/>
          <a:p>
            <a:pPr algn="l">
              <a:defRPr sz="2200" b="0">
                <a:solidFill>
                  <a:srgbClr val="334155"/>
                </a:solidFill>
                <a:latin typeface="Avenir Next"/>
              </a:defRPr>
            </a:pPr>
            <a:r>
              <a:t>One clean build surface per compiler, MPI, and GPU: the lanes model</a:t>
            </a:r>
          </a:p>
          <a:p>
            <a:pPr algn="l">
              <a:defRPr sz="1500" b="0">
                <a:solidFill>
                  <a:srgbClr val="64748B"/>
                </a:solidFill>
                <a:latin typeface="Avenir Next"/>
              </a:defRPr>
            </a:pPr>
            <a:r>
              <a:t>How we got here, what the community runs, and where we're going</a:t>
            </a:r>
          </a:p>
        </p:txBody>
      </p:sp>
      <p:sp>
        <p:nvSpPr>
          <p:cNvPr id="7" name="TextBox 6"/>
          <p:cNvSpPr txBox="1"/>
          <p:nvPr/>
        </p:nvSpPr>
        <p:spPr>
          <a:xfrm>
            <a:off x="822960" y="6355080"/>
            <a:ext cx="10515600" cy="457200"/>
          </a:xfrm>
          <a:prstGeom prst="rect">
            <a:avLst/>
          </a:prstGeom>
          <a:noFill/>
        </p:spPr>
        <p:txBody>
          <a:bodyPr wrap="square" anchor="t">
            <a:spAutoFit/>
          </a:bodyPr>
          <a:lstStyle/>
          <a:p>
            <a:pPr algn="l">
              <a:defRPr sz="1200" b="0">
                <a:solidFill>
                  <a:srgbClr val="64748B"/>
                </a:solidFill>
                <a:latin typeface="Avenir Next"/>
              </a:defRPr>
            </a:pPr>
            <a:r>
              <a:t>July 2026  ·  working draft</a:t>
            </a:r>
          </a:p>
        </p:txBody>
      </p:sp>
      <p:sp>
        <p:nvSpPr>
          <p:cNvPr id="8" name="Rounded Rectangle 7"/>
          <p:cNvSpPr/>
          <p:nvPr/>
        </p:nvSpPr>
        <p:spPr>
          <a:xfrm>
            <a:off x="8138160" y="214884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006840" y="2148840"/>
            <a:ext cx="685800" cy="6858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875520" y="2148840"/>
            <a:ext cx="68580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744200" y="2148840"/>
            <a:ext cx="685800" cy="6858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From one flat surface to lanes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4937760" cy="457200"/>
          </a:xfrm>
          <a:prstGeom prst="rect">
            <a:avLst/>
          </a:prstGeom>
          <a:noFill/>
        </p:spPr>
        <p:txBody>
          <a:bodyPr wrap="square" anchor="t">
            <a:spAutoFit/>
          </a:bodyPr>
          <a:lstStyle/>
          <a:p>
            <a:pPr algn="l">
              <a:defRPr sz="1700" b="1">
                <a:solidFill>
                  <a:srgbClr val="0F172A"/>
                </a:solidFill>
                <a:latin typeface="Avenir Next"/>
              </a:defRPr>
            </a:pPr>
            <a:r>
              <a:t>Today: CSEinit</a:t>
            </a:r>
          </a:p>
        </p:txBody>
      </p:sp>
      <p:sp>
        <p:nvSpPr>
          <p:cNvPr id="8" name="TextBox 7"/>
          <p:cNvSpPr txBox="1"/>
          <p:nvPr/>
        </p:nvSpPr>
        <p:spPr>
          <a:xfrm>
            <a:off x="777240" y="2212848"/>
            <a:ext cx="4937760" cy="365760"/>
          </a:xfrm>
          <a:prstGeom prst="rect">
            <a:avLst/>
          </a:prstGeom>
          <a:noFill/>
        </p:spPr>
        <p:txBody>
          <a:bodyPr wrap="square" anchor="t">
            <a:spAutoFit/>
          </a:bodyPr>
          <a:lstStyle/>
          <a:p>
            <a:pPr algn="l">
              <a:defRPr sz="1250" b="0">
                <a:solidFill>
                  <a:srgbClr val="64748B"/>
                </a:solidFill>
                <a:latin typeface="Avenir Next"/>
              </a:defRPr>
            </a:pPr>
            <a:r>
              <a:t>GCC- and Intel-backed flavors · standard / noloads · extends MODULEPATH</a:t>
            </a:r>
          </a:p>
        </p:txBody>
      </p:sp>
      <p:sp>
        <p:nvSpPr>
          <p:cNvPr id="9" name="Rounded Rectangle 8"/>
          <p:cNvSpPr/>
          <p:nvPr/>
        </p:nvSpPr>
        <p:spPr>
          <a:xfrm>
            <a:off x="822960"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hdf5/1.14.6</a:t>
            </a:r>
          </a:p>
        </p:txBody>
      </p:sp>
      <p:sp>
        <p:nvSpPr>
          <p:cNvPr id="10" name="Rounded Rectangle 9"/>
          <p:cNvSpPr/>
          <p:nvPr/>
        </p:nvSpPr>
        <p:spPr>
          <a:xfrm>
            <a:off x="2450592"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hdf5/1.10</a:t>
            </a:r>
          </a:p>
        </p:txBody>
      </p:sp>
      <p:sp>
        <p:nvSpPr>
          <p:cNvPr id="11" name="Rounded Rectangle 10"/>
          <p:cNvSpPr/>
          <p:nvPr/>
        </p:nvSpPr>
        <p:spPr>
          <a:xfrm>
            <a:off x="4078224"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openmpi</a:t>
            </a:r>
          </a:p>
        </p:txBody>
      </p:sp>
      <p:sp>
        <p:nvSpPr>
          <p:cNvPr id="12" name="Rounded Rectangle 11"/>
          <p:cNvSpPr/>
          <p:nvPr/>
        </p:nvSpPr>
        <p:spPr>
          <a:xfrm>
            <a:off x="822960"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13" name="Rounded Rectangle 12"/>
          <p:cNvSpPr/>
          <p:nvPr/>
        </p:nvSpPr>
        <p:spPr>
          <a:xfrm>
            <a:off x="2450592"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a:t>
            </a:r>
          </a:p>
        </p:txBody>
      </p:sp>
      <p:sp>
        <p:nvSpPr>
          <p:cNvPr id="14" name="Rounded Rectangle 13"/>
          <p:cNvSpPr/>
          <p:nvPr/>
        </p:nvSpPr>
        <p:spPr>
          <a:xfrm>
            <a:off x="4078224"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15" name="Rounded Rectangle 14"/>
          <p:cNvSpPr/>
          <p:nvPr/>
        </p:nvSpPr>
        <p:spPr>
          <a:xfrm>
            <a:off x="822960"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16" name="Rounded Rectangle 15"/>
          <p:cNvSpPr/>
          <p:nvPr/>
        </p:nvSpPr>
        <p:spPr>
          <a:xfrm>
            <a:off x="2450592"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mkl</a:t>
            </a:r>
          </a:p>
        </p:txBody>
      </p:sp>
      <p:sp>
        <p:nvSpPr>
          <p:cNvPr id="17" name="Rounded Rectangle 16"/>
          <p:cNvSpPr/>
          <p:nvPr/>
        </p:nvSpPr>
        <p:spPr>
          <a:xfrm>
            <a:off x="4078224"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18" name="Rounded Rectangle 17"/>
          <p:cNvSpPr/>
          <p:nvPr/>
        </p:nvSpPr>
        <p:spPr>
          <a:xfrm>
            <a:off x="822960"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19" name="Rounded Rectangle 18"/>
          <p:cNvSpPr/>
          <p:nvPr/>
        </p:nvSpPr>
        <p:spPr>
          <a:xfrm>
            <a:off x="2450592"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cmake</a:t>
            </a:r>
          </a:p>
        </p:txBody>
      </p:sp>
      <p:sp>
        <p:nvSpPr>
          <p:cNvPr id="20" name="Rounded Rectangle 19"/>
          <p:cNvSpPr/>
          <p:nvPr/>
        </p:nvSpPr>
        <p:spPr>
          <a:xfrm>
            <a:off x="4078224"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21" name="TextBox 20"/>
          <p:cNvSpPr txBox="1"/>
          <p:nvPr/>
        </p:nvSpPr>
        <p:spPr>
          <a:xfrm>
            <a:off x="777240" y="4983480"/>
            <a:ext cx="4937760" cy="1188720"/>
          </a:xfrm>
          <a:prstGeom prst="rect">
            <a:avLst/>
          </a:prstGeom>
          <a:noFill/>
        </p:spPr>
        <p:txBody>
          <a:bodyPr wrap="square" anchor="t">
            <a:spAutoFit/>
          </a:bodyPr>
          <a:lstStyle/>
          <a:p>
            <a:pPr algn="l">
              <a:defRPr sz="1350" b="1">
                <a:solidFill>
                  <a:srgbClr val="D97706"/>
                </a:solidFill>
                <a:latin typeface="Avenir Next"/>
              </a:defRPr>
            </a:pPr>
            <a:r>
              <a:t>Everything visible at once.</a:t>
            </a:r>
          </a:p>
          <a:p>
            <a:pPr algn="l">
              <a:defRPr sz="1250" b="0">
                <a:solidFill>
                  <a:srgbClr val="64748B"/>
                </a:solidFill>
                <a:latin typeface="Avenir Next"/>
              </a:defRPr>
            </a:pPr>
            <a:r>
              <a:t>Conflicts avoided by convention · MPI/GPU surfaces not isolated ·</a:t>
            </a:r>
          </a:p>
          <a:p>
            <a:pPr algn="l">
              <a:defRPr sz="1250" b="0">
                <a:solidFill>
                  <a:srgbClr val="64748B"/>
                </a:solidFill>
                <a:latin typeface="Avenir Next"/>
              </a:defRPr>
            </a:pPr>
            <a:r>
              <a:t>hand-curated per system; upgrades mean rebuilding everything</a:t>
            </a:r>
          </a:p>
        </p:txBody>
      </p:sp>
      <p:sp>
        <p:nvSpPr>
          <p:cNvPr id="22" name="Rounded Rectangle 21"/>
          <p:cNvSpPr/>
          <p:nvPr/>
        </p:nvSpPr>
        <p:spPr>
          <a:xfrm>
            <a:off x="6263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1783080"/>
            <a:ext cx="4937760" cy="457200"/>
          </a:xfrm>
          <a:prstGeom prst="rect">
            <a:avLst/>
          </a:prstGeom>
          <a:noFill/>
        </p:spPr>
        <p:txBody>
          <a:bodyPr wrap="square" anchor="t">
            <a:spAutoFit/>
          </a:bodyPr>
          <a:lstStyle/>
          <a:p>
            <a:pPr algn="l">
              <a:defRPr sz="1700" b="1">
                <a:solidFill>
                  <a:srgbClr val="0F172A"/>
                </a:solidFill>
                <a:latin typeface="Avenir Next"/>
              </a:defRPr>
            </a:pPr>
            <a:r>
              <a:t>The lanes model</a:t>
            </a:r>
          </a:p>
        </p:txBody>
      </p:sp>
      <p:sp>
        <p:nvSpPr>
          <p:cNvPr id="24" name="Rounded Rectangle 23"/>
          <p:cNvSpPr/>
          <p:nvPr/>
        </p:nvSpPr>
        <p:spPr>
          <a:xfrm>
            <a:off x="6766560" y="2331720"/>
            <a:ext cx="4343400" cy="45720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module load cse/GCC</a:t>
            </a:r>
          </a:p>
        </p:txBody>
      </p:sp>
      <p:cxnSp>
        <p:nvCxnSpPr>
          <p:cNvPr id="25" name="Connector 24"/>
          <p:cNvCxnSpPr/>
          <p:nvPr/>
        </p:nvCxnSpPr>
        <p:spPr>
          <a:xfrm>
            <a:off x="8938260" y="2788920"/>
            <a:ext cx="0" cy="27432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766560" y="3063240"/>
            <a:ext cx="2103120" cy="56692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(automatic)</a:t>
            </a:r>
          </a:p>
        </p:txBody>
      </p:sp>
      <p:sp>
        <p:nvSpPr>
          <p:cNvPr id="27" name="Rounded Rectangle 26"/>
          <p:cNvSpPr/>
          <p:nvPr/>
        </p:nvSpPr>
        <p:spPr>
          <a:xfrm>
            <a:off x="9006840" y="3063240"/>
            <a:ext cx="2103120" cy="566928"/>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the path)</a:t>
            </a:r>
          </a:p>
        </p:txBody>
      </p:sp>
      <p:cxnSp>
        <p:nvCxnSpPr>
          <p:cNvPr id="28" name="Connector 27"/>
          <p:cNvCxnSpPr/>
          <p:nvPr/>
        </p:nvCxnSpPr>
        <p:spPr>
          <a:xfrm>
            <a:off x="8938260" y="3630168"/>
            <a:ext cx="0" cy="274319"/>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4748B"/>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0D9488"/>
                </a:solidFill>
                <a:latin typeface="Avenir Next"/>
              </a:defRPr>
            </a:pPr>
            <a:r>
              <a:t>You see exactly one lane.</a:t>
            </a:r>
          </a:p>
          <a:p>
            <a:pPr algn="l">
              <a:defRPr sz="1250" b="0">
                <a:solidFill>
                  <a:srgbClr val="64748B"/>
                </a:solidFill>
                <a:latin typeface="Avenir Next"/>
              </a:defRPr>
            </a:pPr>
            <a:r>
              <a:t>GPU is a complete MPI-capable lane when the selected toolchain supports it ·</a:t>
            </a:r>
          </a:p>
          <a:p>
            <a:pPr algn="l">
              <a:defRPr sz="1250" b="0">
                <a:solidFill>
                  <a:srgbClr val="64748B"/>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The shape everyone converges on</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36118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3200400" cy="502920"/>
          </a:xfrm>
          <a:prstGeom prst="rect">
            <a:avLst/>
          </a:prstGeom>
          <a:noFill/>
        </p:spPr>
        <p:txBody>
          <a:bodyPr wrap="square" anchor="t">
            <a:spAutoFit/>
          </a:bodyPr>
          <a:lstStyle/>
          <a:p>
            <a:pPr algn="l">
              <a:defRPr sz="1450" b="1">
                <a:solidFill>
                  <a:srgbClr val="0F172A"/>
                </a:solidFill>
                <a:latin typeface="Avenir Next"/>
              </a:defRPr>
            </a:pPr>
            <a:r>
              <a:t>NASA JSC  ·  Flight Sciences Lab</a:t>
            </a:r>
          </a:p>
        </p:txBody>
      </p:sp>
      <p:sp>
        <p:nvSpPr>
          <p:cNvPr id="9" name="TextBox 8"/>
          <p:cNvSpPr txBox="1"/>
          <p:nvPr/>
        </p:nvSpPr>
        <p:spPr>
          <a:xfrm>
            <a:off x="777240" y="2395728"/>
            <a:ext cx="3200400" cy="685800"/>
          </a:xfrm>
          <a:prstGeom prst="rect">
            <a:avLst/>
          </a:prstGeom>
          <a:noFill/>
        </p:spPr>
        <p:txBody>
          <a:bodyPr wrap="square" anchor="t">
            <a:spAutoFit/>
          </a:bodyPr>
          <a:lstStyle/>
          <a:p>
            <a:pPr algn="l">
              <a:defRPr sz="1600" b="1">
                <a:solidFill>
                  <a:srgbClr val="2563EB"/>
                </a:solidFill>
                <a:latin typeface="Avenir Next"/>
              </a:defRPr>
            </a:pPr>
            <a:r>
              <a:t>1,000+ packages · 4 compiler suites · 3 MPIs</a:t>
            </a:r>
          </a:p>
        </p:txBody>
      </p:sp>
      <p:sp>
        <p:nvSpPr>
          <p:cNvPr id="10" name="TextBox 9"/>
          <p:cNvSpPr txBox="1"/>
          <p:nvPr/>
        </p:nvSpPr>
        <p:spPr>
          <a:xfrm>
            <a:off x="777240" y="3246120"/>
            <a:ext cx="3200400" cy="1828800"/>
          </a:xfrm>
          <a:prstGeom prst="rect">
            <a:avLst/>
          </a:prstGeom>
          <a:noFill/>
        </p:spPr>
        <p:txBody>
          <a:bodyPr wrap="square" anchor="t">
            <a:spAutoFit/>
          </a:bodyPr>
          <a:lstStyle/>
          <a:p>
            <a:pPr algn="l">
              <a:defRPr sz="1250" b="0">
                <a:solidFill>
                  <a:srgbClr val="334155"/>
                </a:solidFill>
                <a:latin typeface="Avenir Next"/>
              </a:defRPr>
            </a:pPr>
            <a:r>
              <a:t>Lmod hierarchy: Core → Compiler → MPI</a:t>
            </a:r>
          </a:p>
          <a:p>
            <a:pPr algn="l">
              <a:defRPr sz="1250" b="0">
                <a:solidFill>
                  <a:srgbClr val="334155"/>
                </a:solidFill>
                <a:latin typeface="Avenir Next"/>
              </a:defRPr>
            </a:pPr>
            <a:r>
              <a:t>compiler_mixing: false keeps lanes isolated</a:t>
            </a:r>
          </a:p>
          <a:p>
            <a:pPr algn="l">
              <a:defRPr sz="1250" b="0">
                <a:solidFill>
                  <a:srgbClr val="334155"/>
                </a:solidFill>
                <a:latin typeface="Avenir Next"/>
              </a:defRPr>
            </a:pPr>
            <a:r>
              <a:t>“Users never run a spack command.”</a:t>
            </a:r>
          </a:p>
        </p:txBody>
      </p:sp>
      <p:sp>
        <p:nvSpPr>
          <p:cNvPr id="11" name="Rounded Rectangle 10"/>
          <p:cNvSpPr/>
          <p:nvPr/>
        </p:nvSpPr>
        <p:spPr>
          <a:xfrm>
            <a:off x="4370831"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1" y="1600200"/>
            <a:ext cx="361188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9431" y="1828800"/>
            <a:ext cx="3200400" cy="502920"/>
          </a:xfrm>
          <a:prstGeom prst="rect">
            <a:avLst/>
          </a:prstGeom>
          <a:noFill/>
        </p:spPr>
        <p:txBody>
          <a:bodyPr wrap="square" anchor="t">
            <a:spAutoFit/>
          </a:bodyPr>
          <a:lstStyle/>
          <a:p>
            <a:pPr algn="l">
              <a:defRPr sz="1450" b="1">
                <a:solidFill>
                  <a:srgbClr val="0F172A"/>
                </a:solidFill>
                <a:latin typeface="Avenir Next"/>
              </a:defRPr>
            </a:pPr>
            <a:r>
              <a:t>ALCF  ·  Polaris Spack PE</a:t>
            </a:r>
          </a:p>
        </p:txBody>
      </p:sp>
      <p:sp>
        <p:nvSpPr>
          <p:cNvPr id="14" name="TextBox 13"/>
          <p:cNvSpPr txBox="1"/>
          <p:nvPr/>
        </p:nvSpPr>
        <p:spPr>
          <a:xfrm>
            <a:off x="4599431" y="2395728"/>
            <a:ext cx="3200400" cy="685800"/>
          </a:xfrm>
          <a:prstGeom prst="rect">
            <a:avLst/>
          </a:prstGeom>
          <a:noFill/>
        </p:spPr>
        <p:txBody>
          <a:bodyPr wrap="square" anchor="t">
            <a:spAutoFit/>
          </a:bodyPr>
          <a:lstStyle/>
          <a:p>
            <a:pPr algn="l">
              <a:defRPr sz="1600" b="1">
                <a:solidFill>
                  <a:srgbClr val="7C3AED"/>
                </a:solidFill>
                <a:latin typeface="Avenir Next"/>
              </a:defRPr>
            </a:pPr>
            <a:r>
              <a:t>spack-pe-base + spack-pe-gnu</a:t>
            </a:r>
          </a:p>
        </p:txBody>
      </p:sp>
      <p:sp>
        <p:nvSpPr>
          <p:cNvPr id="15" name="TextBox 14"/>
          <p:cNvSpPr txBox="1"/>
          <p:nvPr/>
        </p:nvSpPr>
        <p:spPr>
          <a:xfrm>
            <a:off x="4599431" y="3246120"/>
            <a:ext cx="3200400" cy="1828800"/>
          </a:xfrm>
          <a:prstGeom prst="rect">
            <a:avLst/>
          </a:prstGeom>
          <a:noFill/>
        </p:spPr>
        <p:txBody>
          <a:bodyPr wrap="square" anchor="t">
            <a:spAutoFit/>
          </a:bodyPr>
          <a:lstStyle/>
          <a:p>
            <a:pPr algn="l">
              <a:defRPr sz="1250" b="0">
                <a:solidFill>
                  <a:srgbClr val="334155"/>
                </a:solidFill>
                <a:latin typeface="Avenir Next"/>
              </a:defRPr>
            </a:pPr>
            <a:r>
              <a:t>Base built once with system GCC, PE-agnostic</a:t>
            </a:r>
          </a:p>
          <a:p>
            <a:pPr algn="l">
              <a:defRPr sz="1250" b="0">
                <a:solidFill>
                  <a:srgbClr val="334155"/>
                </a:solidFill>
                <a:latin typeface="Avenir Next"/>
              </a:defRPr>
            </a:pPr>
            <a:r>
              <a:t>Meta-module gates MODULEPATH</a:t>
            </a:r>
          </a:p>
          <a:p>
            <a:pPr algn="l">
              <a:defRPr sz="1250" b="0">
                <a:solidFill>
                  <a:srgbClr val="334155"/>
                </a:solidFill>
                <a:latin typeface="Avenir Next"/>
              </a:defRPr>
            </a:pPr>
            <a:r>
              <a:t>Packages appear only after the stack loads</a:t>
            </a:r>
          </a:p>
        </p:txBody>
      </p:sp>
      <p:sp>
        <p:nvSpPr>
          <p:cNvPr id="16" name="Rounded Rectangle 15"/>
          <p:cNvSpPr/>
          <p:nvPr/>
        </p:nvSpPr>
        <p:spPr>
          <a:xfrm>
            <a:off x="8193023"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3" y="1600200"/>
            <a:ext cx="3611880"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1828800"/>
            <a:ext cx="3200400" cy="502920"/>
          </a:xfrm>
          <a:prstGeom prst="rect">
            <a:avLst/>
          </a:prstGeom>
          <a:noFill/>
        </p:spPr>
        <p:txBody>
          <a:bodyPr wrap="square" anchor="t">
            <a:spAutoFit/>
          </a:bodyPr>
          <a:lstStyle/>
          <a:p>
            <a:pPr algn="l">
              <a:defRPr sz="1450" b="1">
                <a:solidFill>
                  <a:srgbClr val="0F172A"/>
                </a:solidFill>
                <a:latin typeface="Avenir Next"/>
              </a:defRPr>
            </a:pPr>
            <a:r>
              <a:t>Spack project  ·  E4S / HPSF</a:t>
            </a:r>
          </a:p>
        </p:txBody>
      </p:sp>
      <p:sp>
        <p:nvSpPr>
          <p:cNvPr id="19" name="TextBox 18"/>
          <p:cNvSpPr txBox="1"/>
          <p:nvPr/>
        </p:nvSpPr>
        <p:spPr>
          <a:xfrm>
            <a:off x="8421624" y="2395728"/>
            <a:ext cx="3200400" cy="685800"/>
          </a:xfrm>
          <a:prstGeom prst="rect">
            <a:avLst/>
          </a:prstGeom>
          <a:noFill/>
        </p:spPr>
        <p:txBody>
          <a:bodyPr wrap="square" anchor="t">
            <a:spAutoFit/>
          </a:bodyPr>
          <a:lstStyle/>
          <a:p>
            <a:pPr algn="l">
              <a:defRPr sz="1600" b="1">
                <a:solidFill>
                  <a:srgbClr val="0D9488"/>
                </a:solidFill>
                <a:latin typeface="Avenir Next"/>
              </a:defRPr>
            </a:pPr>
            <a:r>
              <a:t>Incremental concretization</a:t>
            </a:r>
          </a:p>
        </p:txBody>
      </p:sp>
      <p:sp>
        <p:nvSpPr>
          <p:cNvPr id="20" name="TextBox 19"/>
          <p:cNvSpPr txBox="1"/>
          <p:nvPr/>
        </p:nvSpPr>
        <p:spPr>
          <a:xfrm>
            <a:off x="8421624" y="3246120"/>
            <a:ext cx="3200400" cy="1828800"/>
          </a:xfrm>
          <a:prstGeom prst="rect">
            <a:avLst/>
          </a:prstGeom>
          <a:noFill/>
        </p:spPr>
        <p:txBody>
          <a:bodyPr wrap="square" anchor="t">
            <a:spAutoFit/>
          </a:bodyPr>
          <a:lstStyle/>
          <a:p>
            <a:pPr algn="l">
              <a:defRPr sz="1250" b="0">
                <a:solidFill>
                  <a:srgbClr val="334155"/>
                </a:solidFill>
                <a:latin typeface="Avenir Next"/>
              </a:defRPr>
            </a:pPr>
            <a:r>
              <a:t>Foundation → GPU/MPI/Python → integrations</a:t>
            </a:r>
          </a:p>
          <a:p>
            <a:pPr algn="l">
              <a:defRPr sz="1250" b="0">
                <a:solidFill>
                  <a:srgbClr val="334155"/>
                </a:solidFill>
                <a:latin typeface="Avenir Next"/>
              </a:defRPr>
            </a:pPr>
            <a:r>
              <a:t>Flat 270-spec environments hang the solver</a:t>
            </a:r>
          </a:p>
          <a:p>
            <a:pPr algn="l">
              <a:defRPr sz="1250" b="0">
                <a:solidFill>
                  <a:srgbClr val="334155"/>
                </a:solidFill>
                <a:latin typeface="Avenir Next"/>
              </a:defRPr>
            </a:pPr>
            <a:r>
              <a:t>Build caches are load-bearing, not optional</a:t>
            </a:r>
          </a:p>
        </p:txBody>
      </p:sp>
      <p:sp>
        <p:nvSpPr>
          <p:cNvPr id="21" name="Rounded Rectangle 20"/>
          <p:cNvSpPr/>
          <p:nvPr/>
        </p:nvSpPr>
        <p:spPr>
          <a:xfrm>
            <a:off x="548640" y="54864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How a stack is built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PROBE</a:t>
            </a:r>
          </a:p>
          <a:p>
            <a:pPr algn="ctr">
              <a:defRPr sz="1100" b="0">
                <a:solidFill>
                  <a:srgbClr val="64748B"/>
                </a:solidFill>
                <a:latin typeface="Avenir Next"/>
              </a:defRPr>
            </a:pPr>
            <a:r>
              <a:t>record the system's</a:t>
            </a:r>
          </a:p>
          <a:p>
            <a:pPr algn="ctr">
              <a:defRPr sz="1100" b="0">
                <a:solidFill>
                  <a:srgbClr val="64748B"/>
                </a:solidFill>
                <a:latin typeface="Avenir Next"/>
              </a:defRPr>
            </a:pPr>
            <a:r>
              <a:t>facts, once</a:t>
            </a:r>
          </a:p>
        </p:txBody>
      </p:sp>
      <p:cxnSp>
        <p:nvCxnSpPr>
          <p:cNvPr id="7" name="Connector 6"/>
          <p:cNvCxnSpPr/>
          <p:nvPr/>
        </p:nvCxnSpPr>
        <p:spPr>
          <a:xfrm>
            <a:off x="2624328"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52928"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POLICY</a:t>
            </a:r>
          </a:p>
          <a:p>
            <a:pPr algn="ctr">
              <a:defRPr sz="1100" b="0">
                <a:solidFill>
                  <a:srgbClr val="64748B"/>
                </a:solidFill>
                <a:latin typeface="Avenir Next"/>
              </a:defRPr>
            </a:pPr>
            <a:r>
              <a:t>one small site</a:t>
            </a:r>
          </a:p>
          <a:p>
            <a:pPr algn="ctr">
              <a:defRPr sz="1100" b="0">
                <a:solidFill>
                  <a:srgbClr val="64748B"/>
                </a:solidFill>
                <a:latin typeface="Avenir Next"/>
              </a:defRPr>
            </a:pPr>
            <a:r>
              <a:t>defaults file</a:t>
            </a:r>
          </a:p>
        </p:txBody>
      </p:sp>
      <p:cxnSp>
        <p:nvCxnSpPr>
          <p:cNvPr id="9" name="Connector 8"/>
          <p:cNvCxnSpPr/>
          <p:nvPr/>
        </p:nvCxnSpPr>
        <p:spPr>
          <a:xfrm>
            <a:off x="4928616"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57216"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RENDER</a:t>
            </a:r>
          </a:p>
          <a:p>
            <a:pPr algn="ctr">
              <a:defRPr sz="1100" b="0">
                <a:solidFill>
                  <a:srgbClr val="64748B"/>
                </a:solidFill>
                <a:latin typeface="Avenir Next"/>
              </a:defRPr>
            </a:pPr>
            <a:r>
              <a:t>derive every lane's</a:t>
            </a:r>
          </a:p>
          <a:p>
            <a:pPr algn="ctr">
              <a:defRPr sz="1100" b="0">
                <a:solidFill>
                  <a:srgbClr val="64748B"/>
                </a:solidFill>
                <a:latin typeface="Avenir Next"/>
              </a:defRPr>
            </a:pPr>
            <a:r>
              <a:t>build input</a:t>
            </a:r>
          </a:p>
        </p:txBody>
      </p:sp>
      <p:cxnSp>
        <p:nvCxnSpPr>
          <p:cNvPr id="11" name="Connector 10"/>
          <p:cNvCxnSpPr/>
          <p:nvPr/>
        </p:nvCxnSpPr>
        <p:spPr>
          <a:xfrm>
            <a:off x="7232904"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61504"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BUILD</a:t>
            </a:r>
          </a:p>
          <a:p>
            <a:pPr algn="ctr">
              <a:defRPr sz="1100" b="0">
                <a:solidFill>
                  <a:srgbClr val="64748B"/>
                </a:solidFill>
                <a:latin typeface="Avenir Next"/>
              </a:defRPr>
            </a:pPr>
            <a:r>
              <a:t>Spack · lanes build</a:t>
            </a:r>
          </a:p>
          <a:p>
            <a:pPr algn="ctr">
              <a:defRPr sz="1100" b="0">
                <a:solidFill>
                  <a:srgbClr val="64748B"/>
                </a:solidFill>
                <a:latin typeface="Avenir Next"/>
              </a:defRPr>
            </a:pPr>
            <a:r>
              <a:t>in parallel</a:t>
            </a:r>
          </a:p>
        </p:txBody>
      </p:sp>
      <p:cxnSp>
        <p:nvCxnSpPr>
          <p:cNvPr id="13" name="Connector 12"/>
          <p:cNvCxnSpPr/>
          <p:nvPr/>
        </p:nvCxnSpPr>
        <p:spPr>
          <a:xfrm>
            <a:off x="9537192"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765792"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PUBLISH</a:t>
            </a:r>
          </a:p>
          <a:p>
            <a:pPr algn="ctr">
              <a:defRPr sz="1100" b="0">
                <a:solidFill>
                  <a:srgbClr val="64748B"/>
                </a:solidFill>
                <a:latin typeface="Avenir Next"/>
              </a:defRPr>
            </a:pPr>
            <a:r>
              <a:t>modules · views</a:t>
            </a:r>
          </a:p>
          <a:p>
            <a:pPr algn="ctr">
              <a:defRPr sz="1100" b="0">
                <a:solidFill>
                  <a:srgbClr val="64748B"/>
                </a:solidFill>
                <a:latin typeface="Avenir Next"/>
              </a:defRPr>
            </a:pPr>
            <a:r>
              <a:t>build caches</a:t>
            </a:r>
          </a:p>
        </p:txBody>
      </p:sp>
      <p:sp>
        <p:nvSpPr>
          <p:cNvPr id="15" name="Rounded Rectangle 14"/>
          <p:cNvSpPr/>
          <p:nvPr/>
        </p:nvSpPr>
        <p:spPr>
          <a:xfrm>
            <a:off x="2148840" y="3108960"/>
            <a:ext cx="7863840" cy="685800"/>
          </a:xfrm>
          <a:prstGeom prst="roundRect">
            <a:avLst/>
          </a:prstGeom>
          <a:solidFill>
            <a:srgbClr val="FFFFFF"/>
          </a:solidFill>
          <a:ln w="15875">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0F172A"/>
                </a:solidFill>
                <a:latin typeface="Avenir Next"/>
              </a:defRPr>
            </a:pPr>
            <a:r>
              <a:t>Core + Foundation: built once per compiler surface, portable target</a:t>
            </a:r>
          </a:p>
          <a:p>
            <a:pPr algn="ctr">
              <a:defRPr sz="1150" b="0">
                <a:solidFill>
                  <a:srgbClr val="64748B"/>
                </a:solidFill>
                <a:latin typeface="Avenir Next"/>
              </a:defRPr>
            </a:pPr>
            <a:r>
              <a:t>cmake · python · miniforge   |   zlib · xz · zstd (single pinned version)</a:t>
            </a:r>
          </a:p>
        </p:txBody>
      </p:sp>
      <p:cxnSp>
        <p:nvCxnSpPr>
          <p:cNvPr id="16" name="Connector 15"/>
          <p:cNvCxnSpPr/>
          <p:nvPr/>
        </p:nvCxnSpPr>
        <p:spPr>
          <a:xfrm flipH="1">
            <a:off x="2880360" y="3794760"/>
            <a:ext cx="3200400" cy="548640"/>
          </a:xfrm>
          <a:prstGeom prst="line">
            <a:avLst/>
          </a:prstGeom>
          <a:ln w="28575">
            <a:solidFill>
              <a:srgbClr val="D9770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71600" y="4343400"/>
            <a:ext cx="3017520" cy="8686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8" name="Connector 17"/>
          <p:cNvCxnSpPr/>
          <p:nvPr/>
        </p:nvCxnSpPr>
        <p:spPr>
          <a:xfrm>
            <a:off x="6080760" y="3794760"/>
            <a:ext cx="91440" cy="548640"/>
          </a:xfrm>
          <a:prstGeom prst="line">
            <a:avLst/>
          </a:prstGeom>
          <a:ln w="28575">
            <a:solidFill>
              <a:srgbClr val="2563E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663440" y="4343400"/>
            <a:ext cx="301752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20" name="Connector 19"/>
          <p:cNvCxnSpPr/>
          <p:nvPr/>
        </p:nvCxnSpPr>
        <p:spPr>
          <a:xfrm>
            <a:off x="6080760" y="3794760"/>
            <a:ext cx="3383280" cy="548640"/>
          </a:xfrm>
          <a:prstGeom prst="line">
            <a:avLst/>
          </a:prstGeom>
          <a:ln w="28575">
            <a:solidFill>
              <a:srgbClr val="7C3AE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955279" y="4343400"/>
            <a:ext cx="301752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2" name="TextBox 21"/>
          <p:cNvSpPr txBox="1"/>
          <p:nvPr/>
        </p:nvSpPr>
        <p:spPr>
          <a:xfrm>
            <a:off x="548640" y="5623560"/>
            <a:ext cx="11064240" cy="822960"/>
          </a:xfrm>
          <a:prstGeom prst="rect">
            <a:avLst/>
          </a:prstGeom>
          <a:noFill/>
        </p:spPr>
        <p:txBody>
          <a:bodyPr wrap="square" anchor="t">
            <a:spAutoFit/>
          </a:bodyPr>
          <a:lstStyle/>
          <a:p>
            <a:pPr algn="l">
              <a:defRPr sz="1400" b="1">
                <a:solidFill>
                  <a:srgbClr val="0D9488"/>
                </a:solidFill>
                <a:latin typeface="Avenir Next"/>
              </a:defRPr>
            </a:pPr>
            <a:r>
              <a:t>A new system is a probe and a render, not months of curation.</a:t>
            </a:r>
          </a:p>
          <a:p>
            <a:pPr algn="l">
              <a:defRPr sz="1250" b="0">
                <a:solidFill>
                  <a:srgbClr val="64748B"/>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a user experiences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809390" y="1645920"/>
            <a:ext cx="4572000" cy="566928"/>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0F172A"/>
                </a:solidFill>
                <a:latin typeface="Avenir Next"/>
              </a:defRPr>
            </a:pPr>
            <a:r>
              <a:t>$ module load cse/GCC</a:t>
            </a:r>
          </a:p>
        </p:txBody>
      </p:sp>
      <p:cxnSp>
        <p:nvCxnSpPr>
          <p:cNvPr id="7" name="Connector 6"/>
          <p:cNvCxnSpPr/>
          <p:nvPr/>
        </p:nvCxnSpPr>
        <p:spPr>
          <a:xfrm>
            <a:off x="6095390" y="2212848"/>
            <a:ext cx="0" cy="36576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163470" y="2578608"/>
            <a:ext cx="3749039" cy="9144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Core: loads automatically</a:t>
            </a:r>
          </a:p>
          <a:p>
            <a:pPr algn="ctr">
              <a:defRPr sz="1150" b="0">
                <a:solidFill>
                  <a:srgbClr val="FFFFFF"/>
                </a:solidFill>
                <a:latin typeface="Avenir Next"/>
              </a:defRPr>
            </a:pPr>
            <a:r>
              <a:t>cmake · python · miniforge · gsl</a:t>
            </a:r>
          </a:p>
        </p:txBody>
      </p:sp>
      <p:sp>
        <p:nvSpPr>
          <p:cNvPr id="9" name="Rounded Rectangle 8"/>
          <p:cNvSpPr/>
          <p:nvPr/>
        </p:nvSpPr>
        <p:spPr>
          <a:xfrm>
            <a:off x="6278270" y="2578608"/>
            <a:ext cx="3749039" cy="9144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Foundation: on your paths automatically</a:t>
            </a:r>
          </a:p>
          <a:p>
            <a:pPr algn="ctr">
              <a:defRPr sz="11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4748B"/>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fftw · boost, plus openblas · gnuplot</a:t>
            </a:r>
          </a:p>
        </p:txBody>
      </p:sp>
      <p:sp>
        <p:nvSpPr>
          <p:cNvPr id="13" name="Rounded Rectangle 12"/>
          <p:cNvSpPr/>
          <p:nvPr/>
        </p:nvSpPr>
        <p:spPr>
          <a:xfrm>
            <a:off x="4343400" y="4343400"/>
            <a:ext cx="3474720" cy="9144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0F172A"/>
                </a:solidFill>
                <a:latin typeface="Avenir Next"/>
              </a:defRPr>
            </a:pPr>
            <a:r>
              <a:t>Only the chosen lane is visible; common packages (BLAS/LAPACK, gnuplot) are reachable from every lane.</a:t>
            </a:r>
          </a:p>
          <a:p>
            <a:pPr algn="ctr">
              <a:defRPr sz="1200" b="0">
                <a:solidFill>
                  <a:srgbClr val="64748B"/>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Lane vocabulary</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27432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55648"/>
            <a:ext cx="2468880" cy="502920"/>
          </a:xfrm>
          <a:prstGeom prst="rect">
            <a:avLst/>
          </a:prstGeom>
          <a:noFill/>
        </p:spPr>
        <p:txBody>
          <a:bodyPr wrap="square" anchor="t">
            <a:spAutoFit/>
          </a:bodyPr>
          <a:lstStyle/>
          <a:p>
            <a:pPr algn="ctr">
              <a:defRPr sz="1700" b="1">
                <a:solidFill>
                  <a:srgbClr val="FFFFFF"/>
                </a:solidFill>
                <a:latin typeface="Avenir Next"/>
              </a:defRPr>
            </a:pPr>
            <a:r>
              <a:t>Core</a:t>
            </a:r>
          </a:p>
        </p:txBody>
      </p:sp>
      <p:sp>
        <p:nvSpPr>
          <p:cNvPr id="9" name="TextBox 8"/>
          <p:cNvSpPr txBox="1"/>
          <p:nvPr/>
        </p:nvSpPr>
        <p:spPr>
          <a:xfrm>
            <a:off x="749808" y="2514600"/>
            <a:ext cx="2377440" cy="1554480"/>
          </a:xfrm>
          <a:prstGeom prst="rect">
            <a:avLst/>
          </a:prstGeom>
          <a:noFill/>
        </p:spPr>
        <p:txBody>
          <a:bodyPr wrap="square" anchor="t">
            <a:spAutoFit/>
          </a:bodyPr>
          <a:lstStyle/>
          <a:p>
            <a:pPr algn="l">
              <a:defRPr sz="1250" b="0">
                <a:solidFill>
                  <a:srgbClr val="334155"/>
                </a:solidFill>
                <a:latin typeface="Avenir Next"/>
              </a:defRPr>
            </a:pPr>
            <a:r>
              <a:t>Compiler-agnostic building blocks and tools. They load with the surface, before any lane is chosen.</a:t>
            </a:r>
          </a:p>
        </p:txBody>
      </p:sp>
      <p:sp>
        <p:nvSpPr>
          <p:cNvPr id="10" name="TextBox 9"/>
          <p:cNvSpPr txBox="1"/>
          <p:nvPr/>
        </p:nvSpPr>
        <p:spPr>
          <a:xfrm>
            <a:off x="749808" y="4160520"/>
            <a:ext cx="2377440" cy="640080"/>
          </a:xfrm>
          <a:prstGeom prst="rect">
            <a:avLst/>
          </a:prstGeom>
          <a:noFill/>
        </p:spPr>
        <p:txBody>
          <a:bodyPr wrap="square" anchor="t">
            <a:spAutoFit/>
          </a:bodyPr>
          <a:lstStyle/>
          <a:p>
            <a:pPr algn="l">
              <a:defRPr sz="1150" b="0">
                <a:solidFill>
                  <a:srgbClr val="64748B"/>
                </a:solidFill>
                <a:latin typeface="Avenir Next"/>
              </a:defRPr>
            </a:pPr>
            <a:r>
              <a:t>cmake · python · miniforge · gsl · sqlite</a:t>
            </a:r>
          </a:p>
        </p:txBody>
      </p:sp>
      <p:sp>
        <p:nvSpPr>
          <p:cNvPr id="11" name="Rounded Rectangle 10"/>
          <p:cNvSpPr/>
          <p:nvPr/>
        </p:nvSpPr>
        <p:spPr>
          <a:xfrm>
            <a:off x="3493008"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93008" y="1645920"/>
            <a:ext cx="2743200" cy="6858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1755648"/>
            <a:ext cx="2468880" cy="502920"/>
          </a:xfrm>
          <a:prstGeom prst="rect">
            <a:avLst/>
          </a:prstGeom>
          <a:noFill/>
        </p:spPr>
        <p:txBody>
          <a:bodyPr wrap="square" anchor="t">
            <a:spAutoFit/>
          </a:bodyPr>
          <a:lstStyle/>
          <a:p>
            <a:pPr algn="ctr">
              <a:defRPr sz="1700" b="1">
                <a:solidFill>
                  <a:srgbClr val="FFFFFF"/>
                </a:solidFill>
                <a:latin typeface="Avenir Next"/>
              </a:defRPr>
            </a:pPr>
            <a:r>
              <a:t>Serial</a:t>
            </a:r>
          </a:p>
        </p:txBody>
      </p:sp>
      <p:sp>
        <p:nvSpPr>
          <p:cNvPr id="14" name="TextBox 13"/>
          <p:cNvSpPr txBox="1"/>
          <p:nvPr/>
        </p:nvSpPr>
        <p:spPr>
          <a:xfrm>
            <a:off x="3694176" y="2514600"/>
            <a:ext cx="2377440" cy="1554480"/>
          </a:xfrm>
          <a:prstGeom prst="rect">
            <a:avLst/>
          </a:prstGeom>
          <a:noFill/>
        </p:spPr>
        <p:txBody>
          <a:bodyPr wrap="square" anchor="t">
            <a:spAutoFit/>
          </a:bodyPr>
          <a:lstStyle/>
          <a:p>
            <a:pPr algn="l">
              <a:defRPr sz="1250" b="0">
                <a:solidFill>
                  <a:srgbClr val="334155"/>
                </a:solidFill>
                <a:latin typeface="Avenir Next"/>
              </a:defRPr>
            </a:pPr>
            <a:r>
              <a:t>Two classes: non-MPI builds of MPI-capable packages, and common compiler-dependent packages that every lane can load.</a:t>
            </a:r>
          </a:p>
        </p:txBody>
      </p:sp>
      <p:sp>
        <p:nvSpPr>
          <p:cNvPr id="15" name="TextBox 14"/>
          <p:cNvSpPr txBox="1"/>
          <p:nvPr/>
        </p:nvSpPr>
        <p:spPr>
          <a:xfrm>
            <a:off x="3694176" y="4160520"/>
            <a:ext cx="2377440" cy="640080"/>
          </a:xfrm>
          <a:prstGeom prst="rect">
            <a:avLst/>
          </a:prstGeom>
          <a:noFill/>
        </p:spPr>
        <p:txBody>
          <a:bodyPr wrap="square" anchor="t">
            <a:spAutoFit/>
          </a:bodyPr>
          <a:lstStyle/>
          <a:p>
            <a:pPr algn="l">
              <a:defRPr sz="1150" b="0">
                <a:solidFill>
                  <a:srgbClr val="64748B"/>
                </a:solidFill>
                <a:latin typeface="Avenir Next"/>
              </a:defRPr>
            </a:pPr>
            <a:r>
              <a:t>hdf5~mpi · fftw~mpi  |  openblas · gnuplot</a:t>
            </a:r>
          </a:p>
        </p:txBody>
      </p:sp>
      <p:sp>
        <p:nvSpPr>
          <p:cNvPr id="16" name="Rounded Rectangle 15"/>
          <p:cNvSpPr/>
          <p:nvPr/>
        </p:nvSpPr>
        <p:spPr>
          <a:xfrm>
            <a:off x="6437376"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37376" y="1645920"/>
            <a:ext cx="274320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74536" y="1755648"/>
            <a:ext cx="2468880" cy="502920"/>
          </a:xfrm>
          <a:prstGeom prst="rect">
            <a:avLst/>
          </a:prstGeom>
          <a:noFill/>
        </p:spPr>
        <p:txBody>
          <a:bodyPr wrap="square" anchor="t">
            <a:spAutoFit/>
          </a:bodyPr>
          <a:lstStyle/>
          <a:p>
            <a:pPr algn="ctr">
              <a:defRPr sz="1700" b="1">
                <a:solidFill>
                  <a:srgbClr val="FFFFFF"/>
                </a:solidFill>
                <a:latin typeface="Avenir Next"/>
              </a:defRPr>
            </a:pPr>
            <a:r>
              <a:t>MPI</a:t>
            </a:r>
          </a:p>
        </p:txBody>
      </p:sp>
      <p:sp>
        <p:nvSpPr>
          <p:cNvPr id="19" name="TextBox 18"/>
          <p:cNvSpPr txBox="1"/>
          <p:nvPr/>
        </p:nvSpPr>
        <p:spPr>
          <a:xfrm>
            <a:off x="6638544" y="2514600"/>
            <a:ext cx="2377440" cy="1554480"/>
          </a:xfrm>
          <a:prstGeom prst="rect">
            <a:avLst/>
          </a:prstGeom>
          <a:noFill/>
        </p:spPr>
        <p:txBody>
          <a:bodyPr wrap="square" anchor="t">
            <a:spAutoFit/>
          </a:bodyPr>
          <a:lstStyle/>
          <a:p>
            <a:pPr algn="l">
              <a:defRPr sz="1250" b="0">
                <a:solidFill>
                  <a:srgbClr val="334155"/>
                </a:solidFill>
                <a:latin typeface="Avenir Next"/>
              </a:defRPr>
            </a:pPr>
            <a:r>
              <a:t>Built against the system MPI. Qualified only when the system offers more than one.</a:t>
            </a:r>
          </a:p>
        </p:txBody>
      </p:sp>
      <p:sp>
        <p:nvSpPr>
          <p:cNvPr id="20" name="TextBox 19"/>
          <p:cNvSpPr txBox="1"/>
          <p:nvPr/>
        </p:nvSpPr>
        <p:spPr>
          <a:xfrm>
            <a:off x="6638544" y="4160520"/>
            <a:ext cx="2377440" cy="640080"/>
          </a:xfrm>
          <a:prstGeom prst="rect">
            <a:avLst/>
          </a:prstGeom>
          <a:noFill/>
        </p:spPr>
        <p:txBody>
          <a:bodyPr wrap="square" anchor="t">
            <a:spAutoFit/>
          </a:bodyPr>
          <a:lstStyle/>
          <a:p>
            <a:pPr algn="l">
              <a:defRPr sz="1150" b="0">
                <a:solidFill>
                  <a:srgbClr val="64748B"/>
                </a:solidFill>
                <a:latin typeface="Avenir Next"/>
              </a:defRPr>
            </a:pPr>
            <a:r>
              <a:t>MPI  ·  or MPI-openmpi / MPI-mpich</a:t>
            </a:r>
          </a:p>
        </p:txBody>
      </p:sp>
      <p:sp>
        <p:nvSpPr>
          <p:cNvPr id="21" name="Rounded Rectangle 20"/>
          <p:cNvSpPr/>
          <p:nvPr/>
        </p:nvSpPr>
        <p:spPr>
          <a:xfrm>
            <a:off x="9381744"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81744" y="1645920"/>
            <a:ext cx="2743200" cy="6858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18904" y="1755648"/>
            <a:ext cx="2468880" cy="502920"/>
          </a:xfrm>
          <a:prstGeom prst="rect">
            <a:avLst/>
          </a:prstGeom>
          <a:noFill/>
        </p:spPr>
        <p:txBody>
          <a:bodyPr wrap="square" anchor="t">
            <a:spAutoFit/>
          </a:bodyPr>
          <a:lstStyle/>
          <a:p>
            <a:pPr algn="ctr">
              <a:defRPr sz="1700" b="1">
                <a:solidFill>
                  <a:srgbClr val="FFFFFF"/>
                </a:solidFill>
                <a:latin typeface="Avenir Next"/>
              </a:defRPr>
            </a:pPr>
            <a:r>
              <a:t>GPU</a:t>
            </a:r>
          </a:p>
        </p:txBody>
      </p:sp>
      <p:sp>
        <p:nvSpPr>
          <p:cNvPr id="24" name="TextBox 23"/>
          <p:cNvSpPr txBox="1"/>
          <p:nvPr/>
        </p:nvSpPr>
        <p:spPr>
          <a:xfrm>
            <a:off x="9582912" y="2514600"/>
            <a:ext cx="2377440" cy="1554480"/>
          </a:xfrm>
          <a:prstGeom prst="rect">
            <a:avLst/>
          </a:prstGeom>
          <a:noFill/>
        </p:spPr>
        <p:txBody>
          <a:bodyPr wrap="square" anchor="t">
            <a:spAutoFit/>
          </a:bodyPr>
          <a:lstStyle/>
          <a:p>
            <a:pPr algn="l">
              <a:defRPr sz="1250" b="0">
                <a:solidFill>
                  <a:srgbClr val="334155"/>
                </a:solidFill>
                <a:latin typeface="Avenir Next"/>
              </a:defRPr>
            </a:pPr>
            <a:r>
              <a:t>Carries the full MPI roster plus the GPU payload. Load GPU instead of MPI, not in addition to it.</a:t>
            </a:r>
          </a:p>
        </p:txBody>
      </p:sp>
      <p:sp>
        <p:nvSpPr>
          <p:cNvPr id="25" name="TextBox 24"/>
          <p:cNvSpPr txBox="1"/>
          <p:nvPr/>
        </p:nvSpPr>
        <p:spPr>
          <a:xfrm>
            <a:off x="9582912" y="4160520"/>
            <a:ext cx="2377440" cy="640080"/>
          </a:xfrm>
          <a:prstGeom prst="rect">
            <a:avLst/>
          </a:prstGeom>
          <a:noFill/>
        </p:spPr>
        <p:txBody>
          <a:bodyPr wrap="square" anchor="t">
            <a:spAutoFit/>
          </a:bodyPr>
          <a:lstStyle/>
          <a:p>
            <a:pPr algn="l">
              <a:defRPr sz="1150" b="0">
                <a:solidFill>
                  <a:srgbClr val="64748B"/>
                </a:solidFill>
                <a:latin typeface="Avenir Next"/>
              </a:defRPr>
            </a:pPr>
            <a:r>
              <a:t>GPU  ·  or GPU-gfx90a / GPU-gfx942</a:t>
            </a:r>
          </a:p>
        </p:txBody>
      </p:sp>
      <p:sp>
        <p:nvSpPr>
          <p:cNvPr id="26" name="Rounded Rectangle 25"/>
          <p:cNvSpPr/>
          <p:nvPr/>
        </p:nvSpPr>
        <p:spPr>
          <a:xfrm>
            <a:off x="548640" y="52578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Pilot scope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10512"/>
            <a:ext cx="4937760" cy="457200"/>
          </a:xfrm>
          <a:prstGeom prst="rect">
            <a:avLst/>
          </a:prstGeom>
          <a:noFill/>
        </p:spPr>
        <p:txBody>
          <a:bodyPr wrap="square" anchor="t">
            <a:spAutoFit/>
          </a:bodyPr>
          <a:lstStyle/>
          <a:p>
            <a:pPr algn="l">
              <a:defRPr sz="1600" b="1">
                <a:solidFill>
                  <a:srgbClr val="0F172A"/>
                </a:solidFill>
                <a:latin typeface="Avenir Next"/>
              </a:defRPr>
            </a:pPr>
            <a:r>
              <a:t>cse/&lt;SystemDefault&gt;</a:t>
            </a:r>
          </a:p>
        </p:txBody>
      </p:sp>
      <p:sp>
        <p:nvSpPr>
          <p:cNvPr id="8" name="TextBox 7"/>
          <p:cNvSpPr txBox="1"/>
          <p:nvPr/>
        </p:nvSpPr>
        <p:spPr>
          <a:xfrm>
            <a:off x="777240" y="2286000"/>
            <a:ext cx="4937760" cy="365760"/>
          </a:xfrm>
          <a:prstGeom prst="rect">
            <a:avLst/>
          </a:prstGeom>
          <a:noFill/>
        </p:spPr>
        <p:txBody>
          <a:bodyPr wrap="square" anchor="t">
            <a:spAutoFit/>
          </a:bodyPr>
          <a:lstStyle/>
          <a:p>
            <a:pPr algn="l">
              <a:defRPr sz="1200" b="0">
                <a:solidFill>
                  <a:srgbClr val="64748B"/>
                </a:solidFill>
                <a:latin typeface="Avenir Next"/>
              </a:defRPr>
            </a:pPr>
            <a:r>
              <a:t>whatever the machine blesses as its baseline</a:t>
            </a:r>
          </a:p>
        </p:txBody>
      </p:sp>
      <p:sp>
        <p:nvSpPr>
          <p:cNvPr id="9" name="Rounded Rectangle 8"/>
          <p:cNvSpPr/>
          <p:nvPr/>
        </p:nvSpPr>
        <p:spPr>
          <a:xfrm>
            <a:off x="822959" y="2743200"/>
            <a:ext cx="23317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Core (automatic)</a:t>
            </a:r>
          </a:p>
        </p:txBody>
      </p:sp>
      <p:sp>
        <p:nvSpPr>
          <p:cNvPr id="10" name="Rounded Rectangle 9"/>
          <p:cNvSpPr/>
          <p:nvPr/>
        </p:nvSpPr>
        <p:spPr>
          <a:xfrm>
            <a:off x="3291840" y="2743200"/>
            <a:ext cx="233172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Foundation (on the path)</a:t>
            </a:r>
          </a:p>
        </p:txBody>
      </p:sp>
      <p:sp>
        <p:nvSpPr>
          <p:cNvPr id="11" name="Rounded Rectangle 10"/>
          <p:cNvSpPr/>
          <p:nvPr/>
        </p:nvSpPr>
        <p:spPr>
          <a:xfrm>
            <a:off x="822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0F172A"/>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4748B"/>
                </a:solidFill>
                <a:latin typeface="Avenir Next"/>
              </a:defRPr>
            </a:pPr>
            <a:r>
              <a:t>the portable reference surface</a:t>
            </a:r>
          </a:p>
        </p:txBody>
      </p:sp>
      <p:sp>
        <p:nvSpPr>
          <p:cNvPr id="17" name="Rounded Rectangle 16"/>
          <p:cNvSpPr/>
          <p:nvPr/>
        </p:nvSpPr>
        <p:spPr>
          <a:xfrm>
            <a:off x="6537959" y="2743200"/>
            <a:ext cx="23317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Core (automatic)</a:t>
            </a:r>
          </a:p>
        </p:txBody>
      </p:sp>
      <p:sp>
        <p:nvSpPr>
          <p:cNvPr id="18" name="Rounded Rectangle 17"/>
          <p:cNvSpPr/>
          <p:nvPr/>
        </p:nvSpPr>
        <p:spPr>
          <a:xfrm>
            <a:off x="9006840" y="2743200"/>
            <a:ext cx="233172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Foundation (on the path)</a:t>
            </a:r>
          </a:p>
        </p:txBody>
      </p:sp>
      <p:sp>
        <p:nvSpPr>
          <p:cNvPr id="19" name="Rounded Rectangle 18"/>
          <p:cNvSpPr/>
          <p:nvPr/>
        </p:nvSpPr>
        <p:spPr>
          <a:xfrm>
            <a:off x="6537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0" name="Rounded Rectangle 19"/>
          <p:cNvSpPr/>
          <p:nvPr/>
        </p:nvSpPr>
        <p:spPr>
          <a:xfrm>
            <a:off x="8183879"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1" name="Rounded Rectangle 20"/>
          <p:cNvSpPr/>
          <p:nvPr/>
        </p:nvSpPr>
        <p:spPr>
          <a:xfrm>
            <a:off x="9829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2" name="TextBox 21"/>
          <p:cNvSpPr txBox="1"/>
          <p:nvPr/>
        </p:nvSpPr>
        <p:spPr>
          <a:xfrm>
            <a:off x="548640" y="4526280"/>
            <a:ext cx="10972800" cy="365760"/>
          </a:xfrm>
          <a:prstGeom prst="rect">
            <a:avLst/>
          </a:prstGeom>
          <a:noFill/>
        </p:spPr>
        <p:txBody>
          <a:bodyPr wrap="square" anchor="t">
            <a:spAutoFit/>
          </a:bodyPr>
          <a:lstStyle/>
          <a:p>
            <a:pPr algn="l">
              <a:defRPr sz="1300" b="1">
                <a:solidFill>
                  <a:srgbClr val="0F172A"/>
                </a:solidFill>
                <a:latin typeface="Avenir Next"/>
              </a:defRPr>
            </a:pPr>
            <a:r>
              <a:t>Representative roster: newest two supported releases</a:t>
            </a:r>
          </a:p>
        </p:txBody>
      </p:sp>
      <p:sp>
        <p:nvSpPr>
          <p:cNvPr id="23" name="Rounded Rectangle 22"/>
          <p:cNvSpPr/>
          <p:nvPr/>
        </p:nvSpPr>
        <p:spPr>
          <a:xfrm>
            <a:off x="54864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a:t>
            </a:r>
          </a:p>
        </p:txBody>
      </p:sp>
      <p:sp>
        <p:nvSpPr>
          <p:cNvPr id="24" name="Rounded Rectangle 23"/>
          <p:cNvSpPr/>
          <p:nvPr/>
        </p:nvSpPr>
        <p:spPr>
          <a:xfrm>
            <a:off x="217627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5" name="Rounded Rectangle 24"/>
          <p:cNvSpPr/>
          <p:nvPr/>
        </p:nvSpPr>
        <p:spPr>
          <a:xfrm>
            <a:off x="3803904"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NetCDF-Fortran</a:t>
            </a:r>
          </a:p>
        </p:txBody>
      </p:sp>
      <p:sp>
        <p:nvSpPr>
          <p:cNvPr id="26" name="Rounded Rectangle 25"/>
          <p:cNvSpPr/>
          <p:nvPr/>
        </p:nvSpPr>
        <p:spPr>
          <a:xfrm>
            <a:off x="5431536"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7" name="Rounded Rectangle 26"/>
          <p:cNvSpPr/>
          <p:nvPr/>
        </p:nvSpPr>
        <p:spPr>
          <a:xfrm>
            <a:off x="7059168"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28" name="Rounded Rectangle 27"/>
          <p:cNvSpPr/>
          <p:nvPr/>
        </p:nvSpPr>
        <p:spPr>
          <a:xfrm>
            <a:off x="868680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29" name="Rounded Rectangle 28"/>
          <p:cNvSpPr/>
          <p:nvPr/>
        </p:nvSpPr>
        <p:spPr>
          <a:xfrm>
            <a:off x="1031443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30" name="Rounded Rectangle 29"/>
          <p:cNvSpPr/>
          <p:nvPr/>
        </p:nvSpPr>
        <p:spPr>
          <a:xfrm>
            <a:off x="54864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31" name="Rounded Rectangle 30"/>
          <p:cNvSpPr/>
          <p:nvPr/>
        </p:nvSpPr>
        <p:spPr>
          <a:xfrm>
            <a:off x="217627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32" name="Rounded Rectangle 31"/>
          <p:cNvSpPr/>
          <p:nvPr/>
        </p:nvSpPr>
        <p:spPr>
          <a:xfrm>
            <a:off x="3803904"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Dakota</a:t>
            </a:r>
          </a:p>
        </p:txBody>
      </p:sp>
      <p:sp>
        <p:nvSpPr>
          <p:cNvPr id="33" name="Rounded Rectangle 32"/>
          <p:cNvSpPr/>
          <p:nvPr/>
        </p:nvSpPr>
        <p:spPr>
          <a:xfrm>
            <a:off x="5431536"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Kokkos</a:t>
            </a:r>
          </a:p>
        </p:txBody>
      </p:sp>
      <p:sp>
        <p:nvSpPr>
          <p:cNvPr id="34" name="Rounded Rectangle 33"/>
          <p:cNvSpPr/>
          <p:nvPr/>
        </p:nvSpPr>
        <p:spPr>
          <a:xfrm>
            <a:off x="7059168"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Gnuplot</a:t>
            </a:r>
          </a:p>
        </p:txBody>
      </p:sp>
      <p:sp>
        <p:nvSpPr>
          <p:cNvPr id="35" name="Rounded Rectangle 34"/>
          <p:cNvSpPr/>
          <p:nvPr/>
        </p:nvSpPr>
        <p:spPr>
          <a:xfrm>
            <a:off x="868680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36" name="Rounded Rectangle 35"/>
          <p:cNvSpPr/>
          <p:nvPr/>
        </p:nvSpPr>
        <p:spPr>
          <a:xfrm>
            <a:off x="1031443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Miniforge</a:t>
            </a:r>
          </a:p>
        </p:txBody>
      </p:sp>
      <p:sp>
        <p:nvSpPr>
          <p:cNvPr id="37" name="TextBox 36"/>
          <p:cNvSpPr txBox="1"/>
          <p:nvPr/>
        </p:nvSpPr>
        <p:spPr>
          <a:xfrm>
            <a:off x="548640" y="6080760"/>
            <a:ext cx="11064240" cy="457200"/>
          </a:xfrm>
          <a:prstGeom prst="rect">
            <a:avLst/>
          </a:prstGeom>
          <a:noFill/>
        </p:spPr>
        <p:txBody>
          <a:bodyPr wrap="square" anchor="t">
            <a:spAutoFit/>
          </a:bodyPr>
          <a:lstStyle/>
          <a:p>
            <a:pPr algn="l">
              <a:defRPr sz="1200" b="0">
                <a:solidFill>
                  <a:srgbClr val="64748B"/>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Four systems will prove the pilot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27632"/>
            <a:ext cx="109728"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73936"/>
            <a:ext cx="1920240" cy="365760"/>
          </a:xfrm>
          <a:prstGeom prst="rect">
            <a:avLst/>
          </a:prstGeom>
          <a:noFill/>
        </p:spPr>
        <p:txBody>
          <a:bodyPr wrap="square" anchor="t">
            <a:spAutoFit/>
          </a:bodyPr>
          <a:lstStyle/>
          <a:p>
            <a:pPr algn="l">
              <a:defRPr sz="1700" b="1">
                <a:solidFill>
                  <a:srgbClr val="0F172A"/>
                </a:solidFill>
                <a:latin typeface="Avenir Next"/>
              </a:defRPr>
            </a:pPr>
            <a:r>
              <a:t>Blueback</a:t>
            </a:r>
          </a:p>
        </p:txBody>
      </p:sp>
      <p:sp>
        <p:nvSpPr>
          <p:cNvPr id="9" name="TextBox 8"/>
          <p:cNvSpPr txBox="1"/>
          <p:nvPr/>
        </p:nvSpPr>
        <p:spPr>
          <a:xfrm>
            <a:off x="2697480" y="1801368"/>
            <a:ext cx="2971800" cy="320040"/>
          </a:xfrm>
          <a:prstGeom prst="rect">
            <a:avLst/>
          </a:prstGeom>
          <a:noFill/>
        </p:spPr>
        <p:txBody>
          <a:bodyPr wrap="square" anchor="t">
            <a:spAutoFit/>
          </a:bodyPr>
          <a:lstStyle/>
          <a:p>
            <a:pPr algn="r">
              <a:defRPr sz="1150" b="1">
                <a:solidFill>
                  <a:srgbClr val="7C3AED"/>
                </a:solidFill>
                <a:latin typeface="Avenir Next"/>
              </a:defRPr>
            </a:pPr>
            <a:r>
              <a:t>CRAY PE · AMD APU</a:t>
            </a:r>
          </a:p>
        </p:txBody>
      </p:sp>
      <p:sp>
        <p:nvSpPr>
          <p:cNvPr id="10" name="TextBox 9"/>
          <p:cNvSpPr txBox="1"/>
          <p:nvPr/>
        </p:nvSpPr>
        <p:spPr>
          <a:xfrm>
            <a:off x="822959" y="2221992"/>
            <a:ext cx="4846320" cy="292608"/>
          </a:xfrm>
          <a:prstGeom prst="rect">
            <a:avLst/>
          </a:prstGeom>
          <a:noFill/>
        </p:spPr>
        <p:txBody>
          <a:bodyPr wrap="square" anchor="t">
            <a:spAutoFit/>
          </a:bodyPr>
          <a:lstStyle/>
          <a:p>
            <a:pPr algn="l">
              <a:defRPr sz="1250" b="1">
                <a:solidFill>
                  <a:srgbClr val="334155"/>
                </a:solidFill>
                <a:latin typeface="Avenir Next"/>
              </a:defRPr>
            </a:pPr>
            <a:r>
              <a:t>NAVY · HPE Cray EX4000 · SLES</a:t>
            </a:r>
          </a:p>
        </p:txBody>
      </p:sp>
      <p:sp>
        <p:nvSpPr>
          <p:cNvPr id="11" name="TextBox 10"/>
          <p:cNvSpPr txBox="1"/>
          <p:nvPr/>
        </p:nvSpPr>
        <p:spPr>
          <a:xfrm>
            <a:off x="822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9654 Genoa, 192 cores</a:t>
            </a:r>
          </a:p>
        </p:txBody>
      </p:sp>
      <p:sp>
        <p:nvSpPr>
          <p:cNvPr id="12" name="TextBox 11"/>
          <p:cNvSpPr txBox="1"/>
          <p:nvPr/>
        </p:nvSpPr>
        <p:spPr>
          <a:xfrm>
            <a:off x="822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AMD Instinct MI300A APU, 96 cores + 4 × MI300A</a:t>
            </a:r>
          </a:p>
        </p:txBody>
      </p:sp>
      <p:sp>
        <p:nvSpPr>
          <p:cNvPr id="13" name="Rounded Rectangle 12"/>
          <p:cNvSpPr/>
          <p:nvPr/>
        </p:nvSpPr>
        <p:spPr>
          <a:xfrm>
            <a:off x="6263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627632"/>
            <a:ext cx="109728" cy="1783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773936"/>
            <a:ext cx="1920240" cy="365760"/>
          </a:xfrm>
          <a:prstGeom prst="rect">
            <a:avLst/>
          </a:prstGeom>
          <a:noFill/>
        </p:spPr>
        <p:txBody>
          <a:bodyPr wrap="square" anchor="t">
            <a:spAutoFit/>
          </a:bodyPr>
          <a:lstStyle/>
          <a:p>
            <a:pPr algn="l">
              <a:defRPr sz="1700" b="1">
                <a:solidFill>
                  <a:srgbClr val="0F172A"/>
                </a:solidFill>
                <a:latin typeface="Avenir Next"/>
              </a:defRPr>
            </a:pPr>
            <a:r>
              <a:t>Fran</a:t>
            </a:r>
          </a:p>
        </p:txBody>
      </p:sp>
      <p:sp>
        <p:nvSpPr>
          <p:cNvPr id="16" name="TextBox 15"/>
          <p:cNvSpPr txBox="1"/>
          <p:nvPr/>
        </p:nvSpPr>
        <p:spPr>
          <a:xfrm>
            <a:off x="8412480" y="1801368"/>
            <a:ext cx="2971800" cy="320040"/>
          </a:xfrm>
          <a:prstGeom prst="rect">
            <a:avLst/>
          </a:prstGeom>
          <a:noFill/>
        </p:spPr>
        <p:txBody>
          <a:bodyPr wrap="square" anchor="t">
            <a:spAutoFit/>
          </a:bodyPr>
          <a:lstStyle/>
          <a:p>
            <a:pPr algn="r">
              <a:defRPr sz="1150" b="1">
                <a:solidFill>
                  <a:srgbClr val="2563EB"/>
                </a:solidFill>
                <a:latin typeface="Avenir Next"/>
              </a:defRPr>
            </a:pPr>
            <a:r>
              <a:t>SECOND CRAY SITE · NEWEST NVIDIA</a:t>
            </a:r>
          </a:p>
        </p:txBody>
      </p:sp>
      <p:sp>
        <p:nvSpPr>
          <p:cNvPr id="17" name="TextBox 16"/>
          <p:cNvSpPr txBox="1"/>
          <p:nvPr/>
        </p:nvSpPr>
        <p:spPr>
          <a:xfrm>
            <a:off x="6537959" y="2221992"/>
            <a:ext cx="4846320" cy="292608"/>
          </a:xfrm>
          <a:prstGeom prst="rect">
            <a:avLst/>
          </a:prstGeom>
          <a:noFill/>
        </p:spPr>
        <p:txBody>
          <a:bodyPr wrap="square" anchor="t">
            <a:spAutoFit/>
          </a:bodyPr>
          <a:lstStyle/>
          <a:p>
            <a:pPr algn="l">
              <a:defRPr sz="1250" b="1">
                <a:solidFill>
                  <a:srgbClr val="334155"/>
                </a:solidFill>
                <a:latin typeface="Avenir Next"/>
              </a:defRPr>
            </a:pPr>
            <a:r>
              <a:t>ARL · HPE Cray EX4000 · RHEL 9</a:t>
            </a:r>
          </a:p>
        </p:txBody>
      </p:sp>
      <p:sp>
        <p:nvSpPr>
          <p:cNvPr id="18" name="TextBox 17"/>
          <p:cNvSpPr txBox="1"/>
          <p:nvPr/>
        </p:nvSpPr>
        <p:spPr>
          <a:xfrm>
            <a:off x="6537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Genoa, 192 cores</a:t>
            </a:r>
          </a:p>
        </p:txBody>
      </p:sp>
      <p:sp>
        <p:nvSpPr>
          <p:cNvPr id="19" name="TextBox 18"/>
          <p:cNvSpPr txBox="1"/>
          <p:nvPr/>
        </p:nvSpPr>
        <p:spPr>
          <a:xfrm>
            <a:off x="6537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NVIDIA H200</a:t>
            </a:r>
          </a:p>
        </p:txBody>
      </p:sp>
      <p:sp>
        <p:nvSpPr>
          <p:cNvPr id="20" name="Rounded Rectangle 19"/>
          <p:cNvSpPr/>
          <p:nvPr/>
        </p:nvSpPr>
        <p:spPr>
          <a:xfrm>
            <a:off x="548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685032"/>
            <a:ext cx="109728" cy="17830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831336"/>
            <a:ext cx="1920240" cy="365760"/>
          </a:xfrm>
          <a:prstGeom prst="rect">
            <a:avLst/>
          </a:prstGeom>
          <a:noFill/>
        </p:spPr>
        <p:txBody>
          <a:bodyPr wrap="square" anchor="t">
            <a:spAutoFit/>
          </a:bodyPr>
          <a:lstStyle/>
          <a:p>
            <a:pPr algn="l">
              <a:defRPr sz="1700" b="1">
                <a:solidFill>
                  <a:srgbClr val="0F172A"/>
                </a:solidFill>
                <a:latin typeface="Avenir Next"/>
              </a:defRPr>
            </a:pPr>
            <a:r>
              <a:t>Raider</a:t>
            </a:r>
          </a:p>
        </p:txBody>
      </p:sp>
      <p:sp>
        <p:nvSpPr>
          <p:cNvPr id="23" name="TextBox 22"/>
          <p:cNvSpPr txBox="1"/>
          <p:nvPr/>
        </p:nvSpPr>
        <p:spPr>
          <a:xfrm>
            <a:off x="2697480" y="3858768"/>
            <a:ext cx="2971800" cy="320040"/>
          </a:xfrm>
          <a:prstGeom prst="rect">
            <a:avLst/>
          </a:prstGeom>
          <a:noFill/>
        </p:spPr>
        <p:txBody>
          <a:bodyPr wrap="square" anchor="t">
            <a:spAutoFit/>
          </a:bodyPr>
          <a:lstStyle/>
          <a:p>
            <a:pPr algn="r">
              <a:defRPr sz="1150" b="1">
                <a:solidFill>
                  <a:srgbClr val="0D9488"/>
                </a:solidFill>
                <a:latin typeface="Avenir Next"/>
              </a:defRPr>
            </a:pPr>
            <a:r>
              <a:t>GENERIC LINUX · CUDA</a:t>
            </a:r>
          </a:p>
        </p:txBody>
      </p:sp>
      <p:sp>
        <p:nvSpPr>
          <p:cNvPr id="24" name="TextBox 23"/>
          <p:cNvSpPr txBox="1"/>
          <p:nvPr/>
        </p:nvSpPr>
        <p:spPr>
          <a:xfrm>
            <a:off x="822959" y="4279392"/>
            <a:ext cx="4846320" cy="292608"/>
          </a:xfrm>
          <a:prstGeom prst="rect">
            <a:avLst/>
          </a:prstGeom>
          <a:noFill/>
        </p:spPr>
        <p:txBody>
          <a:bodyPr wrap="square" anchor="t">
            <a:spAutoFit/>
          </a:bodyPr>
          <a:lstStyle/>
          <a:p>
            <a:pPr algn="l">
              <a:defRPr sz="1250" b="1">
                <a:solidFill>
                  <a:srgbClr val="334155"/>
                </a:solidFill>
                <a:latin typeface="Avenir Next"/>
              </a:defRPr>
            </a:pPr>
            <a:r>
              <a:t>AFRL · Penguin TrueHPC · RHEL 8</a:t>
            </a:r>
          </a:p>
        </p:txBody>
      </p:sp>
      <p:sp>
        <p:nvSpPr>
          <p:cNvPr id="25" name="TextBox 24"/>
          <p:cNvSpPr txBox="1"/>
          <p:nvPr/>
        </p:nvSpPr>
        <p:spPr>
          <a:xfrm>
            <a:off x="822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7713 Milan, 128 cores</a:t>
            </a:r>
          </a:p>
        </p:txBody>
      </p:sp>
      <p:sp>
        <p:nvSpPr>
          <p:cNvPr id="26" name="TextBox 25"/>
          <p:cNvSpPr txBox="1"/>
          <p:nvPr/>
        </p:nvSpPr>
        <p:spPr>
          <a:xfrm>
            <a:off x="822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 NVIDIA A100 SXM4</a:t>
            </a:r>
          </a:p>
        </p:txBody>
      </p:sp>
      <p:sp>
        <p:nvSpPr>
          <p:cNvPr id="27" name="Rounded Rectangle 26"/>
          <p:cNvSpPr/>
          <p:nvPr/>
        </p:nvSpPr>
        <p:spPr>
          <a:xfrm>
            <a:off x="6263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3685032"/>
            <a:ext cx="109728" cy="17830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59" y="3831336"/>
            <a:ext cx="1920240" cy="365760"/>
          </a:xfrm>
          <a:prstGeom prst="rect">
            <a:avLst/>
          </a:prstGeom>
          <a:noFill/>
        </p:spPr>
        <p:txBody>
          <a:bodyPr wrap="square" anchor="t">
            <a:spAutoFit/>
          </a:bodyPr>
          <a:lstStyle/>
          <a:p>
            <a:pPr algn="l">
              <a:defRPr sz="1700" b="1">
                <a:solidFill>
                  <a:srgbClr val="0F172A"/>
                </a:solidFill>
                <a:latin typeface="Avenir Next"/>
              </a:defRPr>
            </a:pPr>
            <a:r>
              <a:t>Wheat</a:t>
            </a:r>
          </a:p>
        </p:txBody>
      </p:sp>
      <p:sp>
        <p:nvSpPr>
          <p:cNvPr id="30" name="TextBox 29"/>
          <p:cNvSpPr txBox="1"/>
          <p:nvPr/>
        </p:nvSpPr>
        <p:spPr>
          <a:xfrm>
            <a:off x="8412480" y="3858768"/>
            <a:ext cx="2971800" cy="320040"/>
          </a:xfrm>
          <a:prstGeom prst="rect">
            <a:avLst/>
          </a:prstGeom>
          <a:noFill/>
        </p:spPr>
        <p:txBody>
          <a:bodyPr wrap="square" anchor="t">
            <a:spAutoFit/>
          </a:bodyPr>
          <a:lstStyle/>
          <a:p>
            <a:pPr algn="r">
              <a:defRPr sz="1150" b="1">
                <a:solidFill>
                  <a:srgbClr val="D97706"/>
                </a:solidFill>
                <a:latin typeface="Avenir Next"/>
              </a:defRPr>
            </a:pPr>
            <a:r>
              <a:t>INTEL CPU · COMPOSABLE GPU</a:t>
            </a:r>
          </a:p>
        </p:txBody>
      </p:sp>
      <p:sp>
        <p:nvSpPr>
          <p:cNvPr id="31" name="TextBox 30"/>
          <p:cNvSpPr txBox="1"/>
          <p:nvPr/>
        </p:nvSpPr>
        <p:spPr>
          <a:xfrm>
            <a:off x="6537959" y="4279392"/>
            <a:ext cx="4846320" cy="292608"/>
          </a:xfrm>
          <a:prstGeom prst="rect">
            <a:avLst/>
          </a:prstGeom>
          <a:noFill/>
        </p:spPr>
        <p:txBody>
          <a:bodyPr wrap="square" anchor="t">
            <a:spAutoFit/>
          </a:bodyPr>
          <a:lstStyle/>
          <a:p>
            <a:pPr algn="l">
              <a:defRPr sz="1250" b="1">
                <a:solidFill>
                  <a:srgbClr val="334155"/>
                </a:solidFill>
                <a:latin typeface="Avenir Next"/>
              </a:defRPr>
            </a:pPr>
            <a:r>
              <a:t>ERDC · Liqid composable · RHEL 8</a:t>
            </a:r>
          </a:p>
        </p:txBody>
      </p:sp>
      <p:sp>
        <p:nvSpPr>
          <p:cNvPr id="32" name="TextBox 31"/>
          <p:cNvSpPr txBox="1"/>
          <p:nvPr/>
        </p:nvSpPr>
        <p:spPr>
          <a:xfrm>
            <a:off x="6537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Intel Xeon 9242 Cascade Lake, 92 cores</a:t>
            </a:r>
          </a:p>
        </p:txBody>
      </p:sp>
      <p:sp>
        <p:nvSpPr>
          <p:cNvPr id="33" name="TextBox 32"/>
          <p:cNvSpPr txBox="1"/>
          <p:nvPr/>
        </p:nvSpPr>
        <p:spPr>
          <a:xfrm>
            <a:off x="6537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or 6 × NVIDIA A100</a:t>
            </a:r>
          </a:p>
        </p:txBody>
      </p:sp>
      <p:sp>
        <p:nvSpPr>
          <p:cNvPr id="34" name="Rounded Rectangle 33"/>
          <p:cNvSpPr/>
          <p:nvPr/>
        </p:nvSpPr>
        <p:spPr>
          <a:xfrm>
            <a:off x="548640" y="5806440"/>
            <a:ext cx="11091672" cy="530352"/>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Coverage: SLES + RHEL 8 + RHEL 9 · AMD + Intel CPUs · AMD MI300A + NVIDIA H200 and A100</a:t>
            </a:r>
          </a:p>
        </p:txBody>
      </p:sp>
      <p:sp>
        <p:nvSpPr>
          <p:cNvPr id="35" name="TextBox 34"/>
          <p:cNvSpPr txBox="1"/>
          <p:nvPr/>
        </p:nvSpPr>
        <p:spPr>
          <a:xfrm>
            <a:off x="548640" y="6419088"/>
            <a:ext cx="11064240" cy="219456"/>
          </a:xfrm>
          <a:prstGeom prst="rect">
            <a:avLst/>
          </a:prstGeom>
          <a:noFill/>
        </p:spPr>
        <p:txBody>
          <a:bodyPr wrap="square" anchor="t">
            <a:spAutoFit/>
          </a:bodyPr>
          <a:lstStyle/>
          <a:p>
            <a:pPr algn="r">
              <a:defRPr sz="950" b="0">
                <a:solidFill>
                  <a:srgbClr val="64748B"/>
                </a:solidFill>
                <a:latin typeface="Avenir Next"/>
              </a:defRPr>
            </a:pPr>
            <a:r>
              <a:t>AI/ML is this deck's label for each site's accelerated node type (named MLA on Raider and Wheat). Source: centers.hpc.mil hardware inventory, July 2026; Fran accelerator detail from program info.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WHERE THE PIPELINE IS TODAY</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Status and next steps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440680" cy="4480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28800"/>
            <a:ext cx="4937760" cy="457200"/>
          </a:xfrm>
          <a:prstGeom prst="rect">
            <a:avLst/>
          </a:prstGeom>
          <a:noFill/>
        </p:spPr>
        <p:txBody>
          <a:bodyPr wrap="square" anchor="t">
            <a:spAutoFit/>
          </a:bodyPr>
          <a:lstStyle/>
          <a:p>
            <a:pPr algn="l">
              <a:defRPr sz="1700" b="1">
                <a:solidFill>
                  <a:srgbClr val="15803D"/>
                </a:solidFill>
                <a:latin typeface="Avenir Next"/>
              </a:defRPr>
            </a:pPr>
            <a:r>
              <a:t>Done</a:t>
            </a:r>
          </a:p>
        </p:txBody>
      </p:sp>
      <p:sp>
        <p:nvSpPr>
          <p:cNvPr id="8" name="TextBox 7"/>
          <p:cNvSpPr txBox="1"/>
          <p:nvPr/>
        </p:nvSpPr>
        <p:spPr>
          <a:xfrm>
            <a:off x="822960" y="2377440"/>
            <a:ext cx="365760" cy="457200"/>
          </a:xfrm>
          <a:prstGeom prst="rect">
            <a:avLst/>
          </a:prstGeom>
          <a:noFill/>
        </p:spPr>
        <p:txBody>
          <a:bodyPr wrap="square" anchor="t">
            <a:spAutoFit/>
          </a:bodyPr>
          <a:lstStyle/>
          <a:p>
            <a:pPr algn="l">
              <a:defRPr sz="1600" b="1">
                <a:solidFill>
                  <a:srgbClr val="15803D"/>
                </a:solidFill>
                <a:latin typeface="Avenir Next"/>
              </a:defRPr>
            </a:pPr>
            <a:r>
              <a:t>✓</a:t>
            </a:r>
          </a:p>
        </p:txBody>
      </p:sp>
      <p:sp>
        <p:nvSpPr>
          <p:cNvPr id="9" name="TextBox 8"/>
          <p:cNvSpPr txBox="1"/>
          <p:nvPr/>
        </p:nvSpPr>
        <p:spPr>
          <a:xfrm>
            <a:off x="1234440" y="2377440"/>
            <a:ext cx="4526280" cy="1005840"/>
          </a:xfrm>
          <a:prstGeom prst="rect">
            <a:avLst/>
          </a:prstGeom>
          <a:noFill/>
        </p:spPr>
        <p:txBody>
          <a:bodyPr wrap="square" anchor="t">
            <a:spAutoFit/>
          </a:bodyPr>
          <a:lstStyle/>
          <a:p>
            <a:pPr algn="l">
              <a:defRPr sz="1300" b="0">
                <a:solidFill>
                  <a:srgbClr val="334155"/>
                </a:solidFill>
                <a:latin typeface="Avenir Next"/>
              </a:defRPr>
            </a:pPr>
            <a:r>
              <a:t>End-to-end Cray smoke: probe → render → concretize → build (PrgEnv-gnu · cray-mpich · ROCm)</a:t>
            </a:r>
          </a:p>
        </p:txBody>
      </p:sp>
      <p:sp>
        <p:nvSpPr>
          <p:cNvPr id="10" name="TextBox 9"/>
          <p:cNvSpPr txBox="1"/>
          <p:nvPr/>
        </p:nvSpPr>
        <p:spPr>
          <a:xfrm>
            <a:off x="822960" y="3429000"/>
            <a:ext cx="365760" cy="457200"/>
          </a:xfrm>
          <a:prstGeom prst="rect">
            <a:avLst/>
          </a:prstGeom>
          <a:noFill/>
        </p:spPr>
        <p:txBody>
          <a:bodyPr wrap="square" anchor="t">
            <a:spAutoFit/>
          </a:bodyPr>
          <a:lstStyle/>
          <a:p>
            <a:pPr algn="l">
              <a:defRPr sz="1600" b="1">
                <a:solidFill>
                  <a:srgbClr val="15803D"/>
                </a:solidFill>
                <a:latin typeface="Avenir Next"/>
              </a:defRPr>
            </a:pPr>
            <a:r>
              <a:t>✓</a:t>
            </a:r>
          </a:p>
        </p:txBody>
      </p:sp>
      <p:sp>
        <p:nvSpPr>
          <p:cNvPr id="11" name="TextBox 10"/>
          <p:cNvSpPr txBox="1"/>
          <p:nvPr/>
        </p:nvSpPr>
        <p:spPr>
          <a:xfrm>
            <a:off x="1234440" y="3429000"/>
            <a:ext cx="4526280" cy="1005840"/>
          </a:xfrm>
          <a:prstGeom prst="rect">
            <a:avLst/>
          </a:prstGeom>
          <a:noFill/>
        </p:spPr>
        <p:txBody>
          <a:bodyPr wrap="square" anchor="t">
            <a:spAutoFit/>
          </a:bodyPr>
          <a:lstStyle/>
          <a:p>
            <a:pPr algn="l">
              <a:defRPr sz="1300" b="0">
                <a:solidFill>
                  <a:srgbClr val="334155"/>
                </a:solidFill>
                <a:latin typeface="Avenir Next"/>
              </a:defRPr>
            </a:pPr>
            <a:r>
              <a:t>Second system validated the generic-Linux path and hardened the prober</a:t>
            </a:r>
          </a:p>
        </p:txBody>
      </p:sp>
      <p:sp>
        <p:nvSpPr>
          <p:cNvPr id="12" name="TextBox 11"/>
          <p:cNvSpPr txBox="1"/>
          <p:nvPr/>
        </p:nvSpPr>
        <p:spPr>
          <a:xfrm>
            <a:off x="822960" y="4480560"/>
            <a:ext cx="365760" cy="457200"/>
          </a:xfrm>
          <a:prstGeom prst="rect">
            <a:avLst/>
          </a:prstGeom>
          <a:noFill/>
        </p:spPr>
        <p:txBody>
          <a:bodyPr wrap="square" anchor="t">
            <a:spAutoFit/>
          </a:bodyPr>
          <a:lstStyle/>
          <a:p>
            <a:pPr algn="l">
              <a:defRPr sz="1600" b="1">
                <a:solidFill>
                  <a:srgbClr val="15803D"/>
                </a:solidFill>
                <a:latin typeface="Avenir Next"/>
              </a:defRPr>
            </a:pPr>
            <a:r>
              <a:t>✓</a:t>
            </a:r>
          </a:p>
        </p:txBody>
      </p:sp>
      <p:sp>
        <p:nvSpPr>
          <p:cNvPr id="13" name="TextBox 12"/>
          <p:cNvSpPr txBox="1"/>
          <p:nvPr/>
        </p:nvSpPr>
        <p:spPr>
          <a:xfrm>
            <a:off x="1234440" y="4480560"/>
            <a:ext cx="4526280" cy="1005840"/>
          </a:xfrm>
          <a:prstGeom prst="rect">
            <a:avLst/>
          </a:prstGeom>
          <a:noFill/>
        </p:spPr>
        <p:txBody>
          <a:bodyPr wrap="square" anchor="t">
            <a:spAutoFit/>
          </a:bodyPr>
          <a:lstStyle/>
          <a:p>
            <a:pPr algn="l">
              <a:defRPr sz="1300" b="0">
                <a:solidFill>
                  <a:srgbClr val="334155"/>
                </a:solidFill>
                <a:latin typeface="Avenir Next"/>
              </a:defRPr>
            </a:pPr>
            <a:r>
              <a:t>Pilot stack renders clean today: four lanes, two-version roster</a:t>
            </a:r>
          </a:p>
        </p:txBody>
      </p:sp>
      <p:sp>
        <p:nvSpPr>
          <p:cNvPr id="14" name="Rounded Rectangle 13"/>
          <p:cNvSpPr/>
          <p:nvPr/>
        </p:nvSpPr>
        <p:spPr>
          <a:xfrm>
            <a:off x="6263640" y="1645920"/>
            <a:ext cx="5349240" cy="4480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1828800"/>
            <a:ext cx="4846320" cy="457200"/>
          </a:xfrm>
          <a:prstGeom prst="rect">
            <a:avLst/>
          </a:prstGeom>
          <a:noFill/>
        </p:spPr>
        <p:txBody>
          <a:bodyPr wrap="square" anchor="t">
            <a:spAutoFit/>
          </a:bodyPr>
          <a:lstStyle/>
          <a:p>
            <a:pPr algn="l">
              <a:defRPr sz="1700" b="1">
                <a:solidFill>
                  <a:srgbClr val="D97706"/>
                </a:solidFill>
                <a:latin typeface="Avenir Next"/>
              </a:defRPr>
            </a:pPr>
            <a:r>
              <a:t>Next</a:t>
            </a:r>
          </a:p>
        </p:txBody>
      </p:sp>
      <p:sp>
        <p:nvSpPr>
          <p:cNvPr id="16" name="TextBox 15"/>
          <p:cNvSpPr txBox="1"/>
          <p:nvPr/>
        </p:nvSpPr>
        <p:spPr>
          <a:xfrm>
            <a:off x="6537960" y="2377440"/>
            <a:ext cx="365760" cy="457200"/>
          </a:xfrm>
          <a:prstGeom prst="rect">
            <a:avLst/>
          </a:prstGeom>
          <a:noFill/>
        </p:spPr>
        <p:txBody>
          <a:bodyPr wrap="square" anchor="t">
            <a:spAutoFit/>
          </a:bodyPr>
          <a:lstStyle/>
          <a:p>
            <a:pPr algn="l">
              <a:defRPr sz="1600" b="1">
                <a:solidFill>
                  <a:srgbClr val="D97706"/>
                </a:solidFill>
                <a:latin typeface="Avenir Next"/>
              </a:defRPr>
            </a:pPr>
            <a:r>
              <a:t>→</a:t>
            </a:r>
          </a:p>
        </p:txBody>
      </p:sp>
      <p:sp>
        <p:nvSpPr>
          <p:cNvPr id="17" name="TextBox 16"/>
          <p:cNvSpPr txBox="1"/>
          <p:nvPr/>
        </p:nvSpPr>
        <p:spPr>
          <a:xfrm>
            <a:off x="6949440" y="2377440"/>
            <a:ext cx="4434840" cy="1005840"/>
          </a:xfrm>
          <a:prstGeom prst="rect">
            <a:avLst/>
          </a:prstGeom>
          <a:noFill/>
        </p:spPr>
        <p:txBody>
          <a:bodyPr wrap="square" anchor="t">
            <a:spAutoFit/>
          </a:bodyPr>
          <a:lstStyle/>
          <a:p>
            <a:pPr algn="l">
              <a:defRPr sz="1300" b="0">
                <a:solidFill>
                  <a:srgbClr val="334155"/>
                </a:solidFill>
                <a:latin typeface="Avenir Next"/>
              </a:defRPr>
            </a:pPr>
            <a:r>
              <a:t>Build the pilot stack on Fran, Wheat, Raider, and Blueback; verify the module/view front door</a:t>
            </a:r>
          </a:p>
        </p:txBody>
      </p:sp>
      <p:sp>
        <p:nvSpPr>
          <p:cNvPr id="18" name="TextBox 17"/>
          <p:cNvSpPr txBox="1"/>
          <p:nvPr/>
        </p:nvSpPr>
        <p:spPr>
          <a:xfrm>
            <a:off x="6537960" y="3429000"/>
            <a:ext cx="365760" cy="457200"/>
          </a:xfrm>
          <a:prstGeom prst="rect">
            <a:avLst/>
          </a:prstGeom>
          <a:noFill/>
        </p:spPr>
        <p:txBody>
          <a:bodyPr wrap="square" anchor="t">
            <a:spAutoFit/>
          </a:bodyPr>
          <a:lstStyle/>
          <a:p>
            <a:pPr algn="l">
              <a:defRPr sz="1600" b="1">
                <a:solidFill>
                  <a:srgbClr val="D97706"/>
                </a:solidFill>
                <a:latin typeface="Avenir Next"/>
              </a:defRPr>
            </a:pPr>
            <a:r>
              <a:t>→</a:t>
            </a:r>
          </a:p>
        </p:txBody>
      </p:sp>
      <p:sp>
        <p:nvSpPr>
          <p:cNvPr id="19" name="TextBox 18"/>
          <p:cNvSpPr txBox="1"/>
          <p:nvPr/>
        </p:nvSpPr>
        <p:spPr>
          <a:xfrm>
            <a:off x="6949440" y="3429000"/>
            <a:ext cx="4434840" cy="1005840"/>
          </a:xfrm>
          <a:prstGeom prst="rect">
            <a:avLst/>
          </a:prstGeom>
          <a:noFill/>
        </p:spPr>
        <p:txBody>
          <a:bodyPr wrap="square" anchor="t">
            <a:spAutoFit/>
          </a:bodyPr>
          <a:lstStyle/>
          <a:p>
            <a:pPr algn="l">
              <a:defRPr sz="1300" b="0">
                <a:solidFill>
                  <a:srgbClr val="334155"/>
                </a:solidFill>
                <a:latin typeface="Avenir Next"/>
              </a:defRPr>
            </a:pPr>
            <a:r>
              <a:t>Encode module compatibility checks for multi-version package chains</a:t>
            </a:r>
          </a:p>
        </p:txBody>
      </p:sp>
      <p:sp>
        <p:nvSpPr>
          <p:cNvPr id="20" name="TextBox 19"/>
          <p:cNvSpPr txBox="1"/>
          <p:nvPr/>
        </p:nvSpPr>
        <p:spPr>
          <a:xfrm>
            <a:off x="6537960" y="4480560"/>
            <a:ext cx="365760" cy="457200"/>
          </a:xfrm>
          <a:prstGeom prst="rect">
            <a:avLst/>
          </a:prstGeom>
          <a:noFill/>
        </p:spPr>
        <p:txBody>
          <a:bodyPr wrap="square" anchor="t">
            <a:spAutoFit/>
          </a:bodyPr>
          <a:lstStyle/>
          <a:p>
            <a:pPr algn="l">
              <a:defRPr sz="1600" b="1">
                <a:solidFill>
                  <a:srgbClr val="D97706"/>
                </a:solidFill>
                <a:latin typeface="Avenir Next"/>
              </a:defRPr>
            </a:pPr>
            <a:r>
              <a:t>→</a:t>
            </a:r>
          </a:p>
        </p:txBody>
      </p:sp>
      <p:sp>
        <p:nvSpPr>
          <p:cNvPr id="21" name="TextBox 20"/>
          <p:cNvSpPr txBox="1"/>
          <p:nvPr/>
        </p:nvSpPr>
        <p:spPr>
          <a:xfrm>
            <a:off x="6949440" y="4480560"/>
            <a:ext cx="4434840" cy="1005840"/>
          </a:xfrm>
          <a:prstGeom prst="rect">
            <a:avLst/>
          </a:prstGeom>
          <a:noFill/>
        </p:spPr>
        <p:txBody>
          <a:bodyPr wrap="square" anchor="t">
            <a:spAutoFit/>
          </a:bodyPr>
          <a:lstStyle/>
          <a:p>
            <a:pPr algn="l">
              <a:defRPr sz="1300" b="0">
                <a:solidFill>
                  <a:srgbClr val="334155"/>
                </a:solidFill>
                <a:latin typeface="Avenir Next"/>
              </a:defRPr>
            </a:pPr>
            <a:r>
              <a:t>Release process: build caches, lockfiles, release manifest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Open questions for the team</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91440" cy="9875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28216"/>
            <a:ext cx="10515600" cy="274320"/>
          </a:xfrm>
          <a:prstGeom prst="rect">
            <a:avLst/>
          </a:prstGeom>
          <a:noFill/>
        </p:spPr>
        <p:txBody>
          <a:bodyPr wrap="square" anchor="t">
            <a:spAutoFit/>
          </a:bodyPr>
          <a:lstStyle/>
          <a:p>
            <a:pPr algn="l">
              <a:defRPr sz="1350" b="1">
                <a:solidFill>
                  <a:srgbClr val="0F172A"/>
                </a:solidFill>
                <a:latin typeface="Avenir Next"/>
              </a:defRPr>
            </a:pPr>
            <a:r>
              <a:t>Do we offer the vendor's math libraries as well as OpenBLAS?</a:t>
            </a:r>
          </a:p>
        </p:txBody>
      </p:sp>
      <p:sp>
        <p:nvSpPr>
          <p:cNvPr id="9" name="TextBox 8"/>
          <p:cNvSpPr txBox="1"/>
          <p:nvPr/>
        </p:nvSpPr>
        <p:spPr>
          <a:xfrm>
            <a:off x="868680" y="2011680"/>
            <a:ext cx="10515600" cy="530352"/>
          </a:xfrm>
          <a:prstGeom prst="rect">
            <a:avLst/>
          </a:prstGeom>
          <a:noFill/>
        </p:spPr>
        <p:txBody>
          <a:bodyPr wrap="square" anchor="t">
            <a:spAutoFit/>
          </a:bodyPr>
          <a:lstStyle/>
          <a:p>
            <a:pPr algn="l">
              <a:defRPr sz="1100" b="0">
                <a:solidFill>
                  <a:srgbClr val="64748B"/>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10" name="Rounded Rectangle 9"/>
          <p:cNvSpPr/>
          <p:nvPr/>
        </p:nvSpPr>
        <p:spPr>
          <a:xfrm>
            <a:off x="548640" y="2679191"/>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79191"/>
            <a:ext cx="91440" cy="98755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07208"/>
            <a:ext cx="10515600" cy="274320"/>
          </a:xfrm>
          <a:prstGeom prst="rect">
            <a:avLst/>
          </a:prstGeom>
          <a:noFill/>
        </p:spPr>
        <p:txBody>
          <a:bodyPr wrap="square" anchor="t">
            <a:spAutoFit/>
          </a:bodyPr>
          <a:lstStyle/>
          <a:p>
            <a:pPr algn="l">
              <a:defRPr sz="1350" b="1">
                <a:solidFill>
                  <a:srgbClr val="0F172A"/>
                </a:solidFill>
                <a:latin typeface="Avenir Next"/>
              </a:defRPr>
            </a:pPr>
            <a:r>
              <a:t>Which compiler surfaces does the pilot carry?</a:t>
            </a:r>
          </a:p>
        </p:txBody>
      </p:sp>
      <p:sp>
        <p:nvSpPr>
          <p:cNvPr id="13" name="TextBox 12"/>
          <p:cNvSpPr txBox="1"/>
          <p:nvPr/>
        </p:nvSpPr>
        <p:spPr>
          <a:xfrm>
            <a:off x="868680" y="3090672"/>
            <a:ext cx="10515600" cy="530352"/>
          </a:xfrm>
          <a:prstGeom prst="rect">
            <a:avLst/>
          </a:prstGeom>
          <a:noFill/>
        </p:spPr>
        <p:txBody>
          <a:bodyPr wrap="square" anchor="t">
            <a:spAutoFit/>
          </a:bodyPr>
          <a:lstStyle/>
          <a:p>
            <a:pPr algn="l">
              <a:defRPr sz="1100" b="0">
                <a:solidFill>
                  <a:srgbClr val="64748B"/>
                </a:solidFill>
                <a:latin typeface="Avenir Next"/>
              </a:defRPr>
            </a:pPr>
            <a:r>
              <a:t>The pilot carries two per system: the one the machine blesses as its baseline, plus GCC as the portable reference. CSEinit offers GCC and Intel today, so whether Intel is one of the two on the systems that have it is the open part.</a:t>
            </a:r>
          </a:p>
        </p:txBody>
      </p:sp>
      <p:sp>
        <p:nvSpPr>
          <p:cNvPr id="14" name="Rounded Rectangle 13"/>
          <p:cNvSpPr/>
          <p:nvPr/>
        </p:nvSpPr>
        <p:spPr>
          <a:xfrm>
            <a:off x="548640" y="3758183"/>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758183"/>
            <a:ext cx="91440" cy="98755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86199"/>
            <a:ext cx="10515600" cy="274320"/>
          </a:xfrm>
          <a:prstGeom prst="rect">
            <a:avLst/>
          </a:prstGeom>
          <a:noFill/>
        </p:spPr>
        <p:txBody>
          <a:bodyPr wrap="square" anchor="t">
            <a:spAutoFit/>
          </a:bodyPr>
          <a:lstStyle/>
          <a:p>
            <a:pPr algn="l">
              <a:defRPr sz="1350" b="1">
                <a:solidFill>
                  <a:srgbClr val="0F172A"/>
                </a:solidFill>
                <a:latin typeface="Avenir Next"/>
              </a:defRPr>
            </a:pPr>
            <a:r>
              <a:t>Does the Serial lane stay?</a:t>
            </a:r>
          </a:p>
        </p:txBody>
      </p:sp>
      <p:sp>
        <p:nvSpPr>
          <p:cNvPr id="17" name="TextBox 16"/>
          <p:cNvSpPr txBox="1"/>
          <p:nvPr/>
        </p:nvSpPr>
        <p:spPr>
          <a:xfrm>
            <a:off x="868680" y="4169663"/>
            <a:ext cx="10515600" cy="530352"/>
          </a:xfrm>
          <a:prstGeom prst="rect">
            <a:avLst/>
          </a:prstGeom>
          <a:noFill/>
        </p:spPr>
        <p:txBody>
          <a:bodyPr wrap="square" anchor="t">
            <a:spAutoFit/>
          </a:bodyPr>
          <a:lstStyle/>
          <a:p>
            <a:pPr algn="l">
              <a:defRPr sz="1100" b="0">
                <a:solidFill>
                  <a:srgbClr val="64748B"/>
                </a:solidFill>
                <a:latin typeface="Avenir Next"/>
              </a:defRPr>
            </a:pPr>
            <a:r>
              <a:t>Serial exists so users who are not running parallel do not carry the MPI runtime: analysis and post-processing on a login node, small tools, anything linking HDF5 or NetCDF without wanting libmpi behind it. An MPI build on one rank does the same work, so dropping Serial would halve the build matrix and push the MPI runtime onto everyone.</a:t>
            </a:r>
          </a:p>
        </p:txBody>
      </p:sp>
      <p:sp>
        <p:nvSpPr>
          <p:cNvPr id="18" name="Rounded Rectangle 17"/>
          <p:cNvSpPr/>
          <p:nvPr/>
        </p:nvSpPr>
        <p:spPr>
          <a:xfrm>
            <a:off x="548640" y="4837176"/>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837176"/>
            <a:ext cx="91440"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965192"/>
            <a:ext cx="10515600" cy="274320"/>
          </a:xfrm>
          <a:prstGeom prst="rect">
            <a:avLst/>
          </a:prstGeom>
          <a:noFill/>
        </p:spPr>
        <p:txBody>
          <a:bodyPr wrap="square" anchor="t">
            <a:spAutoFit/>
          </a:bodyPr>
          <a:lstStyle/>
          <a:p>
            <a:pPr algn="l">
              <a:defRPr sz="1350" b="1">
                <a:solidFill>
                  <a:srgbClr val="0F172A"/>
                </a:solidFill>
                <a:latin typeface="Avenir Next"/>
              </a:defRPr>
            </a:pPr>
            <a:r>
              <a:t>Performance targeting: baseline first, tuning after.</a:t>
            </a:r>
          </a:p>
        </p:txBody>
      </p:sp>
      <p:sp>
        <p:nvSpPr>
          <p:cNvPr id="21" name="TextBox 20"/>
          <p:cNvSpPr txBox="1"/>
          <p:nvPr/>
        </p:nvSpPr>
        <p:spPr>
          <a:xfrm>
            <a:off x="868680" y="5248656"/>
            <a:ext cx="10515600" cy="530352"/>
          </a:xfrm>
          <a:prstGeom prst="rect">
            <a:avLst/>
          </a:prstGeom>
          <a:noFill/>
        </p:spPr>
        <p:txBody>
          <a:bodyPr wrap="square" anchor="t">
            <a:spAutoFit/>
          </a:bodyPr>
          <a:lstStyle/>
          <a:p>
            <a:pPr algn="l">
              <a:defRPr sz="1100" b="0">
                <a:solidFill>
                  <a:srgbClr val="64748B"/>
                </a:solidFill>
                <a:latin typeface="Avenir Next"/>
              </a:defRPr>
            </a:pPr>
            <a:r>
              <a:t>The plan is to build every lane at the portable baseline, prove the model, then turn on per-lane tuning for Genoa, Milan, or Cascade Lake. Each target is a flag plus a full rebuild, so the open part is when, not whether.</a:t>
            </a:r>
          </a:p>
        </p:txBody>
      </p:sp>
      <p:sp>
        <p:nvSpPr>
          <p:cNvPr id="22" name="TextBox 21"/>
          <p:cNvSpPr txBox="1"/>
          <p:nvPr/>
        </p:nvSpPr>
        <p:spPr>
          <a:xfrm>
            <a:off x="548640" y="6263640"/>
            <a:ext cx="11064240" cy="365760"/>
          </a:xfrm>
          <a:prstGeom prst="rect">
            <a:avLst/>
          </a:prstGeom>
          <a:noFill/>
        </p:spPr>
        <p:txBody>
          <a:bodyPr wrap="square" anchor="t">
            <a:spAutoFit/>
          </a:bodyPr>
          <a:lstStyle/>
          <a:p>
            <a:pPr algn="l">
              <a:defRPr sz="1100" b="0">
                <a:solidFill>
                  <a:srgbClr val="64748B"/>
                </a:solidFill>
                <a:latin typeface="Avenir Next"/>
              </a:defRPr>
            </a:pPr>
            <a:r>
              <a:t>Per-package placement and the full reasoning: docs/package_placement_map_v1.html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each lane exposes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89888"/>
            <a:ext cx="11064240" cy="274320"/>
          </a:xfrm>
          <a:prstGeom prst="rect">
            <a:avLst/>
          </a:prstGeom>
          <a:noFill/>
        </p:spPr>
        <p:txBody>
          <a:bodyPr wrap="square" anchor="t">
            <a:spAutoFit/>
          </a:bodyPr>
          <a:lstStyle/>
          <a:p>
            <a:pPr algn="ctr">
              <a:defRPr sz="1150" b="1">
                <a:solidFill>
                  <a:srgbClr val="64748B"/>
                </a:solidFill>
                <a:latin typeface="Avenir Next"/>
              </a:defRPr>
            </a:pPr>
            <a:r>
              <a:t>CHOOSE EXACTLY ONE LANE</a:t>
            </a:r>
          </a:p>
        </p:txBody>
      </p:sp>
      <p:sp>
        <p:nvSpPr>
          <p:cNvPr id="7" name="Rounded Rectangle 6"/>
          <p:cNvSpPr/>
          <p:nvPr/>
        </p:nvSpPr>
        <p:spPr>
          <a:xfrm>
            <a:off x="548640" y="1719072"/>
            <a:ext cx="3611880" cy="13258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8" name="Rounded Rectangle 7"/>
          <p:cNvSpPr/>
          <p:nvPr/>
        </p:nvSpPr>
        <p:spPr>
          <a:xfrm>
            <a:off x="4370831" y="1719072"/>
            <a:ext cx="3611880" cy="13258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9" name="Rounded Rectangle 8"/>
          <p:cNvSpPr/>
          <p:nvPr/>
        </p:nvSpPr>
        <p:spPr>
          <a:xfrm>
            <a:off x="8193023" y="1719072"/>
            <a:ext cx="3611880" cy="13258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10" name="Rounded Rectangle 9"/>
          <p:cNvSpPr/>
          <p:nvPr/>
        </p:nvSpPr>
        <p:spPr>
          <a:xfrm>
            <a:off x="548640" y="3200400"/>
            <a:ext cx="11091672" cy="64008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Common compiler-dependent packages: loadable from every lane</a:t>
            </a:r>
          </a:p>
          <a:p>
            <a:pPr algn="ctr">
              <a:defRPr sz="1050" b="0">
                <a:solidFill>
                  <a:srgbClr val="FFFFFF"/>
                </a:solidFill>
                <a:latin typeface="Avenir Next"/>
              </a:defRPr>
            </a:pPr>
            <a:r>
              <a:t>openblas · gnuplot · one Serial-lane build, one install, shared module root</a:t>
            </a:r>
          </a:p>
        </p:txBody>
      </p:sp>
      <p:sp>
        <p:nvSpPr>
          <p:cNvPr id="11" name="Rounded Rectangle 10"/>
          <p:cNvSpPr/>
          <p:nvPr/>
        </p:nvSpPr>
        <p:spPr>
          <a:xfrm>
            <a:off x="548640" y="3959352"/>
            <a:ext cx="11091672"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2" name="Rounded Rectangle 11"/>
          <p:cNvSpPr/>
          <p:nvPr/>
        </p:nvSpPr>
        <p:spPr>
          <a:xfrm>
            <a:off x="548640" y="4718304"/>
            <a:ext cx="11091672" cy="6400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3" name="Rounded Rectangle 12"/>
          <p:cNvSpPr/>
          <p:nvPr/>
        </p:nvSpPr>
        <p:spPr>
          <a:xfrm>
            <a:off x="548640" y="5504688"/>
            <a:ext cx="11091672" cy="54864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cse/&lt;Compiler&gt; surface: everything above sits on one compiler</a:t>
            </a:r>
          </a:p>
          <a:p>
            <a:pPr algn="ctr">
              <a:defRPr sz="1050" b="0">
                <a:solidFill>
                  <a:srgbClr val="64748B"/>
                </a:solidFill>
                <a:latin typeface="Avenir Next"/>
              </a:defRPr>
            </a:pPr>
            <a:r>
              <a:t>lanes never mix compilers; loading a second lane fails loudly</a:t>
            </a:r>
          </a:p>
        </p:txBody>
      </p:sp>
      <p:sp>
        <p:nvSpPr>
          <p:cNvPr id="14" name="TextBox 13"/>
          <p:cNvSpPr txBox="1"/>
          <p:nvPr/>
        </p:nvSpPr>
        <p:spPr>
          <a:xfrm>
            <a:off x="548640" y="6199632"/>
            <a:ext cx="11064240" cy="457200"/>
          </a:xfrm>
          <a:prstGeom prst="rect">
            <a:avLst/>
          </a:prstGeom>
          <a:noFill/>
        </p:spPr>
        <p:txBody>
          <a:bodyPr wrap="square" anchor="t">
            <a:spAutoFit/>
          </a:bodyPr>
          <a:lstStyle/>
          <a:p>
            <a:pPr algn="l">
              <a:defRPr sz="1150" b="0">
                <a:solidFill>
                  <a:srgbClr val="64748B"/>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Core and foundation: built once per compiler surface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422452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475569"/>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zlib</a:t>
                      </a:r>
                    </a:p>
                  </a:txBody>
                  <a:tcPr marL="109728" marR="73152" marT="13716" marB="13716" anchor="ctr">
                    <a:solidFill>
                      <a:srgbClr val="FFFFFF"/>
                    </a:solidFill>
                  </a:tcPr>
                </a:tc>
                <a:tc>
                  <a:txBody>
                    <a:bodyPr/>
                    <a:lstStyle/>
                    <a:p>
                      <a:pPr>
                        <a:defRPr sz="1100" b="0">
                          <a:solidFill>
                            <a:srgbClr val="334155"/>
                          </a:solidFill>
                          <a:latin typeface="Avenir Next"/>
                        </a:defRPr>
                      </a:pPr>
                      <a:r>
                        <a:t>1.3.1</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xz</a:t>
                      </a:r>
                    </a:p>
                  </a:txBody>
                  <a:tcPr marL="109728" marR="73152" marT="13716" marB="13716" anchor="ctr">
                    <a:solidFill>
                      <a:srgbClr val="FFFFFF"/>
                    </a:solidFill>
                  </a:tcPr>
                </a:tc>
                <a:tc>
                  <a:txBody>
                    <a:bodyPr/>
                    <a:lstStyle/>
                    <a:p>
                      <a:pPr>
                        <a:defRPr sz="1100" b="0">
                          <a:solidFill>
                            <a:srgbClr val="334155"/>
                          </a:solidFill>
                          <a:latin typeface="Avenir Next"/>
                        </a:defRPr>
                      </a:pPr>
                      <a:r>
                        <a:t>5.4.6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zstd</a:t>
                      </a:r>
                    </a:p>
                  </a:txBody>
                  <a:tcPr marL="109728" marR="73152" marT="13716" marB="13716" anchor="ctr">
                    <a:solidFill>
                      <a:srgbClr val="FFFFFF"/>
                    </a:solidFill>
                  </a:tcPr>
                </a:tc>
                <a:tc>
                  <a:txBody>
                    <a:bodyPr/>
                    <a:lstStyle/>
                    <a:p>
                      <a:pPr>
                        <a:defRPr sz="1100" b="0">
                          <a:solidFill>
                            <a:srgbClr val="334155"/>
                          </a:solidFill>
                          <a:latin typeface="Avenir Next"/>
                        </a:defRPr>
                      </a:pPr>
                      <a:r>
                        <a:t>1.5.6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cmake</a:t>
                      </a:r>
                    </a:p>
                  </a:txBody>
                  <a:tcPr marL="109728" marR="73152" marT="13716" marB="13716" anchor="ctr">
                    <a:solidFill>
                      <a:srgbClr val="FFFFFF"/>
                    </a:solidFill>
                  </a:tcPr>
                </a:tc>
                <a:tc>
                  <a:txBody>
                    <a:bodyPr/>
                    <a:lstStyle/>
                    <a:p>
                      <a:pPr>
                        <a:defRPr sz="1100" b="0">
                          <a:solidFill>
                            <a:srgbClr val="334155"/>
                          </a:solidFill>
                          <a:latin typeface="Avenir Next"/>
                        </a:defRPr>
                      </a:pPr>
                      <a:r>
                        <a:t>4.3.3 · 4.2.3</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34155"/>
                          </a:solidFill>
                          <a:latin typeface="Avenir Next"/>
                        </a:defRPr>
                      </a:pPr>
                      <a:r>
                        <a:t>newest</a:t>
                      </a:r>
                    </a:p>
                  </a:txBody>
                  <a:tcPr marL="109728" marR="73152" marT="13716" marB="13716" anchor="ctr">
                    <a:solidFill>
                      <a:srgbClr val="FFFFFF"/>
                    </a:solidFill>
                  </a:tcPr>
                </a:tc>
                <a:tc>
                  <a:txBody>
                    <a:bodyPr/>
                    <a:lstStyle/>
                    <a:p>
                      <a:pPr>
                        <a:defRPr sz="1050" b="0">
                          <a:solidFill>
                            <a:srgbClr val="64748B"/>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python</a:t>
                      </a:r>
                    </a:p>
                  </a:txBody>
                  <a:tcPr marL="109728" marR="73152" marT="13716" marB="13716" anchor="ctr">
                    <a:solidFill>
                      <a:srgbClr val="FFFFFF"/>
                    </a:solidFill>
                  </a:tcPr>
                </a:tc>
                <a:tc>
                  <a:txBody>
                    <a:bodyPr/>
                    <a:lstStyle/>
                    <a:p>
                      <a:pPr>
                        <a:defRPr sz="1100" b="0">
                          <a:solidFill>
                            <a:srgbClr val="334155"/>
                          </a:solidFill>
                          <a:latin typeface="Avenir Next"/>
                        </a:defRPr>
                      </a:pPr>
                      <a:r>
                        <a:t>3.14.5 · 3.13.13</a:t>
                      </a:r>
                    </a:p>
                  </a:txBody>
                  <a:tcPr marL="109728" marR="73152" marT="13716" marB="13716" anchor="ctr">
                    <a:solidFill>
                      <a:srgbClr val="FFFFFF"/>
                    </a:solidFill>
                  </a:tcPr>
                </a:tc>
                <a:tc>
                  <a:txBody>
                    <a:bodyPr/>
                    <a:lstStyle/>
                    <a:p>
                      <a:pPr>
                        <a:defRPr sz="1050" b="0">
                          <a:solidFill>
                            <a:srgbClr val="64748B"/>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py-numpy</a:t>
                      </a:r>
                    </a:p>
                  </a:txBody>
                  <a:tcPr marL="109728" marR="73152" marT="13716" marB="13716" anchor="ctr">
                    <a:solidFill>
                      <a:srgbClr val="FFFFFF"/>
                    </a:solidFill>
                  </a:tcPr>
                </a:tc>
                <a:tc>
                  <a:txBody>
                    <a:bodyPr/>
                    <a:lstStyle/>
                    <a:p>
                      <a:pPr>
                        <a:defRPr sz="1100" b="0">
                          <a:solidFill>
                            <a:srgbClr val="334155"/>
                          </a:solidFill>
                          <a:latin typeface="Avenir Next"/>
                        </a:defRPr>
                      </a:pPr>
                      <a:r>
                        <a:t>2.4.6</a:t>
                      </a:r>
                    </a:p>
                  </a:txBody>
                  <a:tcPr marL="109728" marR="73152" marT="13716" marB="13716" anchor="ctr">
                    <a:solidFill>
                      <a:srgbClr val="FFFFFF"/>
                    </a:solidFill>
                  </a:tcPr>
                </a:tc>
                <a:tc>
                  <a:txBody>
                    <a:bodyPr/>
                    <a:lstStyle/>
                    <a:p>
                      <a:pPr>
                        <a:defRPr sz="1050" b="0">
                          <a:solidFill>
                            <a:srgbClr val="64748B"/>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miniforge3</a:t>
                      </a:r>
                    </a:p>
                  </a:txBody>
                  <a:tcPr marL="109728" marR="73152" marT="13716" marB="13716" anchor="ctr">
                    <a:solidFill>
                      <a:srgbClr val="FFFFFF"/>
                    </a:solidFill>
                  </a:tcPr>
                </a:tc>
                <a:tc>
                  <a:txBody>
                    <a:bodyPr/>
                    <a:lstStyle/>
                    <a:p>
                      <a:pPr>
                        <a:defRPr sz="1100" b="0">
                          <a:solidFill>
                            <a:srgbClr val="334155"/>
                          </a:solidFill>
                          <a:latin typeface="Avenir Next"/>
                        </a:defRPr>
                      </a:pPr>
                      <a:r>
                        <a:t>26.1.1-3</a:t>
                      </a:r>
                    </a:p>
                  </a:txBody>
                  <a:tcPr marL="109728" marR="73152" marT="13716" marB="13716" anchor="ctr">
                    <a:solidFill>
                      <a:srgbClr val="FFFFFF"/>
                    </a:solidFill>
                  </a:tcPr>
                </a:tc>
                <a:tc>
                  <a:txBody>
                    <a:bodyPr/>
                    <a:lstStyle/>
                    <a:p>
                      <a:pPr>
                        <a:defRPr sz="1050" b="0">
                          <a:solidFill>
                            <a:srgbClr val="64748B"/>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gsl</a:t>
                      </a:r>
                    </a:p>
                  </a:txBody>
                  <a:tcPr marL="109728" marR="73152" marT="13716" marB="13716" anchor="ctr">
                    <a:solidFill>
                      <a:srgbClr val="FFFFFF"/>
                    </a:solidFill>
                  </a:tcPr>
                </a:tc>
                <a:tc>
                  <a:txBody>
                    <a:bodyPr/>
                    <a:lstStyle/>
                    <a:p>
                      <a:pPr>
                        <a:defRPr sz="1100" b="0">
                          <a:solidFill>
                            <a:srgbClr val="334155"/>
                          </a:solidFill>
                          <a:latin typeface="Avenir Next"/>
                        </a:defRPr>
                      </a:pPr>
                      <a:r>
                        <a:t>2.8 · 2.7.1</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sqlite</a:t>
                      </a:r>
                    </a:p>
                  </a:txBody>
                  <a:tcPr marL="109728" marR="73152" marT="13716" marB="13716" anchor="ctr">
                    <a:solidFill>
                      <a:srgbClr val="FFFFFF"/>
                    </a:solidFill>
                  </a:tcPr>
                </a:tc>
                <a:tc>
                  <a:txBody>
                    <a:bodyPr/>
                    <a:lstStyle/>
                    <a:p>
                      <a:pPr>
                        <a:defRPr sz="1100" b="0">
                          <a:solidFill>
                            <a:srgbClr val="334155"/>
                          </a:solidFill>
                          <a:latin typeface="Avenir Next"/>
                        </a:defRPr>
                      </a:pPr>
                      <a:r>
                        <a:t>3.53.1 · 3.51.2</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newest supported + immediate predecessor · pinned to spack-packages v2026.06.0 (Spack v1.1.1)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Serial lane: MPI-capable, deliberately built without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362102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here; the MPI lane carries its own +mpi build</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Common compiler-dependent: built here once, available in every lane</a:t>
                      </a:r>
                    </a:p>
                  </a:txBody>
                  <a:tcPr marL="109728" marR="73152" marT="13716" marB="13716" anchor="ctr">
                    <a:solidFill>
                      <a:srgbClr val="15803D"/>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openblas</a:t>
                      </a:r>
                    </a:p>
                  </a:txBody>
                  <a:tcPr marL="109728" marR="73152" marT="13716" marB="13716" anchor="ctr">
                    <a:solidFill>
                      <a:srgbClr val="FFFFFF"/>
                    </a:solidFill>
                  </a:tcPr>
                </a:tc>
                <a:tc>
                  <a:txBody>
                    <a:bodyPr/>
                    <a:lstStyle/>
                    <a:p>
                      <a:pPr>
                        <a:defRPr sz="1100" b="0">
                          <a:solidFill>
                            <a:srgbClr val="334155"/>
                          </a:solidFill>
                          <a:latin typeface="Avenir Next"/>
                        </a:defRPr>
                      </a:pPr>
                      <a:r>
                        <a:t>0.3.33 · 0.3.32</a:t>
                      </a:r>
                    </a:p>
                  </a:txBody>
                  <a:tcPr marL="109728" marR="73152" marT="13716" marB="13716" anchor="ctr">
                    <a:solidFill>
                      <a:srgbClr val="FFFFFF"/>
                    </a:solidFill>
                  </a:tcPr>
                </a:tc>
                <a:tc>
                  <a:txBody>
                    <a:bodyPr/>
                    <a:lstStyle/>
                    <a:p>
                      <a:pPr>
                        <a:defRPr sz="1050" b="0">
                          <a:solidFill>
                            <a:srgbClr val="64748B"/>
                          </a:solidFill>
                          <a:latin typeface="Avenir Next"/>
                        </a:defRPr>
                      </a:pPr>
                      <a:r>
                        <a:t>the one BLAS and LAPACK: openblas provides both APIs. Payload rather than core: performance-sensitive</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gnuplot</a:t>
                      </a:r>
                    </a:p>
                  </a:txBody>
                  <a:tcPr marL="109728" marR="73152" marT="13716" marB="13716" anchor="ctr">
                    <a:solidFill>
                      <a:srgbClr val="FFFFFF"/>
                    </a:solidFill>
                  </a:tcPr>
                </a:tc>
                <a:tc>
                  <a:txBody>
                    <a:bodyPr/>
                    <a:lstStyle/>
                    <a:p>
                      <a:pPr>
                        <a:defRPr sz="1100" b="0">
                          <a:solidFill>
                            <a:srgbClr val="334155"/>
                          </a:solidFill>
                          <a:latin typeface="Avenir Next"/>
                        </a:defRPr>
                      </a:pPr>
                      <a:r>
                        <a:t>6.0.0 · 5.4.10</a:t>
                      </a:r>
                    </a:p>
                  </a:txBody>
                  <a:tcPr marL="109728" marR="73152" marT="13716" marB="13716" anchor="ctr">
                    <a:solidFill>
                      <a:srgbClr val="FFFFFF"/>
                    </a:solidFill>
                  </a:tcPr>
                </a:tc>
                <a:tc>
                  <a:txBody>
                    <a:bodyPr/>
                    <a:lstStyle/>
                    <a:p>
                      <a:pPr>
                        <a:defRPr sz="1050" b="0">
                          <a:solidFill>
                            <a:srgbClr val="64748B"/>
                          </a:solidFill>
                          <a:latin typeface="Avenir Next"/>
                        </a:defRPr>
                      </a:pPr>
                      <a:r>
                        <a:t>needs the surface's compiler, so payload rather than core</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newest supported + immediate predecessor · pinned to spack-packages v2026.06.0 (Spack v1.1.1)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MPI and GPU lanes: built against the system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5125212"/>
        </p:xfrm>
        <a:graphic>
          <a:graphicData uri="http://schemas.openxmlformats.org/drawingml/2006/table">
            <a:tbl>
              <a:tblPr>
                <a:tableStyleId>{5C22544A-7EE6-4342-B048-85BDC9FD1C3A}</a:tableStyleId>
              </a:tblPr>
              <a:tblGrid>
                <a:gridCol w="1920240"/>
                <a:gridCol w="2286000"/>
                <a:gridCol w="6885432"/>
              </a:tblGrid>
              <a:tr h="269748">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563EB"/>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+parallel-netcdf, paired to hdf5 2.1.0 / 1.14.6</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MPI math and tools</a:t>
                      </a:r>
                    </a:p>
                  </a:txBody>
                  <a:tcPr marL="109728" marR="73152" marT="13716" marB="13716" anchor="ctr">
                    <a:solidFill>
                      <a:srgbClr val="2563EB"/>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the Serial lane carries its own ~mpi build</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netlib-scalapack</a:t>
                      </a:r>
                    </a:p>
                  </a:txBody>
                  <a:tcPr marL="109728" marR="73152" marT="13716" marB="13716" anchor="ctr">
                    <a:solidFill>
                      <a:srgbClr val="FFFFFF"/>
                    </a:solidFill>
                  </a:tcPr>
                </a:tc>
                <a:tc>
                  <a:txBody>
                    <a:bodyPr/>
                    <a:lstStyle/>
                    <a:p>
                      <a:pPr>
                        <a:defRPr sz="1100" b="0">
                          <a:solidFill>
                            <a:srgbClr val="334155"/>
                          </a:solidFill>
                          <a:latin typeface="Avenir Next"/>
                        </a:defRPr>
                      </a:pPr>
                      <a:r>
                        <a:t>2.2.3 · 2.2.2</a:t>
                      </a:r>
                    </a:p>
                  </a:txBody>
                  <a:tcPr marL="109728" marR="73152" marT="13716" marB="13716" anchor="ctr">
                    <a:solidFill>
                      <a:srgbClr val="FFFFFF"/>
                    </a:solidFill>
                  </a:tcPr>
                </a:tc>
                <a:tc>
                  <a:txBody>
                    <a:bodyPr/>
                    <a:lstStyle/>
                    <a:p>
                      <a:pPr>
                        <a:defRPr sz="1050" b="0">
                          <a:solidFill>
                            <a:srgbClr val="64748B"/>
                          </a:solidFill>
                          <a:latin typeface="Avenir Next"/>
                        </a:defRPr>
                      </a:pPr>
                      <a:r>
                        <a:t>distributed dense solvers; MPI by nature, no serial form</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+mpi; one version, a tool users run</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dakota</a:t>
                      </a:r>
                    </a:p>
                  </a:txBody>
                  <a:tcPr marL="109728" marR="73152" marT="13716" marB="13716" anchor="ctr">
                    <a:solidFill>
                      <a:srgbClr val="FFFFFF"/>
                    </a:solidFill>
                  </a:tcPr>
                </a:tc>
                <a:tc>
                  <a:txBody>
                    <a:bodyPr/>
                    <a:lstStyle/>
                    <a:p>
                      <a:pPr>
                        <a:defRPr sz="1100" b="0">
                          <a:solidFill>
                            <a:srgbClr val="334155"/>
                          </a:solidFill>
                          <a:latin typeface="Avenir Next"/>
                        </a:defRPr>
                      </a:pPr>
                      <a:r>
                        <a:t>6.24.0 · 6.23.0</a:t>
                      </a:r>
                    </a:p>
                  </a:txBody>
                  <a:tcPr marL="109728" marR="73152" marT="13716" marB="13716" anchor="ctr">
                    <a:solidFill>
                      <a:srgbClr val="FFFFFF"/>
                    </a:solidFill>
                  </a:tcPr>
                </a:tc>
                <a:tc>
                  <a:txBody>
                    <a:bodyPr/>
                    <a:lstStyle/>
                    <a:p>
                      <a:pPr>
                        <a:defRPr sz="1050" b="0">
                          <a:solidFill>
                            <a:srgbClr val="64748B"/>
                          </a:solidFill>
                          <a:latin typeface="Avenir Next"/>
                        </a:defRPr>
                      </a:pPr>
                      <a:r>
                        <a:t>+mpi; heaviest build in the roster</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7C3AED"/>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+mpi +gpu_runtime: its own build, so it can see kernels as well as MPI</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kokkos</a:t>
                      </a:r>
                    </a:p>
                  </a:txBody>
                  <a:tcPr marL="109728" marR="73152" marT="13716" marB="13716" anchor="ctr">
                    <a:solidFill>
                      <a:srgbClr val="FFFFFF"/>
                    </a:solidFill>
                  </a:tcPr>
                </a:tc>
                <a:tc>
                  <a:txBody>
                    <a:bodyPr/>
                    <a:lstStyle/>
                    <a:p>
                      <a:pPr>
                        <a:defRPr sz="1100" b="0">
                          <a:solidFill>
                            <a:srgbClr val="334155"/>
                          </a:solidFill>
                          <a:latin typeface="Avenir Next"/>
                        </a:defRPr>
                      </a:pPr>
                      <a:r>
                        <a:t>5.1.1 · 5.1.0</a:t>
                      </a:r>
                    </a:p>
                  </a:txBody>
                  <a:tcPr marL="109728" marR="73152" marT="13716" marB="13716" anchor="ctr">
                    <a:solidFill>
                      <a:srgbClr val="FFFFFF"/>
                    </a:solidFill>
                  </a:tcPr>
                </a:tc>
                <a:tc>
                  <a:txBody>
                    <a:bodyPr/>
                    <a:lstStyle/>
                    <a:p>
                      <a:pPr>
                        <a:defRPr sz="1050" b="0">
                          <a:solidFill>
                            <a:srgbClr val="64748B"/>
                          </a:solidFill>
                          <a:latin typeface="Avenir Next"/>
                        </a:defRPr>
                      </a:pPr>
                      <a:r>
                        <a:t>+gpu → expands per lane: +rocm amdgpu_target=&lt;arch&gt; or +cuda cuda_arch=&lt;n&gt;</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Common compiler-dependent: the Serial-lane build, available here too</a:t>
                      </a:r>
                    </a:p>
                  </a:txBody>
                  <a:tcPr marL="109728" marR="73152" marT="13716" marB="13716" anchor="ctr">
                    <a:solidFill>
                      <a:srgbClr val="15803D"/>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common packages</a:t>
                      </a:r>
                    </a:p>
                  </a:txBody>
                  <a:tcPr marL="109728" marR="73152" marT="13716" marB="13716" anchor="ctr">
                    <a:solidFill>
                      <a:srgbClr val="FFFFFF"/>
                    </a:solidFill>
                  </a:tcPr>
                </a:tc>
                <a:tc>
                  <a:txBody>
                    <a:bodyPr/>
                    <a:lstStyle/>
                    <a:p>
                      <a:pPr>
                        <a:defRPr sz="1100" b="0">
                          <a:solidFill>
                            <a:srgbClr val="334155"/>
                          </a:solidFill>
                          <a:latin typeface="Avenir Next"/>
                        </a:defRPr>
                      </a:pPr>
                      <a:r>
                        <a:t>see Serial</a:t>
                      </a:r>
                    </a:p>
                  </a:txBody>
                  <a:tcPr marL="109728" marR="73152" marT="13716" marB="13716" anchor="ctr">
                    <a:solidFill>
                      <a:srgbClr val="FFFFFF"/>
                    </a:solidFill>
                  </a:tcPr>
                </a:tc>
                <a:tc>
                  <a:txBody>
                    <a:bodyPr/>
                    <a:lstStyle/>
                    <a:p>
                      <a:pPr>
                        <a:defRPr sz="1050" b="0">
                          <a:solidFill>
                            <a:srgbClr val="64748B"/>
                          </a:solidFill>
                          <a:latin typeface="Avenir Next"/>
                        </a:defRPr>
                      </a:pPr>
                      <a:r>
                        <a:t>openblas · gnuplot: the same modules through the shared root, nothing rebuilt</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475569"/>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externals</a:t>
                      </a:r>
                    </a:p>
                  </a:txBody>
                  <a:tcPr marL="109728" marR="73152" marT="13716" marB="13716" anchor="ctr">
                    <a:solidFill>
                      <a:srgbClr val="FFFFFF"/>
                    </a:solidFill>
                  </a:tcPr>
                </a:tc>
                <a:tc>
                  <a:txBody>
                    <a:bodyPr/>
                    <a:lstStyle/>
                    <a:p>
                      <a:pPr>
                        <a:defRPr sz="1100" b="0">
                          <a:solidFill>
                            <a:srgbClr val="334155"/>
                          </a:solidFill>
                          <a:latin typeface="Avenir Next"/>
                        </a:defRPr>
                      </a:pPr>
                      <a:r>
                        <a:t>system</a:t>
                      </a:r>
                    </a:p>
                  </a:txBody>
                  <a:tcPr marL="109728" marR="73152" marT="13716" marB="13716" anchor="ctr">
                    <a:solidFill>
                      <a:srgbClr val="FFFFFF"/>
                    </a:solidFill>
                  </a:tcPr>
                </a:tc>
                <a:tc>
                  <a:txBody>
                    <a:bodyPr/>
                    <a:lstStyle/>
                    <a:p>
                      <a:pPr>
                        <a:defRPr sz="1050" b="0">
                          <a:solidFill>
                            <a:srgbClr val="64748B"/>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newest supported + immediate predecessor · pinned to spack-packages v2026.06.0 (Spack v1.1.1)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
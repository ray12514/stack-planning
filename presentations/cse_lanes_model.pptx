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16243D"/>
                </a:solidFill>
                <a:latin typeface="Avenir Next"/>
              </a:defRPr>
            </a:pPr>
            <a:r>
              <a:t>The CSE Software Stack</a:t>
            </a:r>
          </a:p>
        </p:txBody>
      </p:sp>
      <p:sp>
        <p:nvSpPr>
          <p:cNvPr id="5" name="TextBox 4"/>
          <p:cNvSpPr txBox="1"/>
          <p:nvPr/>
        </p:nvSpPr>
        <p:spPr>
          <a:xfrm>
            <a:off x="822960" y="3291840"/>
            <a:ext cx="10515600" cy="1280160"/>
          </a:xfrm>
          <a:prstGeom prst="rect">
            <a:avLst/>
          </a:prstGeom>
          <a:noFill/>
        </p:spPr>
        <p:txBody>
          <a:bodyPr wrap="square" anchor="t">
            <a:spAutoFit/>
          </a:bodyPr>
          <a:lstStyle/>
          <a:p>
            <a:pPr algn="l">
              <a:defRPr sz="2200" b="0">
                <a:solidFill>
                  <a:srgbClr val="3B4A63"/>
                </a:solidFill>
                <a:latin typeface="Avenir Next"/>
              </a:defRPr>
            </a:pPr>
            <a:r>
              <a:t>One clean build surface per compiler, MPI, and GPU: the lanes model</a:t>
            </a:r>
          </a:p>
          <a:p>
            <a:pPr algn="l">
              <a:defRPr sz="1500" b="0">
                <a:solidFill>
                  <a:srgbClr val="6E7B90"/>
                </a:solidFill>
                <a:latin typeface="Avenir Next"/>
              </a:defRPr>
            </a:pPr>
            <a:r>
              <a:t>How we got here, what the community runs, and where we're going</a:t>
            </a:r>
          </a:p>
        </p:txBody>
      </p:sp>
      <p:sp>
        <p:nvSpPr>
          <p:cNvPr id="6" name="TextBox 5"/>
          <p:cNvSpPr txBox="1"/>
          <p:nvPr/>
        </p:nvSpPr>
        <p:spPr>
          <a:xfrm>
            <a:off x="822960" y="6355080"/>
            <a:ext cx="10515600" cy="457200"/>
          </a:xfrm>
          <a:prstGeom prst="rect">
            <a:avLst/>
          </a:prstGeom>
          <a:noFill/>
        </p:spPr>
        <p:txBody>
          <a:bodyPr wrap="square" anchor="t">
            <a:spAutoFit/>
          </a:bodyPr>
          <a:lstStyle/>
          <a:p>
            <a:pPr algn="l">
              <a:defRPr sz="1200" b="0">
                <a:solidFill>
                  <a:srgbClr val="6E7B90"/>
                </a:solidFill>
                <a:latin typeface="Avenir Next"/>
              </a:defRPr>
            </a:pPr>
            <a:r>
              <a:t>July 2026  ·  working draft</a:t>
            </a:r>
          </a:p>
        </p:txBody>
      </p:sp>
      <p:sp>
        <p:nvSpPr>
          <p:cNvPr id="7" name="Rounded Rectangle 6"/>
          <p:cNvSpPr/>
          <p:nvPr/>
        </p:nvSpPr>
        <p:spPr>
          <a:xfrm>
            <a:off x="8138160" y="2148840"/>
            <a:ext cx="685800" cy="6858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006840" y="2148840"/>
            <a:ext cx="685800" cy="6858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875520" y="2148840"/>
            <a:ext cx="685800" cy="6858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44200" y="2148840"/>
            <a:ext cx="685800" cy="6858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From one flat surface to lanes</a:t>
            </a:r>
          </a:p>
        </p:txBody>
      </p:sp>
      <p:sp>
        <p:nvSpPr>
          <p:cNvPr id="5" name="Rounded Rectangle 4"/>
          <p:cNvSpPr/>
          <p:nvPr/>
        </p:nvSpPr>
        <p:spPr>
          <a:xfrm>
            <a:off x="548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nchor="t">
            <a:spAutoFit/>
          </a:bodyPr>
          <a:lstStyle/>
          <a:p>
            <a:pPr algn="l">
              <a:defRPr sz="1700" b="1">
                <a:solidFill>
                  <a:srgbClr val="16243D"/>
                </a:solidFill>
                <a:latin typeface="Avenir Next"/>
              </a:defRPr>
            </a:pPr>
            <a:r>
              <a:t>Today: CSEinit</a:t>
            </a:r>
          </a:p>
        </p:txBody>
      </p:sp>
      <p:sp>
        <p:nvSpPr>
          <p:cNvPr id="7" name="TextBox 6"/>
          <p:cNvSpPr txBox="1"/>
          <p:nvPr/>
        </p:nvSpPr>
        <p:spPr>
          <a:xfrm>
            <a:off x="777240" y="2212848"/>
            <a:ext cx="4937760" cy="365760"/>
          </a:xfrm>
          <a:prstGeom prst="rect">
            <a:avLst/>
          </a:prstGeom>
          <a:noFill/>
        </p:spPr>
        <p:txBody>
          <a:bodyPr wrap="square" anchor="t">
            <a:spAutoFit/>
          </a:bodyPr>
          <a:lstStyle/>
          <a:p>
            <a:pPr algn="l">
              <a:defRPr sz="1250" b="0">
                <a:solidFill>
                  <a:srgbClr val="6E7B90"/>
                </a:solidFill>
                <a:latin typeface="Avenir Next"/>
              </a:defRPr>
            </a:pPr>
            <a:r>
              <a:t>GCC- and Intel-backed flavors · standard / noloads · extends MODULEPATH</a:t>
            </a:r>
          </a:p>
        </p:txBody>
      </p:sp>
      <p:sp>
        <p:nvSpPr>
          <p:cNvPr id="8" name="Rounded Rectangle 7"/>
          <p:cNvSpPr/>
          <p:nvPr/>
        </p:nvSpPr>
        <p:spPr>
          <a:xfrm>
            <a:off x="822960"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hdf5/1.14.6</a:t>
            </a:r>
          </a:p>
        </p:txBody>
      </p:sp>
      <p:sp>
        <p:nvSpPr>
          <p:cNvPr id="9" name="Rounded Rectangle 8"/>
          <p:cNvSpPr/>
          <p:nvPr/>
        </p:nvSpPr>
        <p:spPr>
          <a:xfrm>
            <a:off x="2450592"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hdf5/1.10</a:t>
            </a:r>
          </a:p>
        </p:txBody>
      </p:sp>
      <p:sp>
        <p:nvSpPr>
          <p:cNvPr id="10" name="Rounded Rectangle 9"/>
          <p:cNvSpPr/>
          <p:nvPr/>
        </p:nvSpPr>
        <p:spPr>
          <a:xfrm>
            <a:off x="4078224"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openmpi</a:t>
            </a:r>
          </a:p>
        </p:txBody>
      </p:sp>
      <p:sp>
        <p:nvSpPr>
          <p:cNvPr id="11" name="Rounded Rectangle 10"/>
          <p:cNvSpPr/>
          <p:nvPr/>
        </p:nvSpPr>
        <p:spPr>
          <a:xfrm>
            <a:off x="822960"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12" name="Rounded Rectangle 11"/>
          <p:cNvSpPr/>
          <p:nvPr/>
        </p:nvSpPr>
        <p:spPr>
          <a:xfrm>
            <a:off x="2450592"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a:t>
            </a:r>
          </a:p>
        </p:txBody>
      </p:sp>
      <p:sp>
        <p:nvSpPr>
          <p:cNvPr id="13" name="Rounded Rectangle 12"/>
          <p:cNvSpPr/>
          <p:nvPr/>
        </p:nvSpPr>
        <p:spPr>
          <a:xfrm>
            <a:off x="4078224"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14" name="Rounded Rectangle 13"/>
          <p:cNvSpPr/>
          <p:nvPr/>
        </p:nvSpPr>
        <p:spPr>
          <a:xfrm>
            <a:off x="822960"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15" name="Rounded Rectangle 14"/>
          <p:cNvSpPr/>
          <p:nvPr/>
        </p:nvSpPr>
        <p:spPr>
          <a:xfrm>
            <a:off x="2450592"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mkl</a:t>
            </a:r>
          </a:p>
        </p:txBody>
      </p:sp>
      <p:sp>
        <p:nvSpPr>
          <p:cNvPr id="16" name="Rounded Rectangle 15"/>
          <p:cNvSpPr/>
          <p:nvPr/>
        </p:nvSpPr>
        <p:spPr>
          <a:xfrm>
            <a:off x="4078224"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17" name="Rounded Rectangle 16"/>
          <p:cNvSpPr/>
          <p:nvPr/>
        </p:nvSpPr>
        <p:spPr>
          <a:xfrm>
            <a:off x="822960"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18" name="Rounded Rectangle 17"/>
          <p:cNvSpPr/>
          <p:nvPr/>
        </p:nvSpPr>
        <p:spPr>
          <a:xfrm>
            <a:off x="2450592"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cmake</a:t>
            </a:r>
          </a:p>
        </p:txBody>
      </p:sp>
      <p:sp>
        <p:nvSpPr>
          <p:cNvPr id="19" name="Rounded Rectangle 18"/>
          <p:cNvSpPr/>
          <p:nvPr/>
        </p:nvSpPr>
        <p:spPr>
          <a:xfrm>
            <a:off x="4078224"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20" name="TextBox 19"/>
          <p:cNvSpPr txBox="1"/>
          <p:nvPr/>
        </p:nvSpPr>
        <p:spPr>
          <a:xfrm>
            <a:off x="777240" y="4983480"/>
            <a:ext cx="4937760" cy="1188720"/>
          </a:xfrm>
          <a:prstGeom prst="rect">
            <a:avLst/>
          </a:prstGeom>
          <a:noFill/>
        </p:spPr>
        <p:txBody>
          <a:bodyPr wrap="square" anchor="t">
            <a:spAutoFit/>
          </a:bodyPr>
          <a:lstStyle/>
          <a:p>
            <a:pPr algn="l">
              <a:defRPr sz="1350" b="1">
                <a:solidFill>
                  <a:srgbClr val="BA740E"/>
                </a:solidFill>
                <a:latin typeface="Avenir Next"/>
              </a:defRPr>
            </a:pPr>
            <a:r>
              <a:t>Everything visible at once.</a:t>
            </a:r>
          </a:p>
          <a:p>
            <a:pPr algn="l">
              <a:defRPr sz="1250" b="0">
                <a:solidFill>
                  <a:srgbClr val="6E7B90"/>
                </a:solidFill>
                <a:latin typeface="Avenir Next"/>
              </a:defRPr>
            </a:pPr>
            <a:r>
              <a:t>Conflicts avoided by convention · MPI/GPU surfaces not isolated ·</a:t>
            </a:r>
          </a:p>
          <a:p>
            <a:pPr algn="l">
              <a:defRPr sz="1250" b="0">
                <a:solidFill>
                  <a:srgbClr val="6E7B90"/>
                </a:solidFill>
                <a:latin typeface="Avenir Next"/>
              </a:defRPr>
            </a:pPr>
            <a:r>
              <a:t>hand-curated per system; upgrades mean rebuilding everything</a:t>
            </a:r>
          </a:p>
        </p:txBody>
      </p:sp>
      <p:sp>
        <p:nvSpPr>
          <p:cNvPr id="21" name="Rounded Rectangle 20"/>
          <p:cNvSpPr/>
          <p:nvPr/>
        </p:nvSpPr>
        <p:spPr>
          <a:xfrm>
            <a:off x="6263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783080"/>
            <a:ext cx="4937760" cy="457200"/>
          </a:xfrm>
          <a:prstGeom prst="rect">
            <a:avLst/>
          </a:prstGeom>
          <a:noFill/>
        </p:spPr>
        <p:txBody>
          <a:bodyPr wrap="square" anchor="t">
            <a:spAutoFit/>
          </a:bodyPr>
          <a:lstStyle/>
          <a:p>
            <a:pPr algn="l">
              <a:defRPr sz="1700" b="1">
                <a:solidFill>
                  <a:srgbClr val="16243D"/>
                </a:solidFill>
                <a:latin typeface="Avenir Next"/>
              </a:defRPr>
            </a:pPr>
            <a:r>
              <a:t>The lanes model</a:t>
            </a:r>
          </a:p>
        </p:txBody>
      </p:sp>
      <p:sp>
        <p:nvSpPr>
          <p:cNvPr id="23" name="Rounded Rectangle 22"/>
          <p:cNvSpPr/>
          <p:nvPr/>
        </p:nvSpPr>
        <p:spPr>
          <a:xfrm>
            <a:off x="6766560" y="2331720"/>
            <a:ext cx="4343400" cy="45720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module load cse/GCC</a:t>
            </a:r>
          </a:p>
        </p:txBody>
      </p:sp>
      <p:cxnSp>
        <p:nvCxnSpPr>
          <p:cNvPr id="24" name="Connector 23"/>
          <p:cNvCxnSpPr/>
          <p:nvPr/>
        </p:nvCxnSpPr>
        <p:spPr>
          <a:xfrm>
            <a:off x="8938260" y="2788920"/>
            <a:ext cx="0" cy="27432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66560" y="3063240"/>
            <a:ext cx="1371600" cy="566928"/>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6" name="Rounded Rectangle 25"/>
          <p:cNvSpPr/>
          <p:nvPr/>
        </p:nvSpPr>
        <p:spPr>
          <a:xfrm>
            <a:off x="8229600" y="3063240"/>
            <a:ext cx="1371600" cy="566928"/>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7" name="Rounded Rectangle 26"/>
          <p:cNvSpPr/>
          <p:nvPr/>
        </p:nvSpPr>
        <p:spPr>
          <a:xfrm>
            <a:off x="9692640" y="3063240"/>
            <a:ext cx="1417320" cy="566928"/>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8" name="Connector 27"/>
          <p:cNvCxnSpPr/>
          <p:nvPr/>
        </p:nvCxnSpPr>
        <p:spPr>
          <a:xfrm>
            <a:off x="8938260" y="3630168"/>
            <a:ext cx="0" cy="274319"/>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E7B90"/>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117A72"/>
                </a:solidFill>
                <a:latin typeface="Avenir Next"/>
              </a:defRPr>
            </a:pPr>
            <a:r>
              <a:t>You see exactly one lane.</a:t>
            </a:r>
          </a:p>
          <a:p>
            <a:pPr algn="l">
              <a:defRPr sz="1250" b="0">
                <a:solidFill>
                  <a:srgbClr val="6E7B90"/>
                </a:solidFill>
                <a:latin typeface="Avenir Next"/>
              </a:defRPr>
            </a:pPr>
            <a:r>
              <a:t>GPU is a complete MPI-capable lane when the selected toolchain supports it ·</a:t>
            </a:r>
          </a:p>
          <a:p>
            <a:pPr algn="l">
              <a:defRPr sz="1250" b="0">
                <a:solidFill>
                  <a:srgbClr val="6E7B90"/>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The shape everyone converges on</a:t>
            </a:r>
          </a:p>
        </p:txBody>
      </p:sp>
      <p:sp>
        <p:nvSpPr>
          <p:cNvPr id="5" name="Rounded Rectangle 4"/>
          <p:cNvSpPr/>
          <p:nvPr/>
        </p:nvSpPr>
        <p:spPr>
          <a:xfrm>
            <a:off x="548640"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502920"/>
          </a:xfrm>
          <a:prstGeom prst="rect">
            <a:avLst/>
          </a:prstGeom>
          <a:noFill/>
        </p:spPr>
        <p:txBody>
          <a:bodyPr wrap="square" anchor="t">
            <a:spAutoFit/>
          </a:bodyPr>
          <a:lstStyle/>
          <a:p>
            <a:pPr algn="l">
              <a:defRPr sz="1450" b="1">
                <a:solidFill>
                  <a:srgbClr val="2B62B8"/>
                </a:solidFill>
                <a:latin typeface="Avenir Next"/>
              </a:defRPr>
            </a:pPr>
            <a:r>
              <a:t>NASA JSC  ·  Flight Sciences Lab</a:t>
            </a:r>
          </a:p>
        </p:txBody>
      </p:sp>
      <p:sp>
        <p:nvSpPr>
          <p:cNvPr id="7" name="TextBox 6"/>
          <p:cNvSpPr txBox="1"/>
          <p:nvPr/>
        </p:nvSpPr>
        <p:spPr>
          <a:xfrm>
            <a:off x="777240" y="2395728"/>
            <a:ext cx="3200400" cy="685800"/>
          </a:xfrm>
          <a:prstGeom prst="rect">
            <a:avLst/>
          </a:prstGeom>
          <a:noFill/>
        </p:spPr>
        <p:txBody>
          <a:bodyPr wrap="square" anchor="t">
            <a:spAutoFit/>
          </a:bodyPr>
          <a:lstStyle/>
          <a:p>
            <a:pPr algn="l">
              <a:defRPr sz="1600" b="1">
                <a:solidFill>
                  <a:srgbClr val="2B62B8"/>
                </a:solidFill>
                <a:latin typeface="Avenir Next"/>
              </a:defRPr>
            </a:pPr>
            <a:r>
              <a:t>1,000+ packages · 4 compiler suites · 3 MPIs</a:t>
            </a:r>
          </a:p>
        </p:txBody>
      </p:sp>
      <p:sp>
        <p:nvSpPr>
          <p:cNvPr id="8" name="TextBox 7"/>
          <p:cNvSpPr txBox="1"/>
          <p:nvPr/>
        </p:nvSpPr>
        <p:spPr>
          <a:xfrm>
            <a:off x="777240" y="3246120"/>
            <a:ext cx="3200400" cy="1828800"/>
          </a:xfrm>
          <a:prstGeom prst="rect">
            <a:avLst/>
          </a:prstGeom>
          <a:noFill/>
        </p:spPr>
        <p:txBody>
          <a:bodyPr wrap="square" anchor="t">
            <a:spAutoFit/>
          </a:bodyPr>
          <a:lstStyle/>
          <a:p>
            <a:pPr algn="l">
              <a:defRPr sz="1250" b="0">
                <a:solidFill>
                  <a:srgbClr val="3B4A63"/>
                </a:solidFill>
                <a:latin typeface="Avenir Next"/>
              </a:defRPr>
            </a:pPr>
            <a:r>
              <a:t>Lmod hierarchy: Core → Compiler → MPI</a:t>
            </a:r>
          </a:p>
          <a:p>
            <a:pPr algn="l">
              <a:defRPr sz="1250" b="0">
                <a:solidFill>
                  <a:srgbClr val="3B4A63"/>
                </a:solidFill>
                <a:latin typeface="Avenir Next"/>
              </a:defRPr>
            </a:pPr>
            <a:r>
              <a:t>compiler_mixing: false keeps lanes isolated</a:t>
            </a:r>
          </a:p>
          <a:p>
            <a:pPr algn="l">
              <a:defRPr sz="1250" b="0">
                <a:solidFill>
                  <a:srgbClr val="3B4A63"/>
                </a:solidFill>
                <a:latin typeface="Avenir Next"/>
              </a:defRPr>
            </a:pPr>
            <a:r>
              <a:t>“Users never run a spack command.”</a:t>
            </a:r>
          </a:p>
        </p:txBody>
      </p:sp>
      <p:sp>
        <p:nvSpPr>
          <p:cNvPr id="9" name="Rounded Rectangle 8"/>
          <p:cNvSpPr/>
          <p:nvPr/>
        </p:nvSpPr>
        <p:spPr>
          <a:xfrm>
            <a:off x="4370831"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1" y="1828800"/>
            <a:ext cx="3200400" cy="502920"/>
          </a:xfrm>
          <a:prstGeom prst="rect">
            <a:avLst/>
          </a:prstGeom>
          <a:noFill/>
        </p:spPr>
        <p:txBody>
          <a:bodyPr wrap="square" anchor="t">
            <a:spAutoFit/>
          </a:bodyPr>
          <a:lstStyle/>
          <a:p>
            <a:pPr algn="l">
              <a:defRPr sz="1450" b="1">
                <a:solidFill>
                  <a:srgbClr val="6D4EAA"/>
                </a:solidFill>
                <a:latin typeface="Avenir Next"/>
              </a:defRPr>
            </a:pPr>
            <a:r>
              <a:t>ALCF  ·  Polaris Spack PE</a:t>
            </a:r>
          </a:p>
        </p:txBody>
      </p:sp>
      <p:sp>
        <p:nvSpPr>
          <p:cNvPr id="11" name="TextBox 10"/>
          <p:cNvSpPr txBox="1"/>
          <p:nvPr/>
        </p:nvSpPr>
        <p:spPr>
          <a:xfrm>
            <a:off x="4599431" y="2395728"/>
            <a:ext cx="3200400" cy="685800"/>
          </a:xfrm>
          <a:prstGeom prst="rect">
            <a:avLst/>
          </a:prstGeom>
          <a:noFill/>
        </p:spPr>
        <p:txBody>
          <a:bodyPr wrap="square" anchor="t">
            <a:spAutoFit/>
          </a:bodyPr>
          <a:lstStyle/>
          <a:p>
            <a:pPr algn="l">
              <a:defRPr sz="1600" b="1">
                <a:solidFill>
                  <a:srgbClr val="6D4EAA"/>
                </a:solidFill>
                <a:latin typeface="Avenir Next"/>
              </a:defRPr>
            </a:pPr>
            <a:r>
              <a:t>spack-pe-base + spack-pe-gnu</a:t>
            </a:r>
          </a:p>
        </p:txBody>
      </p:sp>
      <p:sp>
        <p:nvSpPr>
          <p:cNvPr id="12" name="TextBox 11"/>
          <p:cNvSpPr txBox="1"/>
          <p:nvPr/>
        </p:nvSpPr>
        <p:spPr>
          <a:xfrm>
            <a:off x="4599431" y="3246120"/>
            <a:ext cx="3200400" cy="1828800"/>
          </a:xfrm>
          <a:prstGeom prst="rect">
            <a:avLst/>
          </a:prstGeom>
          <a:noFill/>
        </p:spPr>
        <p:txBody>
          <a:bodyPr wrap="square" anchor="t">
            <a:spAutoFit/>
          </a:bodyPr>
          <a:lstStyle/>
          <a:p>
            <a:pPr algn="l">
              <a:defRPr sz="1250" b="0">
                <a:solidFill>
                  <a:srgbClr val="3B4A63"/>
                </a:solidFill>
                <a:latin typeface="Avenir Next"/>
              </a:defRPr>
            </a:pPr>
            <a:r>
              <a:t>Base built once with system GCC, PE-agnostic</a:t>
            </a:r>
          </a:p>
          <a:p>
            <a:pPr algn="l">
              <a:defRPr sz="1250" b="0">
                <a:solidFill>
                  <a:srgbClr val="3B4A63"/>
                </a:solidFill>
                <a:latin typeface="Avenir Next"/>
              </a:defRPr>
            </a:pPr>
            <a:r>
              <a:t>Meta-module gates MODULEPATH</a:t>
            </a:r>
          </a:p>
          <a:p>
            <a:pPr algn="l">
              <a:defRPr sz="1250" b="0">
                <a:solidFill>
                  <a:srgbClr val="3B4A63"/>
                </a:solidFill>
                <a:latin typeface="Avenir Next"/>
              </a:defRPr>
            </a:pPr>
            <a:r>
              <a:t>Packages appear only after the stack loads</a:t>
            </a:r>
          </a:p>
        </p:txBody>
      </p:sp>
      <p:sp>
        <p:nvSpPr>
          <p:cNvPr id="13" name="Rounded Rectangle 12"/>
          <p:cNvSpPr/>
          <p:nvPr/>
        </p:nvSpPr>
        <p:spPr>
          <a:xfrm>
            <a:off x="8193023"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828800"/>
            <a:ext cx="3200400" cy="502920"/>
          </a:xfrm>
          <a:prstGeom prst="rect">
            <a:avLst/>
          </a:prstGeom>
          <a:noFill/>
        </p:spPr>
        <p:txBody>
          <a:bodyPr wrap="square" anchor="t">
            <a:spAutoFit/>
          </a:bodyPr>
          <a:lstStyle/>
          <a:p>
            <a:pPr algn="l">
              <a:defRPr sz="1450" b="1">
                <a:solidFill>
                  <a:srgbClr val="117A72"/>
                </a:solidFill>
                <a:latin typeface="Avenir Next"/>
              </a:defRPr>
            </a:pPr>
            <a:r>
              <a:t>Spack project  ·  E4S / HPSF</a:t>
            </a:r>
          </a:p>
        </p:txBody>
      </p:sp>
      <p:sp>
        <p:nvSpPr>
          <p:cNvPr id="15" name="TextBox 14"/>
          <p:cNvSpPr txBox="1"/>
          <p:nvPr/>
        </p:nvSpPr>
        <p:spPr>
          <a:xfrm>
            <a:off x="8421624" y="2395728"/>
            <a:ext cx="3200400" cy="685800"/>
          </a:xfrm>
          <a:prstGeom prst="rect">
            <a:avLst/>
          </a:prstGeom>
          <a:noFill/>
        </p:spPr>
        <p:txBody>
          <a:bodyPr wrap="square" anchor="t">
            <a:spAutoFit/>
          </a:bodyPr>
          <a:lstStyle/>
          <a:p>
            <a:pPr algn="l">
              <a:defRPr sz="1600" b="1">
                <a:solidFill>
                  <a:srgbClr val="117A72"/>
                </a:solidFill>
                <a:latin typeface="Avenir Next"/>
              </a:defRPr>
            </a:pPr>
            <a:r>
              <a:t>Incremental concretization</a:t>
            </a:r>
          </a:p>
        </p:txBody>
      </p:sp>
      <p:sp>
        <p:nvSpPr>
          <p:cNvPr id="16" name="TextBox 15"/>
          <p:cNvSpPr txBox="1"/>
          <p:nvPr/>
        </p:nvSpPr>
        <p:spPr>
          <a:xfrm>
            <a:off x="8421624" y="3246120"/>
            <a:ext cx="3200400" cy="1828800"/>
          </a:xfrm>
          <a:prstGeom prst="rect">
            <a:avLst/>
          </a:prstGeom>
          <a:noFill/>
        </p:spPr>
        <p:txBody>
          <a:bodyPr wrap="square" anchor="t">
            <a:spAutoFit/>
          </a:bodyPr>
          <a:lstStyle/>
          <a:p>
            <a:pPr algn="l">
              <a:defRPr sz="1250" b="0">
                <a:solidFill>
                  <a:srgbClr val="3B4A63"/>
                </a:solidFill>
                <a:latin typeface="Avenir Next"/>
              </a:defRPr>
            </a:pPr>
            <a:r>
              <a:t>Foundation → GPU/MPI/Python → integrations</a:t>
            </a:r>
          </a:p>
          <a:p>
            <a:pPr algn="l">
              <a:defRPr sz="1250" b="0">
                <a:solidFill>
                  <a:srgbClr val="3B4A63"/>
                </a:solidFill>
                <a:latin typeface="Avenir Next"/>
              </a:defRPr>
            </a:pPr>
            <a:r>
              <a:t>Flat 270-spec environments hang the solver</a:t>
            </a:r>
          </a:p>
          <a:p>
            <a:pPr algn="l">
              <a:defRPr sz="1250" b="0">
                <a:solidFill>
                  <a:srgbClr val="3B4A63"/>
                </a:solidFill>
                <a:latin typeface="Avenir Next"/>
              </a:defRPr>
            </a:pPr>
            <a:r>
              <a:t>Build caches are load-bearing, not optional</a:t>
            </a:r>
          </a:p>
        </p:txBody>
      </p:sp>
      <p:sp>
        <p:nvSpPr>
          <p:cNvPr id="17" name="Rounded Rectangle 16"/>
          <p:cNvSpPr/>
          <p:nvPr/>
        </p:nvSpPr>
        <p:spPr>
          <a:xfrm>
            <a:off x="548640" y="54864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How a stack is built</a:t>
            </a:r>
          </a:p>
        </p:txBody>
      </p:sp>
      <p:sp>
        <p:nvSpPr>
          <p:cNvPr id="5" name="Rounded Rectangle 4"/>
          <p:cNvSpPr/>
          <p:nvPr/>
        </p:nvSpPr>
        <p:spPr>
          <a:xfrm>
            <a:off x="548640"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PROBE</a:t>
            </a:r>
          </a:p>
          <a:p>
            <a:pPr algn="ctr">
              <a:defRPr sz="1100" b="0">
                <a:solidFill>
                  <a:srgbClr val="6E7B90"/>
                </a:solidFill>
                <a:latin typeface="Avenir Next"/>
              </a:defRPr>
            </a:pPr>
            <a:r>
              <a:t>record the system's</a:t>
            </a:r>
          </a:p>
          <a:p>
            <a:pPr algn="ctr">
              <a:defRPr sz="1100" b="0">
                <a:solidFill>
                  <a:srgbClr val="6E7B90"/>
                </a:solidFill>
                <a:latin typeface="Avenir Next"/>
              </a:defRPr>
            </a:pPr>
            <a:r>
              <a:t>facts, once</a:t>
            </a:r>
          </a:p>
        </p:txBody>
      </p:sp>
      <p:cxnSp>
        <p:nvCxnSpPr>
          <p:cNvPr id="6" name="Connector 5"/>
          <p:cNvCxnSpPr/>
          <p:nvPr/>
        </p:nvCxnSpPr>
        <p:spPr>
          <a:xfrm>
            <a:off x="2624328"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52928"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POLICY</a:t>
            </a:r>
          </a:p>
          <a:p>
            <a:pPr algn="ctr">
              <a:defRPr sz="1100" b="0">
                <a:solidFill>
                  <a:srgbClr val="6E7B90"/>
                </a:solidFill>
                <a:latin typeface="Avenir Next"/>
              </a:defRPr>
            </a:pPr>
            <a:r>
              <a:t>one small site</a:t>
            </a:r>
          </a:p>
          <a:p>
            <a:pPr algn="ctr">
              <a:defRPr sz="1100" b="0">
                <a:solidFill>
                  <a:srgbClr val="6E7B90"/>
                </a:solidFill>
                <a:latin typeface="Avenir Next"/>
              </a:defRPr>
            </a:pPr>
            <a:r>
              <a:t>defaults file</a:t>
            </a:r>
          </a:p>
        </p:txBody>
      </p:sp>
      <p:cxnSp>
        <p:nvCxnSpPr>
          <p:cNvPr id="8" name="Connector 7"/>
          <p:cNvCxnSpPr/>
          <p:nvPr/>
        </p:nvCxnSpPr>
        <p:spPr>
          <a:xfrm>
            <a:off x="4928616"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57216"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RENDER</a:t>
            </a:r>
          </a:p>
          <a:p>
            <a:pPr algn="ctr">
              <a:defRPr sz="1100" b="0">
                <a:solidFill>
                  <a:srgbClr val="6E7B90"/>
                </a:solidFill>
                <a:latin typeface="Avenir Next"/>
              </a:defRPr>
            </a:pPr>
            <a:r>
              <a:t>derive every lane's</a:t>
            </a:r>
          </a:p>
          <a:p>
            <a:pPr algn="ctr">
              <a:defRPr sz="1100" b="0">
                <a:solidFill>
                  <a:srgbClr val="6E7B90"/>
                </a:solidFill>
                <a:latin typeface="Avenir Next"/>
              </a:defRPr>
            </a:pPr>
            <a:r>
              <a:t>build input</a:t>
            </a:r>
          </a:p>
        </p:txBody>
      </p:sp>
      <p:cxnSp>
        <p:nvCxnSpPr>
          <p:cNvPr id="10" name="Connector 9"/>
          <p:cNvCxnSpPr/>
          <p:nvPr/>
        </p:nvCxnSpPr>
        <p:spPr>
          <a:xfrm>
            <a:off x="7232904"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61504"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BUILD</a:t>
            </a:r>
          </a:p>
          <a:p>
            <a:pPr algn="ctr">
              <a:defRPr sz="1100" b="0">
                <a:solidFill>
                  <a:srgbClr val="6E7B90"/>
                </a:solidFill>
                <a:latin typeface="Avenir Next"/>
              </a:defRPr>
            </a:pPr>
            <a:r>
              <a:t>Spack · lanes build</a:t>
            </a:r>
          </a:p>
          <a:p>
            <a:pPr algn="ctr">
              <a:defRPr sz="1100" b="0">
                <a:solidFill>
                  <a:srgbClr val="6E7B90"/>
                </a:solidFill>
                <a:latin typeface="Avenir Next"/>
              </a:defRPr>
            </a:pPr>
            <a:r>
              <a:t>in parallel</a:t>
            </a:r>
          </a:p>
        </p:txBody>
      </p:sp>
      <p:cxnSp>
        <p:nvCxnSpPr>
          <p:cNvPr id="12" name="Connector 11"/>
          <p:cNvCxnSpPr/>
          <p:nvPr/>
        </p:nvCxnSpPr>
        <p:spPr>
          <a:xfrm>
            <a:off x="9537192"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5792"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PUBLISH</a:t>
            </a:r>
          </a:p>
          <a:p>
            <a:pPr algn="ctr">
              <a:defRPr sz="1100" b="0">
                <a:solidFill>
                  <a:srgbClr val="6E7B90"/>
                </a:solidFill>
                <a:latin typeface="Avenir Next"/>
              </a:defRPr>
            </a:pPr>
            <a:r>
              <a:t>modules · views</a:t>
            </a:r>
          </a:p>
          <a:p>
            <a:pPr algn="ctr">
              <a:defRPr sz="1100" b="0">
                <a:solidFill>
                  <a:srgbClr val="6E7B90"/>
                </a:solidFill>
                <a:latin typeface="Avenir Next"/>
              </a:defRPr>
            </a:pPr>
            <a:r>
              <a:t>build caches</a:t>
            </a:r>
          </a:p>
        </p:txBody>
      </p:sp>
      <p:sp>
        <p:nvSpPr>
          <p:cNvPr id="14" name="Rounded Rectangle 13"/>
          <p:cNvSpPr/>
          <p:nvPr/>
        </p:nvSpPr>
        <p:spPr>
          <a:xfrm>
            <a:off x="2148840" y="3108960"/>
            <a:ext cx="7863840" cy="685800"/>
          </a:xfrm>
          <a:prstGeom prst="roundRect">
            <a:avLst/>
          </a:prstGeom>
          <a:solidFill>
            <a:srgbClr val="FFFFFF"/>
          </a:solidFill>
          <a:ln w="15875">
            <a:solidFill>
              <a:srgbClr val="117A7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16243D"/>
                </a:solidFill>
                <a:latin typeface="Avenir Next"/>
              </a:defRPr>
            </a:pPr>
            <a:r>
              <a:t>Core + Foundation: built once per compiler surface, portable target</a:t>
            </a:r>
          </a:p>
          <a:p>
            <a:pPr algn="ctr">
              <a:defRPr sz="1150" b="0">
                <a:solidFill>
                  <a:srgbClr val="6E7B90"/>
                </a:solidFill>
                <a:latin typeface="Avenir Next"/>
              </a:defRPr>
            </a:pPr>
            <a:r>
              <a:t>cmake · python · miniforge   |   zlib · xz · zstd (single pinned version)</a:t>
            </a:r>
          </a:p>
        </p:txBody>
      </p:sp>
      <p:cxnSp>
        <p:nvCxnSpPr>
          <p:cNvPr id="15" name="Connector 14"/>
          <p:cNvCxnSpPr/>
          <p:nvPr/>
        </p:nvCxnSpPr>
        <p:spPr>
          <a:xfrm flipH="1">
            <a:off x="2880360" y="3794760"/>
            <a:ext cx="3200400" cy="548640"/>
          </a:xfrm>
          <a:prstGeom prst="line">
            <a:avLst/>
          </a:prstGeom>
          <a:ln w="28575">
            <a:solidFill>
              <a:srgbClr val="BA740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371600" y="4343400"/>
            <a:ext cx="3017520" cy="8686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7" name="Connector 16"/>
          <p:cNvCxnSpPr/>
          <p:nvPr/>
        </p:nvCxnSpPr>
        <p:spPr>
          <a:xfrm>
            <a:off x="6080760" y="3794760"/>
            <a:ext cx="91440" cy="548640"/>
          </a:xfrm>
          <a:prstGeom prst="line">
            <a:avLst/>
          </a:prstGeom>
          <a:ln w="28575">
            <a:solidFill>
              <a:srgbClr val="2B62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63440" y="4343400"/>
            <a:ext cx="3017520" cy="8686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19" name="Connector 18"/>
          <p:cNvCxnSpPr/>
          <p:nvPr/>
        </p:nvCxnSpPr>
        <p:spPr>
          <a:xfrm>
            <a:off x="6080760" y="3794760"/>
            <a:ext cx="3383280" cy="548640"/>
          </a:xfrm>
          <a:prstGeom prst="line">
            <a:avLst/>
          </a:prstGeom>
          <a:ln w="28575">
            <a:solidFill>
              <a:srgbClr val="6D4EA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343400"/>
            <a:ext cx="3017520" cy="8686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1" name="TextBox 20"/>
          <p:cNvSpPr txBox="1"/>
          <p:nvPr/>
        </p:nvSpPr>
        <p:spPr>
          <a:xfrm>
            <a:off x="548640" y="5623560"/>
            <a:ext cx="11064240" cy="822960"/>
          </a:xfrm>
          <a:prstGeom prst="rect">
            <a:avLst/>
          </a:prstGeom>
          <a:noFill/>
        </p:spPr>
        <p:txBody>
          <a:bodyPr wrap="square" anchor="t">
            <a:spAutoFit/>
          </a:bodyPr>
          <a:lstStyle/>
          <a:p>
            <a:pPr algn="l">
              <a:defRPr sz="1400" b="1">
                <a:solidFill>
                  <a:srgbClr val="117A72"/>
                </a:solidFill>
                <a:latin typeface="Avenir Next"/>
              </a:defRPr>
            </a:pPr>
            <a:r>
              <a:t>A new system is a probe and a render, not months of curation.</a:t>
            </a:r>
          </a:p>
          <a:p>
            <a:pPr algn="l">
              <a:defRPr sz="1250" b="0">
                <a:solidFill>
                  <a:srgbClr val="6E7B90"/>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a user experiences</a:t>
            </a:r>
          </a:p>
        </p:txBody>
      </p:sp>
      <p:sp>
        <p:nvSpPr>
          <p:cNvPr id="5" name="Rounded Rectangle 4"/>
          <p:cNvSpPr/>
          <p:nvPr/>
        </p:nvSpPr>
        <p:spPr>
          <a:xfrm>
            <a:off x="3809390" y="1645920"/>
            <a:ext cx="4572000" cy="566928"/>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16243D"/>
                </a:solidFill>
                <a:latin typeface="Avenir Next"/>
              </a:defRPr>
            </a:pPr>
            <a:r>
              <a:t>$ module load cse/GCC</a:t>
            </a:r>
          </a:p>
        </p:txBody>
      </p:sp>
      <p:cxnSp>
        <p:nvCxnSpPr>
          <p:cNvPr id="6" name="Connector 5"/>
          <p:cNvCxnSpPr/>
          <p:nvPr/>
        </p:nvCxnSpPr>
        <p:spPr>
          <a:xfrm>
            <a:off x="6095390" y="2212848"/>
            <a:ext cx="0" cy="36576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 y="2578608"/>
            <a:ext cx="3474720" cy="9144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8" name="Rounded Rectangle 7"/>
          <p:cNvSpPr/>
          <p:nvPr/>
        </p:nvSpPr>
        <p:spPr>
          <a:xfrm>
            <a:off x="4361688" y="2578608"/>
            <a:ext cx="3474720" cy="91440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9" name="Rounded Rectangle 8"/>
          <p:cNvSpPr/>
          <p:nvPr/>
        </p:nvSpPr>
        <p:spPr>
          <a:xfrm>
            <a:off x="8037575" y="2578608"/>
            <a:ext cx="3474720" cy="91440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E7B90"/>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3" name="Rounded Rectangle 12"/>
          <p:cNvSpPr/>
          <p:nvPr/>
        </p:nvSpPr>
        <p:spPr>
          <a:xfrm>
            <a:off x="4343400" y="4343400"/>
            <a:ext cx="3474720" cy="9144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16243D"/>
                </a:solidFill>
                <a:latin typeface="Avenir Next"/>
              </a:defRPr>
            </a:pPr>
            <a:r>
              <a:t>Only the chosen lane is visible; common packages (BLAS/LAPACK, gnuplot) load from the surface itself.</a:t>
            </a:r>
          </a:p>
          <a:p>
            <a:pPr algn="ctr">
              <a:defRPr sz="1200" b="0">
                <a:solidFill>
                  <a:srgbClr val="6E7B90"/>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Lane vocabulary</a:t>
            </a:r>
          </a:p>
        </p:txBody>
      </p:sp>
      <p:sp>
        <p:nvSpPr>
          <p:cNvPr id="5" name="Rounded Rectangle 4"/>
          <p:cNvSpPr/>
          <p:nvPr/>
        </p:nvSpPr>
        <p:spPr>
          <a:xfrm>
            <a:off x="548640"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5943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8" name="TextBox 7"/>
          <p:cNvSpPr txBox="1"/>
          <p:nvPr/>
        </p:nvSpPr>
        <p:spPr>
          <a:xfrm>
            <a:off x="694944" y="2377440"/>
            <a:ext cx="1783080" cy="1920240"/>
          </a:xfrm>
          <a:prstGeom prst="rect">
            <a:avLst/>
          </a:prstGeom>
          <a:noFill/>
        </p:spPr>
        <p:txBody>
          <a:bodyPr wrap="square" anchor="t">
            <a:spAutoFit/>
          </a:bodyPr>
          <a:lstStyle/>
          <a:p>
            <a:pPr algn="l">
              <a:defRPr sz="1100" b="0">
                <a:solidFill>
                  <a:srgbClr val="3B4A63"/>
                </a:solidFill>
                <a:latin typeface="Avenir Next"/>
              </a:defRPr>
            </a:pPr>
            <a:r>
              <a:t>Compiler-agnostic building blocks and tools. Available as soon as the surface loads.</a:t>
            </a:r>
          </a:p>
        </p:txBody>
      </p:sp>
      <p:sp>
        <p:nvSpPr>
          <p:cNvPr id="9" name="TextBox 8"/>
          <p:cNvSpPr txBox="1"/>
          <p:nvPr/>
        </p:nvSpPr>
        <p:spPr>
          <a:xfrm>
            <a:off x="694944" y="4343400"/>
            <a:ext cx="1783080" cy="640080"/>
          </a:xfrm>
          <a:prstGeom prst="rect">
            <a:avLst/>
          </a:prstGeom>
          <a:noFill/>
        </p:spPr>
        <p:txBody>
          <a:bodyPr wrap="square" anchor="t">
            <a:spAutoFit/>
          </a:bodyPr>
          <a:lstStyle/>
          <a:p>
            <a:pPr algn="l">
              <a:defRPr sz="1000" b="0">
                <a:solidFill>
                  <a:srgbClr val="6E7B90"/>
                </a:solidFill>
                <a:latin typeface="Avenir Next"/>
              </a:defRPr>
            </a:pPr>
            <a:r>
              <a:t>cmake · python · miniforge · gsl</a:t>
            </a:r>
          </a:p>
        </p:txBody>
      </p:sp>
      <p:sp>
        <p:nvSpPr>
          <p:cNvPr id="10" name="Rounded Rectangle 9"/>
          <p:cNvSpPr/>
          <p:nvPr/>
        </p:nvSpPr>
        <p:spPr>
          <a:xfrm>
            <a:off x="2706624"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06624" y="1645920"/>
            <a:ext cx="2048256" cy="59436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3" name="TextBox 12"/>
          <p:cNvSpPr txBox="1"/>
          <p:nvPr/>
        </p:nvSpPr>
        <p:spPr>
          <a:xfrm>
            <a:off x="2852928" y="2377440"/>
            <a:ext cx="1783080" cy="1920240"/>
          </a:xfrm>
          <a:prstGeom prst="rect">
            <a:avLst/>
          </a:prstGeom>
          <a:noFill/>
        </p:spPr>
        <p:txBody>
          <a:bodyPr wrap="square" anchor="t">
            <a:spAutoFit/>
          </a:bodyPr>
          <a:lstStyle/>
          <a:p>
            <a:pPr algn="l">
              <a:defRPr sz="1100" b="0">
                <a:solidFill>
                  <a:srgbClr val="3B4A63"/>
                </a:solidFill>
                <a:latin typeface="Avenir Next"/>
              </a:defRPr>
            </a:pPr>
            <a:r>
              <a:t>Built for this compiler, one build for every lane. Available with the surface, like Core.</a:t>
            </a:r>
          </a:p>
        </p:txBody>
      </p:sp>
      <p:sp>
        <p:nvSpPr>
          <p:cNvPr id="14" name="TextBox 13"/>
          <p:cNvSpPr txBox="1"/>
          <p:nvPr/>
        </p:nvSpPr>
        <p:spPr>
          <a:xfrm>
            <a:off x="2852928" y="4343400"/>
            <a:ext cx="1783080" cy="640080"/>
          </a:xfrm>
          <a:prstGeom prst="rect">
            <a:avLst/>
          </a:prstGeom>
          <a:noFill/>
        </p:spPr>
        <p:txBody>
          <a:bodyPr wrap="square" anchor="t">
            <a:spAutoFit/>
          </a:bodyPr>
          <a:lstStyle/>
          <a:p>
            <a:pPr algn="l">
              <a:defRPr sz="1000" b="0">
                <a:solidFill>
                  <a:srgbClr val="6E7B90"/>
                </a:solidFill>
                <a:latin typeface="Avenir Next"/>
              </a:defRPr>
            </a:pPr>
            <a:r>
              <a:t>openblas · gnuplot</a:t>
            </a:r>
          </a:p>
        </p:txBody>
      </p:sp>
      <p:sp>
        <p:nvSpPr>
          <p:cNvPr id="15" name="Rounded Rectangle 14"/>
          <p:cNvSpPr/>
          <p:nvPr/>
        </p:nvSpPr>
        <p:spPr>
          <a:xfrm>
            <a:off x="4864607"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64607" y="1645920"/>
            <a:ext cx="2048256" cy="5943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8" name="TextBox 17"/>
          <p:cNvSpPr txBox="1"/>
          <p:nvPr/>
        </p:nvSpPr>
        <p:spPr>
          <a:xfrm>
            <a:off x="5010912" y="2377440"/>
            <a:ext cx="1783080" cy="1920240"/>
          </a:xfrm>
          <a:prstGeom prst="rect">
            <a:avLst/>
          </a:prstGeom>
          <a:noFill/>
        </p:spPr>
        <p:txBody>
          <a:bodyPr wrap="square" anchor="t">
            <a:spAutoFit/>
          </a:bodyPr>
          <a:lstStyle/>
          <a:p>
            <a:pPr algn="l">
              <a:defRPr sz="1100" b="0">
                <a:solidFill>
                  <a:srgbClr val="3B4A63"/>
                </a:solidFill>
                <a:latin typeface="Avenir Next"/>
              </a:defRPr>
            </a:pPr>
            <a:r>
              <a:t>MPI-capable packages built without MPI on purpose, for work that never launches a parallel job.</a:t>
            </a:r>
          </a:p>
        </p:txBody>
      </p:sp>
      <p:sp>
        <p:nvSpPr>
          <p:cNvPr id="19" name="TextBox 18"/>
          <p:cNvSpPr txBox="1"/>
          <p:nvPr/>
        </p:nvSpPr>
        <p:spPr>
          <a:xfrm>
            <a:off x="5010912" y="4343400"/>
            <a:ext cx="1783080" cy="640080"/>
          </a:xfrm>
          <a:prstGeom prst="rect">
            <a:avLst/>
          </a:prstGeom>
          <a:noFill/>
        </p:spPr>
        <p:txBody>
          <a:bodyPr wrap="square" anchor="t">
            <a:spAutoFit/>
          </a:bodyPr>
          <a:lstStyle/>
          <a:p>
            <a:pPr algn="l">
              <a:defRPr sz="1000" b="0">
                <a:solidFill>
                  <a:srgbClr val="6E7B90"/>
                </a:solidFill>
                <a:latin typeface="Avenir Next"/>
              </a:defRPr>
            </a:pPr>
            <a:r>
              <a:t>hdf5~mpi · fftw~mpi · boost~mpi</a:t>
            </a:r>
          </a:p>
        </p:txBody>
      </p:sp>
      <p:sp>
        <p:nvSpPr>
          <p:cNvPr id="20" name="Rounded Rectangle 19"/>
          <p:cNvSpPr/>
          <p:nvPr/>
        </p:nvSpPr>
        <p:spPr>
          <a:xfrm>
            <a:off x="7022592"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22592" y="1645920"/>
            <a:ext cx="2048256" cy="5943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3" name="TextBox 22"/>
          <p:cNvSpPr txBox="1"/>
          <p:nvPr/>
        </p:nvSpPr>
        <p:spPr>
          <a:xfrm>
            <a:off x="7168896" y="2377440"/>
            <a:ext cx="1783080" cy="1920240"/>
          </a:xfrm>
          <a:prstGeom prst="rect">
            <a:avLst/>
          </a:prstGeom>
          <a:noFill/>
        </p:spPr>
        <p:txBody>
          <a:bodyPr wrap="square" anchor="t">
            <a:spAutoFit/>
          </a:bodyPr>
          <a:lstStyle/>
          <a:p>
            <a:pPr algn="l">
              <a:defRPr sz="1100" b="0">
                <a:solidFill>
                  <a:srgbClr val="3B4A63"/>
                </a:solidFill>
                <a:latin typeface="Avenir Next"/>
              </a:defRPr>
            </a:pPr>
            <a:r>
              <a:t>Built against the system MPI. Qualified only when the system offers more than one.</a:t>
            </a:r>
          </a:p>
        </p:txBody>
      </p:sp>
      <p:sp>
        <p:nvSpPr>
          <p:cNvPr id="24" name="TextBox 23"/>
          <p:cNvSpPr txBox="1"/>
          <p:nvPr/>
        </p:nvSpPr>
        <p:spPr>
          <a:xfrm>
            <a:off x="7168896" y="4343400"/>
            <a:ext cx="1783080" cy="640080"/>
          </a:xfrm>
          <a:prstGeom prst="rect">
            <a:avLst/>
          </a:prstGeom>
          <a:noFill/>
        </p:spPr>
        <p:txBody>
          <a:bodyPr wrap="square" anchor="t">
            <a:spAutoFit/>
          </a:bodyPr>
          <a:lstStyle/>
          <a:p>
            <a:pPr algn="l">
              <a:defRPr sz="1000" b="0">
                <a:solidFill>
                  <a:srgbClr val="6E7B90"/>
                </a:solidFill>
                <a:latin typeface="Avenir Next"/>
              </a:defRPr>
            </a:pPr>
            <a:r>
              <a:t>MPI · or MPI-openmpi / MPI-mpich</a:t>
            </a:r>
          </a:p>
        </p:txBody>
      </p:sp>
      <p:sp>
        <p:nvSpPr>
          <p:cNvPr id="25" name="Rounded Rectangle 24"/>
          <p:cNvSpPr/>
          <p:nvPr/>
        </p:nvSpPr>
        <p:spPr>
          <a:xfrm>
            <a:off x="9180576"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80576" y="1645920"/>
            <a:ext cx="2048256" cy="5943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8" name="TextBox 27"/>
          <p:cNvSpPr txBox="1"/>
          <p:nvPr/>
        </p:nvSpPr>
        <p:spPr>
          <a:xfrm>
            <a:off x="9326880" y="2377440"/>
            <a:ext cx="1783080" cy="1920240"/>
          </a:xfrm>
          <a:prstGeom prst="rect">
            <a:avLst/>
          </a:prstGeom>
          <a:noFill/>
        </p:spPr>
        <p:txBody>
          <a:bodyPr wrap="square" anchor="t">
            <a:spAutoFit/>
          </a:bodyPr>
          <a:lstStyle/>
          <a:p>
            <a:pPr algn="l">
              <a:defRPr sz="1100" b="0">
                <a:solidFill>
                  <a:srgbClr val="3B4A63"/>
                </a:solidFill>
                <a:latin typeface="Avenir Next"/>
              </a:defRPr>
            </a:pPr>
            <a:r>
              <a:t>The full MPI roster plus the GPU payload. Load GPU instead of MPI, not in addition.</a:t>
            </a:r>
          </a:p>
        </p:txBody>
      </p:sp>
      <p:sp>
        <p:nvSpPr>
          <p:cNvPr id="29" name="TextBox 28"/>
          <p:cNvSpPr txBox="1"/>
          <p:nvPr/>
        </p:nvSpPr>
        <p:spPr>
          <a:xfrm>
            <a:off x="9326880" y="4343400"/>
            <a:ext cx="1783080" cy="640080"/>
          </a:xfrm>
          <a:prstGeom prst="rect">
            <a:avLst/>
          </a:prstGeom>
          <a:noFill/>
        </p:spPr>
        <p:txBody>
          <a:bodyPr wrap="square" anchor="t">
            <a:spAutoFit/>
          </a:bodyPr>
          <a:lstStyle/>
          <a:p>
            <a:pPr algn="l">
              <a:defRPr sz="1000" b="0">
                <a:solidFill>
                  <a:srgbClr val="6E7B90"/>
                </a:solidFill>
                <a:latin typeface="Avenir Next"/>
              </a:defRPr>
            </a:pPr>
            <a:r>
              <a:t>GPU · or GPU-gfx90a / GPU-gfx942</a:t>
            </a:r>
          </a:p>
        </p:txBody>
      </p:sp>
      <p:sp>
        <p:nvSpPr>
          <p:cNvPr id="30" name="Rounded Rectangle 29"/>
          <p:cNvSpPr/>
          <p:nvPr/>
        </p:nvSpPr>
        <p:spPr>
          <a:xfrm>
            <a:off x="548640" y="52578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Pilot scope</a:t>
            </a:r>
          </a:p>
        </p:txBody>
      </p:sp>
      <p:sp>
        <p:nvSpPr>
          <p:cNvPr id="5" name="Rounded Rectangle 4"/>
          <p:cNvSpPr/>
          <p:nvPr/>
        </p:nvSpPr>
        <p:spPr>
          <a:xfrm>
            <a:off x="548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10512"/>
            <a:ext cx="4937760" cy="457200"/>
          </a:xfrm>
          <a:prstGeom prst="rect">
            <a:avLst/>
          </a:prstGeom>
          <a:noFill/>
        </p:spPr>
        <p:txBody>
          <a:bodyPr wrap="square" anchor="t">
            <a:spAutoFit/>
          </a:bodyPr>
          <a:lstStyle/>
          <a:p>
            <a:pPr algn="l">
              <a:defRPr sz="1600" b="1">
                <a:solidFill>
                  <a:srgbClr val="16243D"/>
                </a:solidFill>
                <a:latin typeface="Avenir Next"/>
              </a:defRPr>
            </a:pPr>
            <a:r>
              <a:t>cse/&lt;SystemDefault&gt;</a:t>
            </a:r>
          </a:p>
        </p:txBody>
      </p:sp>
      <p:sp>
        <p:nvSpPr>
          <p:cNvPr id="7" name="TextBox 6"/>
          <p:cNvSpPr txBox="1"/>
          <p:nvPr/>
        </p:nvSpPr>
        <p:spPr>
          <a:xfrm>
            <a:off x="777240" y="2286000"/>
            <a:ext cx="4937760" cy="365760"/>
          </a:xfrm>
          <a:prstGeom prst="rect">
            <a:avLst/>
          </a:prstGeom>
          <a:noFill/>
        </p:spPr>
        <p:txBody>
          <a:bodyPr wrap="square" anchor="t">
            <a:spAutoFit/>
          </a:bodyPr>
          <a:lstStyle/>
          <a:p>
            <a:pPr algn="l">
              <a:defRPr sz="1200" b="0">
                <a:solidFill>
                  <a:srgbClr val="6E7B90"/>
                </a:solidFill>
                <a:latin typeface="Avenir Next"/>
              </a:defRPr>
            </a:pPr>
            <a:r>
              <a:t>whatever the machine blesses as its baseline</a:t>
            </a:r>
          </a:p>
        </p:txBody>
      </p:sp>
      <p:sp>
        <p:nvSpPr>
          <p:cNvPr id="8" name="Rounded Rectangle 7"/>
          <p:cNvSpPr/>
          <p:nvPr/>
        </p:nvSpPr>
        <p:spPr>
          <a:xfrm>
            <a:off x="822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9" name="Rounded Rectangle 8"/>
          <p:cNvSpPr/>
          <p:nvPr/>
        </p:nvSpPr>
        <p:spPr>
          <a:xfrm>
            <a:off x="2468880"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0" name="Rounded Rectangle 9"/>
          <p:cNvSpPr/>
          <p:nvPr/>
        </p:nvSpPr>
        <p:spPr>
          <a:xfrm>
            <a:off x="4114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1" name="Rounded Rectangle 10"/>
          <p:cNvSpPr/>
          <p:nvPr/>
        </p:nvSpPr>
        <p:spPr>
          <a:xfrm>
            <a:off x="822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16243D"/>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E7B90"/>
                </a:solidFill>
                <a:latin typeface="Avenir Next"/>
              </a:defRPr>
            </a:pPr>
            <a:r>
              <a:t>the portable reference surface</a:t>
            </a:r>
          </a:p>
        </p:txBody>
      </p:sp>
      <p:sp>
        <p:nvSpPr>
          <p:cNvPr id="17" name="Rounded Rectangle 16"/>
          <p:cNvSpPr/>
          <p:nvPr/>
        </p:nvSpPr>
        <p:spPr>
          <a:xfrm>
            <a:off x="6537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8" name="Rounded Rectangle 17"/>
          <p:cNvSpPr/>
          <p:nvPr/>
        </p:nvSpPr>
        <p:spPr>
          <a:xfrm>
            <a:off x="8183879"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9" name="Rounded Rectangle 18"/>
          <p:cNvSpPr/>
          <p:nvPr/>
        </p:nvSpPr>
        <p:spPr>
          <a:xfrm>
            <a:off x="9829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0" name="Rounded Rectangle 19"/>
          <p:cNvSpPr/>
          <p:nvPr/>
        </p:nvSpPr>
        <p:spPr>
          <a:xfrm>
            <a:off x="6537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1" name="Rounded Rectangle 20"/>
          <p:cNvSpPr/>
          <p:nvPr/>
        </p:nvSpPr>
        <p:spPr>
          <a:xfrm>
            <a:off x="8183879"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2" name="Rounded Rectangle 21"/>
          <p:cNvSpPr/>
          <p:nvPr/>
        </p:nvSpPr>
        <p:spPr>
          <a:xfrm>
            <a:off x="9829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3" name="TextBox 22"/>
          <p:cNvSpPr txBox="1"/>
          <p:nvPr/>
        </p:nvSpPr>
        <p:spPr>
          <a:xfrm>
            <a:off x="548640" y="4526280"/>
            <a:ext cx="10972800" cy="365760"/>
          </a:xfrm>
          <a:prstGeom prst="rect">
            <a:avLst/>
          </a:prstGeom>
          <a:noFill/>
        </p:spPr>
        <p:txBody>
          <a:bodyPr wrap="square" anchor="t">
            <a:spAutoFit/>
          </a:bodyPr>
          <a:lstStyle/>
          <a:p>
            <a:pPr algn="l">
              <a:defRPr sz="1300" b="1">
                <a:solidFill>
                  <a:srgbClr val="16243D"/>
                </a:solidFill>
                <a:latin typeface="Avenir Next"/>
              </a:defRPr>
            </a:pPr>
            <a:r>
              <a:t>Representative roster: newest two supported releases</a:t>
            </a:r>
          </a:p>
        </p:txBody>
      </p:sp>
      <p:sp>
        <p:nvSpPr>
          <p:cNvPr id="24" name="Rounded Rectangle 23"/>
          <p:cNvSpPr/>
          <p:nvPr/>
        </p:nvSpPr>
        <p:spPr>
          <a:xfrm>
            <a:off x="54864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a:t>
            </a:r>
          </a:p>
        </p:txBody>
      </p:sp>
      <p:sp>
        <p:nvSpPr>
          <p:cNvPr id="25" name="Rounded Rectangle 24"/>
          <p:cNvSpPr/>
          <p:nvPr/>
        </p:nvSpPr>
        <p:spPr>
          <a:xfrm>
            <a:off x="217627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6" name="Rounded Rectangle 25"/>
          <p:cNvSpPr/>
          <p:nvPr/>
        </p:nvSpPr>
        <p:spPr>
          <a:xfrm>
            <a:off x="3803904"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NetCDF-Fortran</a:t>
            </a:r>
          </a:p>
        </p:txBody>
      </p:sp>
      <p:sp>
        <p:nvSpPr>
          <p:cNvPr id="27" name="Rounded Rectangle 26"/>
          <p:cNvSpPr/>
          <p:nvPr/>
        </p:nvSpPr>
        <p:spPr>
          <a:xfrm>
            <a:off x="5431536"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8" name="Rounded Rectangle 27"/>
          <p:cNvSpPr/>
          <p:nvPr/>
        </p:nvSpPr>
        <p:spPr>
          <a:xfrm>
            <a:off x="7059168"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29" name="Rounded Rectangle 28"/>
          <p:cNvSpPr/>
          <p:nvPr/>
        </p:nvSpPr>
        <p:spPr>
          <a:xfrm>
            <a:off x="868680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30" name="Rounded Rectangle 29"/>
          <p:cNvSpPr/>
          <p:nvPr/>
        </p:nvSpPr>
        <p:spPr>
          <a:xfrm>
            <a:off x="1031443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31" name="Rounded Rectangle 30"/>
          <p:cNvSpPr/>
          <p:nvPr/>
        </p:nvSpPr>
        <p:spPr>
          <a:xfrm>
            <a:off x="54864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32" name="Rounded Rectangle 31"/>
          <p:cNvSpPr/>
          <p:nvPr/>
        </p:nvSpPr>
        <p:spPr>
          <a:xfrm>
            <a:off x="217627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33" name="Rounded Rectangle 32"/>
          <p:cNvSpPr/>
          <p:nvPr/>
        </p:nvSpPr>
        <p:spPr>
          <a:xfrm>
            <a:off x="3803904"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Dakota</a:t>
            </a:r>
          </a:p>
        </p:txBody>
      </p:sp>
      <p:sp>
        <p:nvSpPr>
          <p:cNvPr id="34" name="Rounded Rectangle 33"/>
          <p:cNvSpPr/>
          <p:nvPr/>
        </p:nvSpPr>
        <p:spPr>
          <a:xfrm>
            <a:off x="5431536"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Kokkos</a:t>
            </a:r>
          </a:p>
        </p:txBody>
      </p:sp>
      <p:sp>
        <p:nvSpPr>
          <p:cNvPr id="35" name="Rounded Rectangle 34"/>
          <p:cNvSpPr/>
          <p:nvPr/>
        </p:nvSpPr>
        <p:spPr>
          <a:xfrm>
            <a:off x="7059168"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Gnuplot</a:t>
            </a:r>
          </a:p>
        </p:txBody>
      </p:sp>
      <p:sp>
        <p:nvSpPr>
          <p:cNvPr id="36" name="Rounded Rectangle 35"/>
          <p:cNvSpPr/>
          <p:nvPr/>
        </p:nvSpPr>
        <p:spPr>
          <a:xfrm>
            <a:off x="868680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37" name="Rounded Rectangle 36"/>
          <p:cNvSpPr/>
          <p:nvPr/>
        </p:nvSpPr>
        <p:spPr>
          <a:xfrm>
            <a:off x="1031443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Miniforge</a:t>
            </a:r>
          </a:p>
        </p:txBody>
      </p:sp>
      <p:sp>
        <p:nvSpPr>
          <p:cNvPr id="38" name="TextBox 37"/>
          <p:cNvSpPr txBox="1"/>
          <p:nvPr/>
        </p:nvSpPr>
        <p:spPr>
          <a:xfrm>
            <a:off x="548640" y="6080760"/>
            <a:ext cx="11064240" cy="457200"/>
          </a:xfrm>
          <a:prstGeom prst="rect">
            <a:avLst/>
          </a:prstGeom>
          <a:noFill/>
        </p:spPr>
        <p:txBody>
          <a:bodyPr wrap="square" anchor="t">
            <a:spAutoFit/>
          </a:bodyPr>
          <a:lstStyle/>
          <a:p>
            <a:pPr algn="l">
              <a:defRPr sz="1200" b="0">
                <a:solidFill>
                  <a:srgbClr val="6E7B90"/>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Four systems will prove the pilot</a:t>
            </a:r>
          </a:p>
        </p:txBody>
      </p:sp>
      <p:sp>
        <p:nvSpPr>
          <p:cNvPr id="5" name="Rounded Rectangle 4"/>
          <p:cNvSpPr/>
          <p:nvPr/>
        </p:nvSpPr>
        <p:spPr>
          <a:xfrm>
            <a:off x="548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73936"/>
            <a:ext cx="1920240" cy="365760"/>
          </a:xfrm>
          <a:prstGeom prst="rect">
            <a:avLst/>
          </a:prstGeom>
          <a:noFill/>
        </p:spPr>
        <p:txBody>
          <a:bodyPr wrap="square" anchor="t">
            <a:spAutoFit/>
          </a:bodyPr>
          <a:lstStyle/>
          <a:p>
            <a:pPr algn="l">
              <a:defRPr sz="1700" b="1">
                <a:solidFill>
                  <a:srgbClr val="6D4EAA"/>
                </a:solidFill>
                <a:latin typeface="Avenir Next"/>
              </a:defRPr>
            </a:pPr>
            <a:r>
              <a:t>Blueback</a:t>
            </a:r>
          </a:p>
        </p:txBody>
      </p:sp>
      <p:sp>
        <p:nvSpPr>
          <p:cNvPr id="7" name="TextBox 6"/>
          <p:cNvSpPr txBox="1"/>
          <p:nvPr/>
        </p:nvSpPr>
        <p:spPr>
          <a:xfrm>
            <a:off x="2697480" y="1801368"/>
            <a:ext cx="2971800" cy="320040"/>
          </a:xfrm>
          <a:prstGeom prst="rect">
            <a:avLst/>
          </a:prstGeom>
          <a:noFill/>
        </p:spPr>
        <p:txBody>
          <a:bodyPr wrap="square" anchor="t">
            <a:spAutoFit/>
          </a:bodyPr>
          <a:lstStyle/>
          <a:p>
            <a:pPr algn="r">
              <a:defRPr sz="1150" b="1">
                <a:solidFill>
                  <a:srgbClr val="6D4EAA"/>
                </a:solidFill>
                <a:latin typeface="Avenir Next"/>
              </a:defRPr>
            </a:pPr>
            <a:r>
              <a:t>CRAY PE · AMD APU</a:t>
            </a:r>
          </a:p>
        </p:txBody>
      </p:sp>
      <p:sp>
        <p:nvSpPr>
          <p:cNvPr id="8" name="TextBox 7"/>
          <p:cNvSpPr txBox="1"/>
          <p:nvPr/>
        </p:nvSpPr>
        <p:spPr>
          <a:xfrm>
            <a:off x="822959" y="2221992"/>
            <a:ext cx="4846320" cy="292608"/>
          </a:xfrm>
          <a:prstGeom prst="rect">
            <a:avLst/>
          </a:prstGeom>
          <a:noFill/>
        </p:spPr>
        <p:txBody>
          <a:bodyPr wrap="square" anchor="t">
            <a:spAutoFit/>
          </a:bodyPr>
          <a:lstStyle/>
          <a:p>
            <a:pPr algn="l">
              <a:defRPr sz="1250" b="1">
                <a:solidFill>
                  <a:srgbClr val="3B4A63"/>
                </a:solidFill>
                <a:latin typeface="Avenir Next"/>
              </a:defRPr>
            </a:pPr>
            <a:r>
              <a:t>NAVY · HPE Cray EX4000 · SLES · Slurm</a:t>
            </a:r>
          </a:p>
        </p:txBody>
      </p:sp>
      <p:sp>
        <p:nvSpPr>
          <p:cNvPr id="9" name="TextBox 8"/>
          <p:cNvSpPr txBox="1"/>
          <p:nvPr/>
        </p:nvSpPr>
        <p:spPr>
          <a:xfrm>
            <a:off x="822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9654 Genoa, 192 cores</a:t>
            </a:r>
          </a:p>
        </p:txBody>
      </p:sp>
      <p:sp>
        <p:nvSpPr>
          <p:cNvPr id="10" name="TextBox 9"/>
          <p:cNvSpPr txBox="1"/>
          <p:nvPr/>
        </p:nvSpPr>
        <p:spPr>
          <a:xfrm>
            <a:off x="822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AMD Instinct MI300A APU, 96 cores + 4 × MI300A</a:t>
            </a:r>
          </a:p>
        </p:txBody>
      </p:sp>
      <p:sp>
        <p:nvSpPr>
          <p:cNvPr id="11" name="Rounded Rectangle 10"/>
          <p:cNvSpPr/>
          <p:nvPr/>
        </p:nvSpPr>
        <p:spPr>
          <a:xfrm>
            <a:off x="6263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773936"/>
            <a:ext cx="1920240" cy="365760"/>
          </a:xfrm>
          <a:prstGeom prst="rect">
            <a:avLst/>
          </a:prstGeom>
          <a:noFill/>
        </p:spPr>
        <p:txBody>
          <a:bodyPr wrap="square" anchor="t">
            <a:spAutoFit/>
          </a:bodyPr>
          <a:lstStyle/>
          <a:p>
            <a:pPr algn="l">
              <a:defRPr sz="1700" b="1">
                <a:solidFill>
                  <a:srgbClr val="2B62B8"/>
                </a:solidFill>
                <a:latin typeface="Avenir Next"/>
              </a:defRPr>
            </a:pPr>
            <a:r>
              <a:t>Fran</a:t>
            </a:r>
          </a:p>
        </p:txBody>
      </p:sp>
      <p:sp>
        <p:nvSpPr>
          <p:cNvPr id="13" name="TextBox 12"/>
          <p:cNvSpPr txBox="1"/>
          <p:nvPr/>
        </p:nvSpPr>
        <p:spPr>
          <a:xfrm>
            <a:off x="8412480" y="1801368"/>
            <a:ext cx="2971800" cy="320040"/>
          </a:xfrm>
          <a:prstGeom prst="rect">
            <a:avLst/>
          </a:prstGeom>
          <a:noFill/>
        </p:spPr>
        <p:txBody>
          <a:bodyPr wrap="square" anchor="t">
            <a:spAutoFit/>
          </a:bodyPr>
          <a:lstStyle/>
          <a:p>
            <a:pPr algn="r">
              <a:defRPr sz="1150" b="1">
                <a:solidFill>
                  <a:srgbClr val="2B62B8"/>
                </a:solidFill>
                <a:latin typeface="Avenir Next"/>
              </a:defRPr>
            </a:pPr>
            <a:r>
              <a:t>SECOND CRAY SITE · NEWEST NVIDIA</a:t>
            </a:r>
          </a:p>
        </p:txBody>
      </p:sp>
      <p:sp>
        <p:nvSpPr>
          <p:cNvPr id="14" name="TextBox 13"/>
          <p:cNvSpPr txBox="1"/>
          <p:nvPr/>
        </p:nvSpPr>
        <p:spPr>
          <a:xfrm>
            <a:off x="6537959" y="2221992"/>
            <a:ext cx="4846320" cy="292608"/>
          </a:xfrm>
          <a:prstGeom prst="rect">
            <a:avLst/>
          </a:prstGeom>
          <a:noFill/>
        </p:spPr>
        <p:txBody>
          <a:bodyPr wrap="square" anchor="t">
            <a:spAutoFit/>
          </a:bodyPr>
          <a:lstStyle/>
          <a:p>
            <a:pPr algn="l">
              <a:defRPr sz="1250" b="1">
                <a:solidFill>
                  <a:srgbClr val="3B4A63"/>
                </a:solidFill>
                <a:latin typeface="Avenir Next"/>
              </a:defRPr>
            </a:pPr>
            <a:r>
              <a:t>ARL · HPE Cray EX4000 · RHEL 9 · Slurm</a:t>
            </a:r>
          </a:p>
        </p:txBody>
      </p:sp>
      <p:sp>
        <p:nvSpPr>
          <p:cNvPr id="15" name="TextBox 14"/>
          <p:cNvSpPr txBox="1"/>
          <p:nvPr/>
        </p:nvSpPr>
        <p:spPr>
          <a:xfrm>
            <a:off x="6537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Genoa, 192 cores</a:t>
            </a:r>
          </a:p>
        </p:txBody>
      </p:sp>
      <p:sp>
        <p:nvSpPr>
          <p:cNvPr id="16" name="TextBox 15"/>
          <p:cNvSpPr txBox="1"/>
          <p:nvPr/>
        </p:nvSpPr>
        <p:spPr>
          <a:xfrm>
            <a:off x="6537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NVIDIA H200</a:t>
            </a:r>
          </a:p>
        </p:txBody>
      </p:sp>
      <p:sp>
        <p:nvSpPr>
          <p:cNvPr id="17" name="Rounded Rectangle 16"/>
          <p:cNvSpPr/>
          <p:nvPr/>
        </p:nvSpPr>
        <p:spPr>
          <a:xfrm>
            <a:off x="548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831336"/>
            <a:ext cx="1920240" cy="365760"/>
          </a:xfrm>
          <a:prstGeom prst="rect">
            <a:avLst/>
          </a:prstGeom>
          <a:noFill/>
        </p:spPr>
        <p:txBody>
          <a:bodyPr wrap="square" anchor="t">
            <a:spAutoFit/>
          </a:bodyPr>
          <a:lstStyle/>
          <a:p>
            <a:pPr algn="l">
              <a:defRPr sz="1700" b="1">
                <a:solidFill>
                  <a:srgbClr val="117A72"/>
                </a:solidFill>
                <a:latin typeface="Avenir Next"/>
              </a:defRPr>
            </a:pPr>
            <a:r>
              <a:t>Raider</a:t>
            </a:r>
          </a:p>
        </p:txBody>
      </p:sp>
      <p:sp>
        <p:nvSpPr>
          <p:cNvPr id="19" name="TextBox 18"/>
          <p:cNvSpPr txBox="1"/>
          <p:nvPr/>
        </p:nvSpPr>
        <p:spPr>
          <a:xfrm>
            <a:off x="2697480" y="3858768"/>
            <a:ext cx="2971800" cy="320040"/>
          </a:xfrm>
          <a:prstGeom prst="rect">
            <a:avLst/>
          </a:prstGeom>
          <a:noFill/>
        </p:spPr>
        <p:txBody>
          <a:bodyPr wrap="square" anchor="t">
            <a:spAutoFit/>
          </a:bodyPr>
          <a:lstStyle/>
          <a:p>
            <a:pPr algn="r">
              <a:defRPr sz="1150" b="1">
                <a:solidFill>
                  <a:srgbClr val="117A72"/>
                </a:solidFill>
                <a:latin typeface="Avenir Next"/>
              </a:defRPr>
            </a:pPr>
            <a:r>
              <a:t>GENERIC LINUX · CUDA</a:t>
            </a:r>
          </a:p>
        </p:txBody>
      </p:sp>
      <p:sp>
        <p:nvSpPr>
          <p:cNvPr id="20" name="TextBox 19"/>
          <p:cNvSpPr txBox="1"/>
          <p:nvPr/>
        </p:nvSpPr>
        <p:spPr>
          <a:xfrm>
            <a:off x="822959" y="4279392"/>
            <a:ext cx="4846320" cy="292608"/>
          </a:xfrm>
          <a:prstGeom prst="rect">
            <a:avLst/>
          </a:prstGeom>
          <a:noFill/>
        </p:spPr>
        <p:txBody>
          <a:bodyPr wrap="square" anchor="t">
            <a:spAutoFit/>
          </a:bodyPr>
          <a:lstStyle/>
          <a:p>
            <a:pPr algn="l">
              <a:defRPr sz="1250" b="1">
                <a:solidFill>
                  <a:srgbClr val="3B4A63"/>
                </a:solidFill>
                <a:latin typeface="Avenir Next"/>
              </a:defRPr>
            </a:pPr>
            <a:r>
              <a:t>AFRL · Penguin TrueHPC · RHEL 8 · Slurm</a:t>
            </a:r>
          </a:p>
        </p:txBody>
      </p:sp>
      <p:sp>
        <p:nvSpPr>
          <p:cNvPr id="21" name="TextBox 20"/>
          <p:cNvSpPr txBox="1"/>
          <p:nvPr/>
        </p:nvSpPr>
        <p:spPr>
          <a:xfrm>
            <a:off x="822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7713 Milan, 128 cores</a:t>
            </a:r>
          </a:p>
        </p:txBody>
      </p:sp>
      <p:sp>
        <p:nvSpPr>
          <p:cNvPr id="22" name="TextBox 21"/>
          <p:cNvSpPr txBox="1"/>
          <p:nvPr/>
        </p:nvSpPr>
        <p:spPr>
          <a:xfrm>
            <a:off x="822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 NVIDIA A100 SXM4</a:t>
            </a:r>
          </a:p>
        </p:txBody>
      </p:sp>
      <p:sp>
        <p:nvSpPr>
          <p:cNvPr id="23" name="Rounded Rectangle 22"/>
          <p:cNvSpPr/>
          <p:nvPr/>
        </p:nvSpPr>
        <p:spPr>
          <a:xfrm>
            <a:off x="6263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59" y="3831336"/>
            <a:ext cx="1920240" cy="365760"/>
          </a:xfrm>
          <a:prstGeom prst="rect">
            <a:avLst/>
          </a:prstGeom>
          <a:noFill/>
        </p:spPr>
        <p:txBody>
          <a:bodyPr wrap="square" anchor="t">
            <a:spAutoFit/>
          </a:bodyPr>
          <a:lstStyle/>
          <a:p>
            <a:pPr algn="l">
              <a:defRPr sz="1700" b="1">
                <a:solidFill>
                  <a:srgbClr val="BA740E"/>
                </a:solidFill>
                <a:latin typeface="Avenir Next"/>
              </a:defRPr>
            </a:pPr>
            <a:r>
              <a:t>Wheat</a:t>
            </a:r>
          </a:p>
        </p:txBody>
      </p:sp>
      <p:sp>
        <p:nvSpPr>
          <p:cNvPr id="25" name="TextBox 24"/>
          <p:cNvSpPr txBox="1"/>
          <p:nvPr/>
        </p:nvSpPr>
        <p:spPr>
          <a:xfrm>
            <a:off x="8412480" y="3858768"/>
            <a:ext cx="2971800" cy="320040"/>
          </a:xfrm>
          <a:prstGeom prst="rect">
            <a:avLst/>
          </a:prstGeom>
          <a:noFill/>
        </p:spPr>
        <p:txBody>
          <a:bodyPr wrap="square" anchor="t">
            <a:spAutoFit/>
          </a:bodyPr>
          <a:lstStyle/>
          <a:p>
            <a:pPr algn="r">
              <a:defRPr sz="1150" b="1">
                <a:solidFill>
                  <a:srgbClr val="BA740E"/>
                </a:solidFill>
                <a:latin typeface="Avenir Next"/>
              </a:defRPr>
            </a:pPr>
            <a:r>
              <a:t>INTEL CPU · COMPOSABLE GPU</a:t>
            </a:r>
          </a:p>
        </p:txBody>
      </p:sp>
      <p:sp>
        <p:nvSpPr>
          <p:cNvPr id="26" name="TextBox 25"/>
          <p:cNvSpPr txBox="1"/>
          <p:nvPr/>
        </p:nvSpPr>
        <p:spPr>
          <a:xfrm>
            <a:off x="6537959" y="4279392"/>
            <a:ext cx="4846320" cy="292608"/>
          </a:xfrm>
          <a:prstGeom prst="rect">
            <a:avLst/>
          </a:prstGeom>
          <a:noFill/>
        </p:spPr>
        <p:txBody>
          <a:bodyPr wrap="square" anchor="t">
            <a:spAutoFit/>
          </a:bodyPr>
          <a:lstStyle/>
          <a:p>
            <a:pPr algn="l">
              <a:defRPr sz="1250" b="1">
                <a:solidFill>
                  <a:srgbClr val="3B4A63"/>
                </a:solidFill>
                <a:latin typeface="Avenir Next"/>
              </a:defRPr>
            </a:pPr>
            <a:r>
              <a:t>ERDC · Liqid composable · RHEL 8 · PBS</a:t>
            </a:r>
          </a:p>
        </p:txBody>
      </p:sp>
      <p:sp>
        <p:nvSpPr>
          <p:cNvPr id="27" name="TextBox 26"/>
          <p:cNvSpPr txBox="1"/>
          <p:nvPr/>
        </p:nvSpPr>
        <p:spPr>
          <a:xfrm>
            <a:off x="6537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Intel Xeon 9242 Cascade Lake, 92 cores</a:t>
            </a:r>
          </a:p>
        </p:txBody>
      </p:sp>
      <p:sp>
        <p:nvSpPr>
          <p:cNvPr id="28" name="TextBox 27"/>
          <p:cNvSpPr txBox="1"/>
          <p:nvPr/>
        </p:nvSpPr>
        <p:spPr>
          <a:xfrm>
            <a:off x="6537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or 6 × NVIDIA A100</a:t>
            </a:r>
          </a:p>
        </p:txBody>
      </p:sp>
      <p:sp>
        <p:nvSpPr>
          <p:cNvPr id="29" name="Rounded Rectangle 28"/>
          <p:cNvSpPr/>
          <p:nvPr/>
        </p:nvSpPr>
        <p:spPr>
          <a:xfrm>
            <a:off x="548640" y="5806440"/>
            <a:ext cx="11091672" cy="53035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Coverage: SLES + RHEL 8/9 · AMD + Intel CPUs · MI300A + H200 + A100 · Slurm + PBS</a:t>
            </a:r>
          </a:p>
        </p:txBody>
      </p:sp>
      <p:sp>
        <p:nvSpPr>
          <p:cNvPr id="30" name="TextBox 29"/>
          <p:cNvSpPr txBox="1"/>
          <p:nvPr/>
        </p:nvSpPr>
        <p:spPr>
          <a:xfrm>
            <a:off x="548640" y="6419088"/>
            <a:ext cx="11064240" cy="219456"/>
          </a:xfrm>
          <a:prstGeom prst="rect">
            <a:avLst/>
          </a:prstGeom>
          <a:noFill/>
        </p:spPr>
        <p:txBody>
          <a:bodyPr wrap="square" anchor="t">
            <a:spAutoFit/>
          </a:bodyPr>
          <a:lstStyle/>
          <a:p>
            <a:pPr algn="r">
              <a:defRPr sz="950" b="0">
                <a:solidFill>
                  <a:srgbClr val="6E7B90"/>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happens next</a:t>
            </a:r>
          </a:p>
        </p:txBody>
      </p:sp>
      <p:sp>
        <p:nvSpPr>
          <p:cNvPr id="5" name="Rounded Rectangle 4"/>
          <p:cNvSpPr/>
          <p:nvPr/>
        </p:nvSpPr>
        <p:spPr>
          <a:xfrm>
            <a:off x="548640" y="1645920"/>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66928" cy="10515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7" name="TextBox 6"/>
          <p:cNvSpPr txBox="1"/>
          <p:nvPr/>
        </p:nvSpPr>
        <p:spPr>
          <a:xfrm>
            <a:off x="1325880" y="1810512"/>
            <a:ext cx="10058400" cy="310896"/>
          </a:xfrm>
          <a:prstGeom prst="rect">
            <a:avLst/>
          </a:prstGeom>
          <a:noFill/>
        </p:spPr>
        <p:txBody>
          <a:bodyPr wrap="square" anchor="t">
            <a:spAutoFit/>
          </a:bodyPr>
          <a:lstStyle/>
          <a:p>
            <a:pPr algn="l">
              <a:defRPr sz="1550" b="1">
                <a:solidFill>
                  <a:srgbClr val="16243D"/>
                </a:solidFill>
                <a:latin typeface="Avenir Next"/>
              </a:defRPr>
            </a:pPr>
            <a:r>
              <a:t>Build the pilot stack on the four systems</a:t>
            </a:r>
          </a:p>
        </p:txBody>
      </p:sp>
      <p:sp>
        <p:nvSpPr>
          <p:cNvPr id="8" name="TextBox 7"/>
          <p:cNvSpPr txBox="1"/>
          <p:nvPr/>
        </p:nvSpPr>
        <p:spPr>
          <a:xfrm>
            <a:off x="1325880" y="2176272"/>
            <a:ext cx="10058400" cy="420624"/>
          </a:xfrm>
          <a:prstGeom prst="rect">
            <a:avLst/>
          </a:prstGeom>
          <a:noFill/>
        </p:spPr>
        <p:txBody>
          <a:bodyPr wrap="square" anchor="t">
            <a:spAutoFit/>
          </a:bodyPr>
          <a:lstStyle/>
          <a:p>
            <a:pPr algn="l">
              <a:defRPr sz="1150" b="0">
                <a:solidFill>
                  <a:srgbClr val="6E7B90"/>
                </a:solidFill>
                <a:latin typeface="Avenir Next"/>
              </a:defRPr>
            </a:pPr>
            <a:r>
              <a:t>Probe each machine, render its lanes, concretize, install. The front door is the first real test of the naming: one compiler surface, then one lane, then a package.</a:t>
            </a:r>
          </a:p>
        </p:txBody>
      </p:sp>
      <p:sp>
        <p:nvSpPr>
          <p:cNvPr id="9" name="Rounded Rectangle 8"/>
          <p:cNvSpPr/>
          <p:nvPr/>
        </p:nvSpPr>
        <p:spPr>
          <a:xfrm>
            <a:off x="548640" y="2852928"/>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852928"/>
            <a:ext cx="566928" cy="10515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1" name="TextBox 10"/>
          <p:cNvSpPr txBox="1"/>
          <p:nvPr/>
        </p:nvSpPr>
        <p:spPr>
          <a:xfrm>
            <a:off x="1325880" y="3017520"/>
            <a:ext cx="10058400" cy="310896"/>
          </a:xfrm>
          <a:prstGeom prst="rect">
            <a:avLst/>
          </a:prstGeom>
          <a:noFill/>
        </p:spPr>
        <p:txBody>
          <a:bodyPr wrap="square" anchor="t">
            <a:spAutoFit/>
          </a:bodyPr>
          <a:lstStyle/>
          <a:p>
            <a:pPr algn="l">
              <a:defRPr sz="1550" b="1">
                <a:solidFill>
                  <a:srgbClr val="16243D"/>
                </a:solidFill>
                <a:latin typeface="Avenir Next"/>
              </a:defRPr>
            </a:pPr>
            <a:r>
              <a:t>Prove the module contract</a:t>
            </a:r>
          </a:p>
        </p:txBody>
      </p:sp>
      <p:sp>
        <p:nvSpPr>
          <p:cNvPr id="12" name="TextBox 11"/>
          <p:cNvSpPr txBox="1"/>
          <p:nvPr/>
        </p:nvSpPr>
        <p:spPr>
          <a:xfrm>
            <a:off x="1325880" y="3383280"/>
            <a:ext cx="10058400" cy="420624"/>
          </a:xfrm>
          <a:prstGeom prst="rect">
            <a:avLst/>
          </a:prstGeom>
          <a:noFill/>
        </p:spPr>
        <p:txBody>
          <a:bodyPr wrap="square" anchor="t">
            <a:spAutoFit/>
          </a:bodyPr>
          <a:lstStyle/>
          <a:p>
            <a:pPr algn="l">
              <a:defRPr sz="1150" b="0">
                <a:solidFill>
                  <a:srgbClr val="6E7B90"/>
                </a:solidFill>
                <a:latin typeface="Avenir Next"/>
              </a:defRPr>
            </a:pPr>
            <a:r>
              <a:t>Compatible chains load and incompatible mixes fail. Lane purity and version pairing are checked in the concretized lockfile, never assumed from the render.</a:t>
            </a:r>
          </a:p>
        </p:txBody>
      </p:sp>
      <p:sp>
        <p:nvSpPr>
          <p:cNvPr id="13" name="Rounded Rectangle 12"/>
          <p:cNvSpPr/>
          <p:nvPr/>
        </p:nvSpPr>
        <p:spPr>
          <a:xfrm>
            <a:off x="548640" y="4059936"/>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059936"/>
            <a:ext cx="566928" cy="10515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5" name="TextBox 14"/>
          <p:cNvSpPr txBox="1"/>
          <p:nvPr/>
        </p:nvSpPr>
        <p:spPr>
          <a:xfrm>
            <a:off x="1325880" y="4224528"/>
            <a:ext cx="10058400" cy="310896"/>
          </a:xfrm>
          <a:prstGeom prst="rect">
            <a:avLst/>
          </a:prstGeom>
          <a:noFill/>
        </p:spPr>
        <p:txBody>
          <a:bodyPr wrap="square" anchor="t">
            <a:spAutoFit/>
          </a:bodyPr>
          <a:lstStyle/>
          <a:p>
            <a:pPr algn="l">
              <a:defRPr sz="1550" b="1">
                <a:solidFill>
                  <a:srgbClr val="16243D"/>
                </a:solidFill>
                <a:latin typeface="Avenir Next"/>
              </a:defRPr>
            </a:pPr>
            <a:r>
              <a:t>Stand up the release process</a:t>
            </a:r>
          </a:p>
        </p:txBody>
      </p:sp>
      <p:sp>
        <p:nvSpPr>
          <p:cNvPr id="16" name="TextBox 15"/>
          <p:cNvSpPr txBox="1"/>
          <p:nvPr/>
        </p:nvSpPr>
        <p:spPr>
          <a:xfrm>
            <a:off x="1325880" y="4590288"/>
            <a:ext cx="10058400" cy="420624"/>
          </a:xfrm>
          <a:prstGeom prst="rect">
            <a:avLst/>
          </a:prstGeom>
          <a:noFill/>
        </p:spPr>
        <p:txBody>
          <a:bodyPr wrap="square" anchor="t">
            <a:spAutoFit/>
          </a:bodyPr>
          <a:lstStyle/>
          <a:p>
            <a:pPr algn="l">
              <a:defRPr sz="1150" b="0">
                <a:solidFill>
                  <a:srgbClr val="6E7B90"/>
                </a:solidFill>
                <a:latin typeface="Avenir Next"/>
              </a:defRPr>
            </a:pPr>
            <a:r>
              <a:t>Build caches, a lockfile per lane, and a release manifest, so a release can be rebuilt exactly, promoted deliberately, and rolled back by moving a pointer.</a:t>
            </a:r>
          </a:p>
        </p:txBody>
      </p:sp>
      <p:sp>
        <p:nvSpPr>
          <p:cNvPr id="17" name="Rounded Rectangle 16"/>
          <p:cNvSpPr/>
          <p:nvPr/>
        </p:nvSpPr>
        <p:spPr>
          <a:xfrm>
            <a:off x="548640" y="5266944"/>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266944"/>
            <a:ext cx="566928" cy="10515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19" name="TextBox 18"/>
          <p:cNvSpPr txBox="1"/>
          <p:nvPr/>
        </p:nvSpPr>
        <p:spPr>
          <a:xfrm>
            <a:off x="1325880" y="5431536"/>
            <a:ext cx="10058400" cy="310896"/>
          </a:xfrm>
          <a:prstGeom prst="rect">
            <a:avLst/>
          </a:prstGeom>
          <a:noFill/>
        </p:spPr>
        <p:txBody>
          <a:bodyPr wrap="square" anchor="t">
            <a:spAutoFit/>
          </a:bodyPr>
          <a:lstStyle/>
          <a:p>
            <a:pPr algn="l">
              <a:defRPr sz="1550" b="1">
                <a:solidFill>
                  <a:srgbClr val="16243D"/>
                </a:solidFill>
                <a:latin typeface="Avenir Next"/>
              </a:defRPr>
            </a:pPr>
            <a:r>
              <a:t>Settle the open decisions</a:t>
            </a:r>
          </a:p>
        </p:txBody>
      </p:sp>
      <p:sp>
        <p:nvSpPr>
          <p:cNvPr id="20" name="TextBox 19"/>
          <p:cNvSpPr txBox="1"/>
          <p:nvPr/>
        </p:nvSpPr>
        <p:spPr>
          <a:xfrm>
            <a:off x="1325880" y="5797296"/>
            <a:ext cx="10058400" cy="420624"/>
          </a:xfrm>
          <a:prstGeom prst="rect">
            <a:avLst/>
          </a:prstGeom>
          <a:noFill/>
        </p:spPr>
        <p:txBody>
          <a:bodyPr wrap="square" anchor="t">
            <a:spAutoFit/>
          </a:bodyPr>
          <a:lstStyle/>
          <a:p>
            <a:pPr algn="l">
              <a:defRPr sz="1150" b="0">
                <a:solidFill>
                  <a:srgbClr val="6E7B90"/>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Open questions for the team</a:t>
            </a:r>
          </a:p>
        </p:txBody>
      </p:sp>
      <p:sp>
        <p:nvSpPr>
          <p:cNvPr id="5" name="Rounded Rectangle 4"/>
          <p:cNvSpPr/>
          <p:nvPr/>
        </p:nvSpPr>
        <p:spPr>
          <a:xfrm>
            <a:off x="548640" y="146304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45336"/>
            <a:ext cx="10515600" cy="274320"/>
          </a:xfrm>
          <a:prstGeom prst="rect">
            <a:avLst/>
          </a:prstGeom>
          <a:noFill/>
        </p:spPr>
        <p:txBody>
          <a:bodyPr wrap="square" anchor="t">
            <a:spAutoFit/>
          </a:bodyPr>
          <a:lstStyle/>
          <a:p>
            <a:pPr algn="l">
              <a:defRPr sz="1300" b="1">
                <a:solidFill>
                  <a:srgbClr val="117A72"/>
                </a:solidFill>
                <a:latin typeface="Avenir Next"/>
              </a:defRPr>
            </a:pPr>
            <a:r>
              <a:t>Which compiler surfaces does the pilot carry?</a:t>
            </a:r>
          </a:p>
        </p:txBody>
      </p:sp>
      <p:sp>
        <p:nvSpPr>
          <p:cNvPr id="7" name="TextBox 6"/>
          <p:cNvSpPr txBox="1"/>
          <p:nvPr/>
        </p:nvSpPr>
        <p:spPr>
          <a:xfrm>
            <a:off x="868680" y="1828800"/>
            <a:ext cx="10515600" cy="457200"/>
          </a:xfrm>
          <a:prstGeom prst="rect">
            <a:avLst/>
          </a:prstGeom>
          <a:noFill/>
        </p:spPr>
        <p:txBody>
          <a:bodyPr wrap="square" anchor="t">
            <a:spAutoFit/>
          </a:bodyPr>
          <a:lstStyle/>
          <a:p>
            <a:pPr algn="l">
              <a:defRPr sz="1000" b="0">
                <a:solidFill>
                  <a:srgbClr val="6E7B90"/>
                </a:solidFill>
                <a:latin typeface="Avenir Next"/>
              </a:defRPr>
            </a:pPr>
            <a:r>
              <a:t>Two per system: the one the machine blesses as its baseline, plus GCC as the portable reference. CSEinit offers GCC and Intel today, so whether Intel stays one of the two on the systems that have it is the open part.</a:t>
            </a:r>
          </a:p>
        </p:txBody>
      </p:sp>
      <p:sp>
        <p:nvSpPr>
          <p:cNvPr id="8" name="Rounded Rectangle 7"/>
          <p:cNvSpPr/>
          <p:nvPr/>
        </p:nvSpPr>
        <p:spPr>
          <a:xfrm>
            <a:off x="548640" y="2345436"/>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27732"/>
            <a:ext cx="10515600" cy="274320"/>
          </a:xfrm>
          <a:prstGeom prst="rect">
            <a:avLst/>
          </a:prstGeom>
          <a:noFill/>
        </p:spPr>
        <p:txBody>
          <a:bodyPr wrap="square" anchor="t">
            <a:spAutoFit/>
          </a:bodyPr>
          <a:lstStyle/>
          <a:p>
            <a:pPr algn="l">
              <a:defRPr sz="1300" b="1">
                <a:solidFill>
                  <a:srgbClr val="BA740E"/>
                </a:solidFill>
                <a:latin typeface="Avenir Next"/>
              </a:defRPr>
            </a:pPr>
            <a:r>
              <a:t>Is a separate Serial lane worth its own builds?</a:t>
            </a:r>
          </a:p>
        </p:txBody>
      </p:sp>
      <p:sp>
        <p:nvSpPr>
          <p:cNvPr id="10" name="TextBox 9"/>
          <p:cNvSpPr txBox="1"/>
          <p:nvPr/>
        </p:nvSpPr>
        <p:spPr>
          <a:xfrm>
            <a:off x="868680" y="2711196"/>
            <a:ext cx="10515600" cy="457200"/>
          </a:xfrm>
          <a:prstGeom prst="rect">
            <a:avLst/>
          </a:prstGeom>
          <a:noFill/>
        </p:spPr>
        <p:txBody>
          <a:bodyPr wrap="square" anchor="t">
            <a:spAutoFit/>
          </a:bodyPr>
          <a:lstStyle/>
          <a:p>
            <a:pPr algn="l">
              <a:defRPr sz="1000" b="0">
                <a:solidFill>
                  <a:srgbClr val="6E7B90"/>
                </a:solidFill>
                <a:latin typeface="Avenir Next"/>
              </a:defRPr>
            </a:pPr>
            <a:r>
              <a:t>Serial spares users who are not running parallel from the MPI runtime: login-node analysis, post-processing, small tools, anything linking HDF5 or NetCDF without libmpi behind it. The cost is a second build of those packages. Worth it, or does one MPI build on a single rank cover them?</a:t>
            </a:r>
          </a:p>
        </p:txBody>
      </p:sp>
      <p:sp>
        <p:nvSpPr>
          <p:cNvPr id="11" name="Rounded Rectangle 10"/>
          <p:cNvSpPr/>
          <p:nvPr/>
        </p:nvSpPr>
        <p:spPr>
          <a:xfrm>
            <a:off x="548640" y="3227832"/>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10128"/>
            <a:ext cx="10515600" cy="274320"/>
          </a:xfrm>
          <a:prstGeom prst="rect">
            <a:avLst/>
          </a:prstGeom>
          <a:noFill/>
        </p:spPr>
        <p:txBody>
          <a:bodyPr wrap="square" anchor="t">
            <a:spAutoFit/>
          </a:bodyPr>
          <a:lstStyle/>
          <a:p>
            <a:pPr algn="l">
              <a:defRPr sz="1300" b="1">
                <a:solidFill>
                  <a:srgbClr val="2B62B8"/>
                </a:solidFill>
                <a:latin typeface="Avenir Next"/>
              </a:defRPr>
            </a:pPr>
            <a:r>
              <a:t>Do we anchor the older version to what the systems run today?</a:t>
            </a:r>
          </a:p>
        </p:txBody>
      </p:sp>
      <p:sp>
        <p:nvSpPr>
          <p:cNvPr id="13" name="TextBox 12"/>
          <p:cNvSpPr txBox="1"/>
          <p:nvPr/>
        </p:nvSpPr>
        <p:spPr>
          <a:xfrm>
            <a:off x="868680" y="3593592"/>
            <a:ext cx="10515600" cy="457200"/>
          </a:xfrm>
          <a:prstGeom prst="rect">
            <a:avLst/>
          </a:prstGeom>
          <a:noFill/>
        </p:spPr>
        <p:txBody>
          <a:bodyPr wrap="square" anchor="t">
            <a:spAutoFit/>
          </a:bodyPr>
          <a:lstStyle/>
          <a:p>
            <a:pPr algn="l">
              <a:defRPr sz="1000" b="0">
                <a:solidFill>
                  <a:srgbClr val="6E7B90"/>
                </a:solidFill>
                <a:latin typeface="Avenir Next"/>
              </a:defRPr>
            </a:pPr>
            <a:r>
              <a:t>Each package carries two versions, and the newer is always the newest release. The older is the open part: match what is deployed on the systems now so existing code keeps building, or just carry the previous release and move users up. Decide before the roster locks.</a:t>
            </a:r>
          </a:p>
        </p:txBody>
      </p:sp>
      <p:sp>
        <p:nvSpPr>
          <p:cNvPr id="14" name="Rounded Rectangle 13"/>
          <p:cNvSpPr/>
          <p:nvPr/>
        </p:nvSpPr>
        <p:spPr>
          <a:xfrm>
            <a:off x="548640" y="4110228"/>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92524"/>
            <a:ext cx="10515600" cy="274320"/>
          </a:xfrm>
          <a:prstGeom prst="rect">
            <a:avLst/>
          </a:prstGeom>
          <a:noFill/>
        </p:spPr>
        <p:txBody>
          <a:bodyPr wrap="square" anchor="t">
            <a:spAutoFit/>
          </a:bodyPr>
          <a:lstStyle/>
          <a:p>
            <a:pPr algn="l">
              <a:defRPr sz="1300" b="1">
                <a:solidFill>
                  <a:srgbClr val="2C7A4B"/>
                </a:solidFill>
                <a:latin typeface="Avenir Next"/>
              </a:defRPr>
            </a:pPr>
            <a:r>
              <a:t>Do we offer the vendor's math libraries as well as OpenBLAS?</a:t>
            </a:r>
          </a:p>
        </p:txBody>
      </p:sp>
      <p:sp>
        <p:nvSpPr>
          <p:cNvPr id="16" name="TextBox 15"/>
          <p:cNvSpPr txBox="1"/>
          <p:nvPr/>
        </p:nvSpPr>
        <p:spPr>
          <a:xfrm>
            <a:off x="868680" y="4475988"/>
            <a:ext cx="10515600" cy="457200"/>
          </a:xfrm>
          <a:prstGeom prst="rect">
            <a:avLst/>
          </a:prstGeom>
          <a:noFill/>
        </p:spPr>
        <p:txBody>
          <a:bodyPr wrap="square" anchor="t">
            <a:spAutoFit/>
          </a:bodyPr>
          <a:lstStyle/>
          <a:p>
            <a:pPr algn="l">
              <a:defRPr sz="1000" b="0">
                <a:solidFill>
                  <a:srgbClr val="6E7B90"/>
                </a:solidFill>
                <a:latin typeface="Avenir Next"/>
              </a:defRPr>
            </a:pPr>
            <a:r>
              <a:t>OpenBLAS is the one BLAS and LAPACK today. Cray LibSci is already on the path on the Cray systems, and Intel systems expect MKL. Both are registered rather than built, so this is policy per system, not build cost.</a:t>
            </a:r>
          </a:p>
        </p:txBody>
      </p:sp>
      <p:sp>
        <p:nvSpPr>
          <p:cNvPr id="17" name="Rounded Rectangle 16"/>
          <p:cNvSpPr/>
          <p:nvPr/>
        </p:nvSpPr>
        <p:spPr>
          <a:xfrm>
            <a:off x="548640" y="4992624"/>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74920"/>
            <a:ext cx="10515600" cy="274320"/>
          </a:xfrm>
          <a:prstGeom prst="rect">
            <a:avLst/>
          </a:prstGeom>
          <a:noFill/>
        </p:spPr>
        <p:txBody>
          <a:bodyPr wrap="square" anchor="t">
            <a:spAutoFit/>
          </a:bodyPr>
          <a:lstStyle/>
          <a:p>
            <a:pPr algn="l">
              <a:defRPr sz="1300" b="1">
                <a:solidFill>
                  <a:srgbClr val="6D4EAA"/>
                </a:solidFill>
                <a:latin typeface="Avenir Next"/>
              </a:defRPr>
            </a:pPr>
            <a:r>
              <a:t>Performance targeting: baseline first, tuning after.</a:t>
            </a:r>
          </a:p>
        </p:txBody>
      </p:sp>
      <p:sp>
        <p:nvSpPr>
          <p:cNvPr id="19" name="TextBox 18"/>
          <p:cNvSpPr txBox="1"/>
          <p:nvPr/>
        </p:nvSpPr>
        <p:spPr>
          <a:xfrm>
            <a:off x="868680" y="5358384"/>
            <a:ext cx="10515600" cy="457200"/>
          </a:xfrm>
          <a:prstGeom prst="rect">
            <a:avLst/>
          </a:prstGeom>
          <a:noFill/>
        </p:spPr>
        <p:txBody>
          <a:bodyPr wrap="square" anchor="t">
            <a:spAutoFit/>
          </a:bodyPr>
          <a:lstStyle/>
          <a:p>
            <a:pPr algn="l">
              <a:defRPr sz="1000" b="0">
                <a:solidFill>
                  <a:srgbClr val="6E7B90"/>
                </a:solidFill>
                <a:latin typeface="Avenir Next"/>
              </a:defRPr>
            </a:pPr>
            <a:r>
              <a:t>Build every lane at the portable baseline, prove the model, then turn on per-lane tuning for Genoa, Milan, or Cascade Lake. Each target is a flag plus a full rebuild, so the open part is when, not whether.</a:t>
            </a:r>
          </a:p>
        </p:txBody>
      </p:sp>
      <p:sp>
        <p:nvSpPr>
          <p:cNvPr id="20" name="Rounded Rectangle 19"/>
          <p:cNvSpPr/>
          <p:nvPr/>
        </p:nvSpPr>
        <p:spPr>
          <a:xfrm>
            <a:off x="548640" y="587502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957316"/>
            <a:ext cx="10515600" cy="274320"/>
          </a:xfrm>
          <a:prstGeom prst="rect">
            <a:avLst/>
          </a:prstGeom>
          <a:noFill/>
        </p:spPr>
        <p:txBody>
          <a:bodyPr wrap="square" anchor="t">
            <a:spAutoFit/>
          </a:bodyPr>
          <a:lstStyle/>
          <a:p>
            <a:pPr algn="l">
              <a:defRPr sz="1300" b="1">
                <a:solidFill>
                  <a:srgbClr val="9A7614"/>
                </a:solidFill>
                <a:latin typeface="Avenir Next"/>
              </a:defRPr>
            </a:pPr>
            <a:r>
              <a:t>What does consistency promise across systems?</a:t>
            </a:r>
          </a:p>
        </p:txBody>
      </p:sp>
      <p:sp>
        <p:nvSpPr>
          <p:cNvPr id="22" name="TextBox 21"/>
          <p:cNvSpPr txBox="1"/>
          <p:nvPr/>
        </p:nvSpPr>
        <p:spPr>
          <a:xfrm>
            <a:off x="868680" y="6240780"/>
            <a:ext cx="10515600" cy="457200"/>
          </a:xfrm>
          <a:prstGeom prst="rect">
            <a:avLst/>
          </a:prstGeom>
          <a:noFill/>
        </p:spPr>
        <p:txBody>
          <a:bodyPr wrap="square" anchor="t">
            <a:spAutoFit/>
          </a:bodyPr>
          <a:lstStyle/>
          <a:p>
            <a:pPr algn="l">
              <a:defRPr sz="1000" b="0">
                <a:solidFill>
                  <a:srgbClr val="6E7B90"/>
                </a:solidFill>
                <a:latin typeface="Avenir Next"/>
              </a:defRPr>
            </a:pPr>
            <a:r>
              <a:t>Users build, link, and run the same way everywhere: same front door, same rosters, same workflow. That much is the goal. The open part is what sits underneath: each machine's native MPI and compiler, or a pinned CSE compiler and a shared MPI? Which promise do we make?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DISCUSSION · STARTER QUESTIONS FOR THE BUILD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If we start building: what has to be decided?</a:t>
            </a:r>
          </a:p>
        </p:txBody>
      </p:sp>
      <p:sp>
        <p:nvSpPr>
          <p:cNvPr id="5" name="Rounded Rectangle 4"/>
          <p:cNvSpPr/>
          <p:nvPr/>
        </p:nvSpPr>
        <p:spPr>
          <a:xfrm>
            <a:off x="548640" y="146304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45336"/>
            <a:ext cx="10515600" cy="274320"/>
          </a:xfrm>
          <a:prstGeom prst="rect">
            <a:avLst/>
          </a:prstGeom>
          <a:noFill/>
        </p:spPr>
        <p:txBody>
          <a:bodyPr wrap="square" anchor="t">
            <a:spAutoFit/>
          </a:bodyPr>
          <a:lstStyle/>
          <a:p>
            <a:pPr algn="l">
              <a:defRPr sz="1300" b="1">
                <a:solidFill>
                  <a:srgbClr val="117A72"/>
                </a:solidFill>
                <a:latin typeface="Avenir Next"/>
              </a:defRPr>
            </a:pPr>
            <a:r>
              <a:t>Which compiler anchors each system's stack?</a:t>
            </a:r>
          </a:p>
        </p:txBody>
      </p:sp>
      <p:sp>
        <p:nvSpPr>
          <p:cNvPr id="7" name="TextBox 6"/>
          <p:cNvSpPr txBox="1"/>
          <p:nvPr/>
        </p:nvSpPr>
        <p:spPr>
          <a:xfrm>
            <a:off x="868680" y="1828800"/>
            <a:ext cx="10515600" cy="457200"/>
          </a:xfrm>
          <a:prstGeom prst="rect">
            <a:avLst/>
          </a:prstGeom>
          <a:noFill/>
        </p:spPr>
        <p:txBody>
          <a:bodyPr wrap="square" anchor="t">
            <a:spAutoFit/>
          </a:bodyPr>
          <a:lstStyle/>
          <a:p>
            <a:pPr algn="l">
              <a:defRPr sz="1000" b="0">
                <a:solidFill>
                  <a:srgbClr val="6E7B90"/>
                </a:solidFill>
                <a:latin typeface="Avenir Next"/>
              </a:defRPr>
            </a:pPr>
            <a:r>
              <a:t>It comes first, because everything else on the system is built with it. Each machine's own compiler, one shared version across systems, or a mix?</a:t>
            </a:r>
          </a:p>
        </p:txBody>
      </p:sp>
      <p:sp>
        <p:nvSpPr>
          <p:cNvPr id="8" name="Rounded Rectangle 7"/>
          <p:cNvSpPr/>
          <p:nvPr/>
        </p:nvSpPr>
        <p:spPr>
          <a:xfrm>
            <a:off x="548640" y="2345436"/>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27732"/>
            <a:ext cx="10515600" cy="274320"/>
          </a:xfrm>
          <a:prstGeom prst="rect">
            <a:avLst/>
          </a:prstGeom>
          <a:noFill/>
        </p:spPr>
        <p:txBody>
          <a:bodyPr wrap="square" anchor="t">
            <a:spAutoFit/>
          </a:bodyPr>
          <a:lstStyle/>
          <a:p>
            <a:pPr algn="l">
              <a:defRPr sz="1300" b="1">
                <a:solidFill>
                  <a:srgbClr val="2C7A4B"/>
                </a:solidFill>
                <a:latin typeface="Avenir Next"/>
              </a:defRPr>
            </a:pPr>
            <a:r>
              <a:t>Which components do we take from the system instead of building?</a:t>
            </a:r>
          </a:p>
        </p:txBody>
      </p:sp>
      <p:sp>
        <p:nvSpPr>
          <p:cNvPr id="10" name="TextBox 9"/>
          <p:cNvSpPr txBox="1"/>
          <p:nvPr/>
        </p:nvSpPr>
        <p:spPr>
          <a:xfrm>
            <a:off x="868680" y="2711196"/>
            <a:ext cx="10515600" cy="457200"/>
          </a:xfrm>
          <a:prstGeom prst="rect">
            <a:avLst/>
          </a:prstGeom>
          <a:noFill/>
        </p:spPr>
        <p:txBody>
          <a:bodyPr wrap="square" anchor="t">
            <a:spAutoFit/>
          </a:bodyPr>
          <a:lstStyle/>
          <a:p>
            <a:pPr algn="l">
              <a:defRPr sz="1000" b="0">
                <a:solidFill>
                  <a:srgbClr val="6E7B90"/>
                </a:solidFill>
                <a:latin typeface="Avenir Next"/>
              </a:defRPr>
            </a:pPr>
            <a:r>
              <a:t>OpenSSL and curl look like clear cases to start. Which others do we commit to as system-provided rather than build ourselves?</a:t>
            </a:r>
          </a:p>
        </p:txBody>
      </p:sp>
      <p:sp>
        <p:nvSpPr>
          <p:cNvPr id="11" name="Rounded Rectangle 10"/>
          <p:cNvSpPr/>
          <p:nvPr/>
        </p:nvSpPr>
        <p:spPr>
          <a:xfrm>
            <a:off x="548640" y="3227832"/>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10128"/>
            <a:ext cx="10515600" cy="274320"/>
          </a:xfrm>
          <a:prstGeom prst="rect">
            <a:avLst/>
          </a:prstGeom>
          <a:noFill/>
        </p:spPr>
        <p:txBody>
          <a:bodyPr wrap="square" anchor="t">
            <a:spAutoFit/>
          </a:bodyPr>
          <a:lstStyle/>
          <a:p>
            <a:pPr algn="l">
              <a:defRPr sz="1300" b="1">
                <a:solidFill>
                  <a:srgbClr val="2B62B8"/>
                </a:solidFill>
                <a:latin typeface="Avenir Next"/>
              </a:defRPr>
            </a:pPr>
            <a:r>
              <a:t>Which MPI do we use on each system?</a:t>
            </a:r>
          </a:p>
        </p:txBody>
      </p:sp>
      <p:sp>
        <p:nvSpPr>
          <p:cNvPr id="13" name="TextBox 12"/>
          <p:cNvSpPr txBox="1"/>
          <p:nvPr/>
        </p:nvSpPr>
        <p:spPr>
          <a:xfrm>
            <a:off x="868680" y="3593592"/>
            <a:ext cx="10515600" cy="457200"/>
          </a:xfrm>
          <a:prstGeom prst="rect">
            <a:avLst/>
          </a:prstGeom>
          <a:noFill/>
        </p:spPr>
        <p:txBody>
          <a:bodyPr wrap="square" anchor="t">
            <a:spAutoFit/>
          </a:bodyPr>
          <a:lstStyle/>
          <a:p>
            <a:pPr algn="l">
              <a:defRPr sz="1000" b="0">
                <a:solidFill>
                  <a:srgbClr val="6E7B90"/>
                </a:solidFill>
                <a:latin typeface="Avenir Next"/>
              </a:defRPr>
            </a:pPr>
            <a:r>
              <a:t>cray-mpich on the Cray machines, once we confirm we can build against it; OpenMPI on the rest, ideally the same one across them.</a:t>
            </a:r>
          </a:p>
        </p:txBody>
      </p:sp>
      <p:sp>
        <p:nvSpPr>
          <p:cNvPr id="14" name="Rounded Rectangle 13"/>
          <p:cNvSpPr/>
          <p:nvPr/>
        </p:nvSpPr>
        <p:spPr>
          <a:xfrm>
            <a:off x="548640" y="4110228"/>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92524"/>
            <a:ext cx="10515600" cy="274320"/>
          </a:xfrm>
          <a:prstGeom prst="rect">
            <a:avLst/>
          </a:prstGeom>
          <a:noFill/>
        </p:spPr>
        <p:txBody>
          <a:bodyPr wrap="square" anchor="t">
            <a:spAutoFit/>
          </a:bodyPr>
          <a:lstStyle/>
          <a:p>
            <a:pPr algn="l">
              <a:defRPr sz="1300" b="1">
                <a:solidFill>
                  <a:srgbClr val="BA740E"/>
                </a:solidFill>
                <a:latin typeface="Avenir Next"/>
              </a:defRPr>
            </a:pPr>
            <a:r>
              <a:t>What CPU baseline do we set?</a:t>
            </a:r>
          </a:p>
        </p:txBody>
      </p:sp>
      <p:sp>
        <p:nvSpPr>
          <p:cNvPr id="16" name="TextBox 15"/>
          <p:cNvSpPr txBox="1"/>
          <p:nvPr/>
        </p:nvSpPr>
        <p:spPr>
          <a:xfrm>
            <a:off x="868680" y="4475988"/>
            <a:ext cx="10515600" cy="457200"/>
          </a:xfrm>
          <a:prstGeom prst="rect">
            <a:avLst/>
          </a:prstGeom>
          <a:noFill/>
        </p:spPr>
        <p:txBody>
          <a:bodyPr wrap="square" anchor="t">
            <a:spAutoFit/>
          </a:bodyPr>
          <a:lstStyle/>
          <a:p>
            <a:pPr algn="l">
              <a:defRPr sz="1000" b="0">
                <a:solidFill>
                  <a:srgbClr val="6E7B90"/>
                </a:solidFill>
                <a:latin typeface="Avenir Next"/>
              </a:defRPr>
            </a:pPr>
            <a:r>
              <a:t>We name the target rather than let the tools choose it. Which baseline, and where do we allow per-system tuning later?</a:t>
            </a:r>
          </a:p>
        </p:txBody>
      </p:sp>
      <p:sp>
        <p:nvSpPr>
          <p:cNvPr id="17" name="Rounded Rectangle 16"/>
          <p:cNvSpPr/>
          <p:nvPr/>
        </p:nvSpPr>
        <p:spPr>
          <a:xfrm>
            <a:off x="548640" y="4992624"/>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74920"/>
            <a:ext cx="10515600" cy="274320"/>
          </a:xfrm>
          <a:prstGeom prst="rect">
            <a:avLst/>
          </a:prstGeom>
          <a:noFill/>
        </p:spPr>
        <p:txBody>
          <a:bodyPr wrap="square" anchor="t">
            <a:spAutoFit/>
          </a:bodyPr>
          <a:lstStyle/>
          <a:p>
            <a:pPr algn="l">
              <a:defRPr sz="1300" b="1">
                <a:solidFill>
                  <a:srgbClr val="6D4EAA"/>
                </a:solidFill>
                <a:latin typeface="Avenir Next"/>
              </a:defRPr>
            </a:pPr>
            <a:r>
              <a:t>Where does the stack live, and which Spack builds it?</a:t>
            </a:r>
          </a:p>
        </p:txBody>
      </p:sp>
      <p:sp>
        <p:nvSpPr>
          <p:cNvPr id="19" name="TextBox 18"/>
          <p:cNvSpPr txBox="1"/>
          <p:nvPr/>
        </p:nvSpPr>
        <p:spPr>
          <a:xfrm>
            <a:off x="868680" y="5358384"/>
            <a:ext cx="10515600" cy="457200"/>
          </a:xfrm>
          <a:prstGeom prst="rect">
            <a:avLst/>
          </a:prstGeom>
          <a:noFill/>
        </p:spPr>
        <p:txBody>
          <a:bodyPr wrap="square" anchor="t">
            <a:spAutoFit/>
          </a:bodyPr>
          <a:lstStyle/>
          <a:p>
            <a:pPr algn="l">
              <a:defRPr sz="1000" b="0">
                <a:solidFill>
                  <a:srgbClr val="6E7B90"/>
                </a:solidFill>
                <a:latin typeface="Avenir Next"/>
              </a:defRPr>
            </a:pPr>
            <a:r>
              <a:t>Install locations per system, most likely the CSE directory, and the Spack version we standardize on for the pilot.</a:t>
            </a:r>
          </a:p>
        </p:txBody>
      </p:sp>
      <p:sp>
        <p:nvSpPr>
          <p:cNvPr id="20" name="Rounded Rectangle 19"/>
          <p:cNvSpPr/>
          <p:nvPr/>
        </p:nvSpPr>
        <p:spPr>
          <a:xfrm>
            <a:off x="548640" y="587502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957316"/>
            <a:ext cx="10515600" cy="274320"/>
          </a:xfrm>
          <a:prstGeom prst="rect">
            <a:avLst/>
          </a:prstGeom>
          <a:noFill/>
        </p:spPr>
        <p:txBody>
          <a:bodyPr wrap="square" anchor="t">
            <a:spAutoFit/>
          </a:bodyPr>
          <a:lstStyle/>
          <a:p>
            <a:pPr algn="l">
              <a:defRPr sz="1300" b="1">
                <a:solidFill>
                  <a:srgbClr val="9A7614"/>
                </a:solidFill>
                <a:latin typeface="Avenir Next"/>
              </a:defRPr>
            </a:pPr>
            <a:r>
              <a:t>What counts as done?</a:t>
            </a:r>
          </a:p>
        </p:txBody>
      </p:sp>
      <p:sp>
        <p:nvSpPr>
          <p:cNvPr id="22" name="TextBox 21"/>
          <p:cNvSpPr txBox="1"/>
          <p:nvPr/>
        </p:nvSpPr>
        <p:spPr>
          <a:xfrm>
            <a:off x="868680" y="6240780"/>
            <a:ext cx="10515600" cy="457200"/>
          </a:xfrm>
          <a:prstGeom prst="rect">
            <a:avLst/>
          </a:prstGeom>
          <a:noFill/>
        </p:spPr>
        <p:txBody>
          <a:bodyPr wrap="square" anchor="t">
            <a:spAutoFit/>
          </a:bodyPr>
          <a:lstStyle/>
          <a:p>
            <a:pPr algn="l">
              <a:defRPr sz="1000" b="0">
                <a:solidFill>
                  <a:srgbClr val="6E7B90"/>
                </a:solidFill>
                <a:latin typeface="Avenir Next"/>
              </a:defRPr>
            </a:pPr>
            <a:r>
              <a:t>The packages built and tested, or the full user environment stood up and ready to load?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each lane exposes</a:t>
            </a:r>
          </a:p>
        </p:txBody>
      </p:sp>
      <p:sp>
        <p:nvSpPr>
          <p:cNvPr id="5" name="TextBox 4"/>
          <p:cNvSpPr txBox="1"/>
          <p:nvPr/>
        </p:nvSpPr>
        <p:spPr>
          <a:xfrm>
            <a:off x="548640" y="1389888"/>
            <a:ext cx="11064240" cy="274320"/>
          </a:xfrm>
          <a:prstGeom prst="rect">
            <a:avLst/>
          </a:prstGeom>
          <a:noFill/>
        </p:spPr>
        <p:txBody>
          <a:bodyPr wrap="square" anchor="t">
            <a:spAutoFit/>
          </a:bodyPr>
          <a:lstStyle/>
          <a:p>
            <a:pPr algn="ctr">
              <a:defRPr sz="1150" b="1">
                <a:solidFill>
                  <a:srgbClr val="6E7B90"/>
                </a:solidFill>
                <a:latin typeface="Avenir Next"/>
              </a:defRPr>
            </a:pPr>
            <a:r>
              <a:t>CHOOSE EXACTLY ONE LANE</a:t>
            </a:r>
          </a:p>
        </p:txBody>
      </p:sp>
      <p:sp>
        <p:nvSpPr>
          <p:cNvPr id="6" name="Rounded Rectangle 5"/>
          <p:cNvSpPr/>
          <p:nvPr/>
        </p:nvSpPr>
        <p:spPr>
          <a:xfrm>
            <a:off x="548640" y="1719072"/>
            <a:ext cx="3611880" cy="13258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7" name="Rounded Rectangle 6"/>
          <p:cNvSpPr/>
          <p:nvPr/>
        </p:nvSpPr>
        <p:spPr>
          <a:xfrm>
            <a:off x="4370831" y="1719072"/>
            <a:ext cx="3611880" cy="13258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8" name="Rounded Rectangle 7"/>
          <p:cNvSpPr/>
          <p:nvPr/>
        </p:nvSpPr>
        <p:spPr>
          <a:xfrm>
            <a:off x="8193023" y="1719072"/>
            <a:ext cx="3611880" cy="13258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9" name="Rounded Rectangle 8"/>
          <p:cNvSpPr/>
          <p:nvPr/>
        </p:nvSpPr>
        <p:spPr>
          <a:xfrm>
            <a:off x="548640" y="3200400"/>
            <a:ext cx="11091672" cy="64008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0" name="Rounded Rectangle 9"/>
          <p:cNvSpPr/>
          <p:nvPr/>
        </p:nvSpPr>
        <p:spPr>
          <a:xfrm>
            <a:off x="548640" y="3959352"/>
            <a:ext cx="11091672" cy="64008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1" name="Rounded Rectangle 10"/>
          <p:cNvSpPr/>
          <p:nvPr/>
        </p:nvSpPr>
        <p:spPr>
          <a:xfrm>
            <a:off x="548640" y="4718304"/>
            <a:ext cx="11091672" cy="64008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2" name="Rounded Rectangle 11"/>
          <p:cNvSpPr/>
          <p:nvPr/>
        </p:nvSpPr>
        <p:spPr>
          <a:xfrm>
            <a:off x="548640" y="5504688"/>
            <a:ext cx="11091672" cy="54864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cse/&lt;Compiler&gt; surface: everything above sits on one compiler</a:t>
            </a:r>
          </a:p>
          <a:p>
            <a:pPr algn="ctr">
              <a:defRPr sz="1050" b="0">
                <a:solidFill>
                  <a:srgbClr val="6E7B90"/>
                </a:solidFill>
                <a:latin typeface="Avenir Next"/>
              </a:defRPr>
            </a:pPr>
            <a:r>
              <a:t>lanes never mix compilers; loading a second lane fails loudly</a:t>
            </a:r>
          </a:p>
        </p:txBody>
      </p:sp>
      <p:sp>
        <p:nvSpPr>
          <p:cNvPr id="13" name="TextBox 12"/>
          <p:cNvSpPr txBox="1"/>
          <p:nvPr/>
        </p:nvSpPr>
        <p:spPr>
          <a:xfrm>
            <a:off x="548640" y="6199632"/>
            <a:ext cx="11064240" cy="457200"/>
          </a:xfrm>
          <a:prstGeom prst="rect">
            <a:avLst/>
          </a:prstGeom>
          <a:noFill/>
        </p:spPr>
        <p:txBody>
          <a:bodyPr wrap="square" anchor="t">
            <a:spAutoFit/>
          </a:bodyPr>
          <a:lstStyle/>
          <a:p>
            <a:pPr algn="l">
              <a:defRPr sz="1150" b="0">
                <a:solidFill>
                  <a:srgbClr val="6E7B90"/>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Core and foundation: built once per compiler surface</a:t>
            </a:r>
          </a:p>
        </p:txBody>
      </p:sp>
      <p:graphicFrame>
        <p:nvGraphicFramePr>
          <p:cNvPr id="5" name="Table 4"/>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50607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zlib</a:t>
                      </a:r>
                    </a:p>
                  </a:txBody>
                  <a:tcPr marL="109728" marR="73152" marT="13716" marB="13716" anchor="ctr">
                    <a:solidFill>
                      <a:srgbClr val="FFFFFF"/>
                    </a:solidFill>
                  </a:tcPr>
                </a:tc>
                <a:tc>
                  <a:txBody>
                    <a:bodyPr/>
                    <a:lstStyle/>
                    <a:p>
                      <a:pPr>
                        <a:defRPr sz="1100" b="0">
                          <a:solidFill>
                            <a:srgbClr val="3B4A63"/>
                          </a:solidFill>
                          <a:latin typeface="Avenir Next"/>
                        </a:defRPr>
                      </a:pPr>
                      <a:r>
                        <a:t>1.3.1</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xz</a:t>
                      </a:r>
                    </a:p>
                  </a:txBody>
                  <a:tcPr marL="109728" marR="73152" marT="13716" marB="13716" anchor="ctr">
                    <a:solidFill>
                      <a:srgbClr val="FFFFFF"/>
                    </a:solidFill>
                  </a:tcPr>
                </a:tc>
                <a:tc>
                  <a:txBody>
                    <a:bodyPr/>
                    <a:lstStyle/>
                    <a:p>
                      <a:pPr>
                        <a:defRPr sz="1100" b="0">
                          <a:solidFill>
                            <a:srgbClr val="3B4A63"/>
                          </a:solidFill>
                          <a:latin typeface="Avenir Next"/>
                        </a:defRPr>
                      </a:pPr>
                      <a:r>
                        <a:t>5.4.6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zstd</a:t>
                      </a:r>
                    </a:p>
                  </a:txBody>
                  <a:tcPr marL="109728" marR="73152" marT="13716" marB="13716" anchor="ctr">
                    <a:solidFill>
                      <a:srgbClr val="FFFFFF"/>
                    </a:solidFill>
                  </a:tcPr>
                </a:tc>
                <a:tc>
                  <a:txBody>
                    <a:bodyPr/>
                    <a:lstStyle/>
                    <a:p>
                      <a:pPr>
                        <a:defRPr sz="1100" b="0">
                          <a:solidFill>
                            <a:srgbClr val="3B4A63"/>
                          </a:solidFill>
                          <a:latin typeface="Avenir Next"/>
                        </a:defRPr>
                      </a:pPr>
                      <a:r>
                        <a:t>1.5.6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cmake</a:t>
                      </a:r>
                    </a:p>
                  </a:txBody>
                  <a:tcPr marL="109728" marR="73152" marT="13716" marB="13716" anchor="ctr">
                    <a:solidFill>
                      <a:srgbClr val="FFFFFF"/>
                    </a:solidFill>
                  </a:tcPr>
                </a:tc>
                <a:tc>
                  <a:txBody>
                    <a:bodyPr/>
                    <a:lstStyle/>
                    <a:p>
                      <a:pPr>
                        <a:defRPr sz="1100" b="0">
                          <a:solidFill>
                            <a:srgbClr val="3B4A63"/>
                          </a:solidFill>
                          <a:latin typeface="Avenir Next"/>
                        </a:defRPr>
                      </a:pPr>
                      <a:r>
                        <a:t>4.3.3 · 4.2.3</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B4A63"/>
                          </a:solidFill>
                          <a:latin typeface="Avenir Next"/>
                        </a:defRPr>
                      </a:pPr>
                      <a:r>
                        <a:t>newest</a:t>
                      </a:r>
                    </a:p>
                  </a:txBody>
                  <a:tcPr marL="109728" marR="73152" marT="13716" marB="13716" anchor="ctr">
                    <a:solidFill>
                      <a:srgbClr val="FFFFFF"/>
                    </a:solidFill>
                  </a:tcPr>
                </a:tc>
                <a:tc>
                  <a:txBody>
                    <a:bodyPr/>
                    <a:lstStyle/>
                    <a:p>
                      <a:pPr>
                        <a:defRPr sz="1050" b="0">
                          <a:solidFill>
                            <a:srgbClr val="6E7B90"/>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python</a:t>
                      </a:r>
                    </a:p>
                  </a:txBody>
                  <a:tcPr marL="109728" marR="73152" marT="13716" marB="13716" anchor="ctr">
                    <a:solidFill>
                      <a:srgbClr val="FFFFFF"/>
                    </a:solidFill>
                  </a:tcPr>
                </a:tc>
                <a:tc>
                  <a:txBody>
                    <a:bodyPr/>
                    <a:lstStyle/>
                    <a:p>
                      <a:pPr>
                        <a:defRPr sz="1100" b="0">
                          <a:solidFill>
                            <a:srgbClr val="3B4A63"/>
                          </a:solidFill>
                          <a:latin typeface="Avenir Next"/>
                        </a:defRPr>
                      </a:pPr>
                      <a:r>
                        <a:t>3.14.5 · 3.13.13</a:t>
                      </a:r>
                    </a:p>
                  </a:txBody>
                  <a:tcPr marL="109728" marR="73152" marT="13716" marB="13716" anchor="ctr">
                    <a:solidFill>
                      <a:srgbClr val="FFFFFF"/>
                    </a:solidFill>
                  </a:tcPr>
                </a:tc>
                <a:tc>
                  <a:txBody>
                    <a:bodyPr/>
                    <a:lstStyle/>
                    <a:p>
                      <a:pPr>
                        <a:defRPr sz="1050" b="0">
                          <a:solidFill>
                            <a:srgbClr val="6E7B90"/>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py-numpy</a:t>
                      </a:r>
                    </a:p>
                  </a:txBody>
                  <a:tcPr marL="109728" marR="73152" marT="13716" marB="13716" anchor="ctr">
                    <a:solidFill>
                      <a:srgbClr val="FFFFFF"/>
                    </a:solidFill>
                  </a:tcPr>
                </a:tc>
                <a:tc>
                  <a:txBody>
                    <a:bodyPr/>
                    <a:lstStyle/>
                    <a:p>
                      <a:pPr>
                        <a:defRPr sz="1100" b="0">
                          <a:solidFill>
                            <a:srgbClr val="3B4A63"/>
                          </a:solidFill>
                          <a:latin typeface="Avenir Next"/>
                        </a:defRPr>
                      </a:pPr>
                      <a:r>
                        <a:t>2.4.6</a:t>
                      </a:r>
                    </a:p>
                  </a:txBody>
                  <a:tcPr marL="109728" marR="73152" marT="13716" marB="13716" anchor="ctr">
                    <a:solidFill>
                      <a:srgbClr val="FFFFFF"/>
                    </a:solidFill>
                  </a:tcPr>
                </a:tc>
                <a:tc>
                  <a:txBody>
                    <a:bodyPr/>
                    <a:lstStyle/>
                    <a:p>
                      <a:pPr>
                        <a:defRPr sz="1050" b="0">
                          <a:solidFill>
                            <a:srgbClr val="6E7B90"/>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miniforge3</a:t>
                      </a:r>
                    </a:p>
                  </a:txBody>
                  <a:tcPr marL="109728" marR="73152" marT="13716" marB="13716" anchor="ctr">
                    <a:solidFill>
                      <a:srgbClr val="FFFFFF"/>
                    </a:solidFill>
                  </a:tcPr>
                </a:tc>
                <a:tc>
                  <a:txBody>
                    <a:bodyPr/>
                    <a:lstStyle/>
                    <a:p>
                      <a:pPr>
                        <a:defRPr sz="1100" b="0">
                          <a:solidFill>
                            <a:srgbClr val="3B4A63"/>
                          </a:solidFill>
                          <a:latin typeface="Avenir Next"/>
                        </a:defRPr>
                      </a:pPr>
                      <a:r>
                        <a:t>26.1.1-3</a:t>
                      </a:r>
                    </a:p>
                  </a:txBody>
                  <a:tcPr marL="109728" marR="73152" marT="13716" marB="13716" anchor="ctr">
                    <a:solidFill>
                      <a:srgbClr val="FFFFFF"/>
                    </a:solidFill>
                  </a:tcPr>
                </a:tc>
                <a:tc>
                  <a:txBody>
                    <a:bodyPr/>
                    <a:lstStyle/>
                    <a:p>
                      <a:pPr>
                        <a:defRPr sz="1050" b="0">
                          <a:solidFill>
                            <a:srgbClr val="6E7B90"/>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gsl</a:t>
                      </a:r>
                    </a:p>
                  </a:txBody>
                  <a:tcPr marL="109728" marR="73152" marT="13716" marB="13716" anchor="ctr">
                    <a:solidFill>
                      <a:srgbClr val="FFFFFF"/>
                    </a:solidFill>
                  </a:tcPr>
                </a:tc>
                <a:tc>
                  <a:txBody>
                    <a:bodyPr/>
                    <a:lstStyle/>
                    <a:p>
                      <a:pPr>
                        <a:defRPr sz="1100" b="0">
                          <a:solidFill>
                            <a:srgbClr val="3B4A63"/>
                          </a:solidFill>
                          <a:latin typeface="Avenir Next"/>
                        </a:defRPr>
                      </a:pPr>
                      <a:r>
                        <a:t>2.8 · 2.7.1</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sqlite</a:t>
                      </a:r>
                    </a:p>
                  </a:txBody>
                  <a:tcPr marL="109728" marR="73152" marT="13716" marB="13716" anchor="ctr">
                    <a:solidFill>
                      <a:srgbClr val="FFFFFF"/>
                    </a:solidFill>
                  </a:tcPr>
                </a:tc>
                <a:tc>
                  <a:txBody>
                    <a:bodyPr/>
                    <a:lstStyle/>
                    <a:p>
                      <a:pPr>
                        <a:defRPr sz="1100" b="0">
                          <a:solidFill>
                            <a:srgbClr val="3B4A63"/>
                          </a:solidFill>
                          <a:latin typeface="Avenir Next"/>
                        </a:defRPr>
                      </a:pPr>
                      <a:r>
                        <a:t>3.53.1 · 3.51.2</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2C7A4B"/>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openblas</a:t>
                      </a:r>
                    </a:p>
                  </a:txBody>
                  <a:tcPr marL="109728" marR="73152" marT="13716" marB="13716" anchor="ctr">
                    <a:solidFill>
                      <a:srgbClr val="FFFFFF"/>
                    </a:solidFill>
                  </a:tcPr>
                </a:tc>
                <a:tc>
                  <a:txBody>
                    <a:bodyPr/>
                    <a:lstStyle/>
                    <a:p>
                      <a:pPr>
                        <a:defRPr sz="1100" b="0">
                          <a:solidFill>
                            <a:srgbClr val="3B4A63"/>
                          </a:solidFill>
                          <a:latin typeface="Avenir Next"/>
                        </a:defRPr>
                      </a:pPr>
                      <a:r>
                        <a:t>0.3.33 · 0.3.32</a:t>
                      </a:r>
                    </a:p>
                  </a:txBody>
                  <a:tcPr marL="109728" marR="73152" marT="13716" marB="13716" anchor="ctr">
                    <a:solidFill>
                      <a:srgbClr val="FFFFFF"/>
                    </a:solidFill>
                  </a:tcPr>
                </a:tc>
                <a:tc>
                  <a:txBody>
                    <a:bodyPr/>
                    <a:lstStyle/>
                    <a:p>
                      <a:pPr>
                        <a:defRPr sz="1050" b="0">
                          <a:solidFill>
                            <a:srgbClr val="6E7B90"/>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gnuplot</a:t>
                      </a:r>
                    </a:p>
                  </a:txBody>
                  <a:tcPr marL="109728" marR="73152" marT="13716" marB="13716" anchor="ctr">
                    <a:solidFill>
                      <a:srgbClr val="FFFFFF"/>
                    </a:solidFill>
                  </a:tcPr>
                </a:tc>
                <a:tc>
                  <a:txBody>
                    <a:bodyPr/>
                    <a:lstStyle/>
                    <a:p>
                      <a:pPr>
                        <a:defRPr sz="1100" b="0">
                          <a:solidFill>
                            <a:srgbClr val="3B4A63"/>
                          </a:solidFill>
                          <a:latin typeface="Avenir Next"/>
                        </a:defRPr>
                      </a:pPr>
                      <a:r>
                        <a:t>6.0.0 · 5.4.10</a:t>
                      </a:r>
                    </a:p>
                  </a:txBody>
                  <a:tcPr marL="109728" marR="73152" marT="13716" marB="13716" anchor="ctr">
                    <a:solidFill>
                      <a:srgbClr val="FFFFFF"/>
                    </a:solidFill>
                  </a:tcPr>
                </a:tc>
                <a:tc>
                  <a:txBody>
                    <a:bodyPr/>
                    <a:lstStyle/>
                    <a:p>
                      <a:pPr>
                        <a:defRPr sz="1050" b="0">
                          <a:solidFill>
                            <a:srgbClr val="6E7B90"/>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Serial lane: MPI-capable, deliberately built without MPI</a:t>
            </a:r>
          </a:p>
        </p:txBody>
      </p:sp>
      <p:graphicFrame>
        <p:nvGraphicFramePr>
          <p:cNvPr id="5" name="Table 4"/>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MPI and GPU lanes: built against the system MPI</a:t>
            </a:r>
          </a:p>
        </p:txBody>
      </p:sp>
      <p:graphicFrame>
        <p:nvGraphicFramePr>
          <p:cNvPr id="5" name="Table 4"/>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netlib-scalapack</a:t>
                      </a:r>
                    </a:p>
                  </a:txBody>
                  <a:tcPr marL="109728" marR="73152" marT="13716" marB="13716" anchor="ctr">
                    <a:solidFill>
                      <a:srgbClr val="FFFFFF"/>
                    </a:solidFill>
                  </a:tcPr>
                </a:tc>
                <a:tc>
                  <a:txBody>
                    <a:bodyPr/>
                    <a:lstStyle/>
                    <a:p>
                      <a:pPr>
                        <a:defRPr sz="1100" b="0">
                          <a:solidFill>
                            <a:srgbClr val="3B4A63"/>
                          </a:solidFill>
                          <a:latin typeface="Avenir Next"/>
                        </a:defRPr>
                      </a:pPr>
                      <a:r>
                        <a:t>2.2.3 · 2.2.2</a:t>
                      </a:r>
                    </a:p>
                  </a:txBody>
                  <a:tcPr marL="109728" marR="73152" marT="13716" marB="13716" anchor="ctr">
                    <a:solidFill>
                      <a:srgbClr val="FFFFFF"/>
                    </a:solidFill>
                  </a:tcPr>
                </a:tc>
                <a:tc>
                  <a:txBody>
                    <a:bodyPr/>
                    <a:lstStyle/>
                    <a:p>
                      <a:pPr>
                        <a:defRPr sz="1050" b="0">
                          <a:solidFill>
                            <a:srgbClr val="6E7B90"/>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dakota</a:t>
                      </a:r>
                    </a:p>
                  </a:txBody>
                  <a:tcPr marL="109728" marR="73152" marT="13716" marB="13716" anchor="ctr">
                    <a:solidFill>
                      <a:srgbClr val="FFFFFF"/>
                    </a:solidFill>
                  </a:tcPr>
                </a:tc>
                <a:tc>
                  <a:txBody>
                    <a:bodyPr/>
                    <a:lstStyle/>
                    <a:p>
                      <a:pPr>
                        <a:defRPr sz="1100" b="0">
                          <a:solidFill>
                            <a:srgbClr val="3B4A63"/>
                          </a:solidFill>
                          <a:latin typeface="Avenir Next"/>
                        </a:defRPr>
                      </a:pPr>
                      <a:r>
                        <a:t>6.24.0 · 6.23.0</a:t>
                      </a:r>
                    </a:p>
                  </a:txBody>
                  <a:tcPr marL="109728" marR="73152" marT="13716" marB="13716" anchor="ctr">
                    <a:solidFill>
                      <a:srgbClr val="FFFFFF"/>
                    </a:solidFill>
                  </a:tcPr>
                </a:tc>
                <a:tc>
                  <a:txBody>
                    <a:bodyPr/>
                    <a:lstStyle/>
                    <a:p>
                      <a:pPr>
                        <a:defRPr sz="1050" b="0">
                          <a:solidFill>
                            <a:srgbClr val="6E7B90"/>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6D4EAA"/>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kokkos</a:t>
                      </a:r>
                    </a:p>
                  </a:txBody>
                  <a:tcPr marL="109728" marR="73152" marT="13716" marB="13716" anchor="ctr">
                    <a:solidFill>
                      <a:srgbClr val="FFFFFF"/>
                    </a:solidFill>
                  </a:tcPr>
                </a:tc>
                <a:tc>
                  <a:txBody>
                    <a:bodyPr/>
                    <a:lstStyle/>
                    <a:p>
                      <a:pPr>
                        <a:defRPr sz="1100" b="0">
                          <a:solidFill>
                            <a:srgbClr val="3B4A63"/>
                          </a:solidFill>
                          <a:latin typeface="Avenir Next"/>
                        </a:defRPr>
                      </a:pPr>
                      <a:r>
                        <a:t>5.1.1 · 5.1.0</a:t>
                      </a:r>
                    </a:p>
                  </a:txBody>
                  <a:tcPr marL="109728" marR="73152" marT="13716" marB="13716" anchor="ctr">
                    <a:solidFill>
                      <a:srgbClr val="FFFFFF"/>
                    </a:solidFill>
                  </a:tcPr>
                </a:tc>
                <a:tc>
                  <a:txBody>
                    <a:bodyPr/>
                    <a:lstStyle/>
                    <a:p>
                      <a:pPr>
                        <a:defRPr sz="1050" b="0">
                          <a:solidFill>
                            <a:srgbClr val="6E7B90"/>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2C7A4B"/>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compiler-common</a:t>
                      </a:r>
                    </a:p>
                  </a:txBody>
                  <a:tcPr marL="109728" marR="73152" marT="13716" marB="13716" anchor="ctr">
                    <a:solidFill>
                      <a:srgbClr val="FFFFFF"/>
                    </a:solidFill>
                  </a:tcPr>
                </a:tc>
                <a:tc>
                  <a:txBody>
                    <a:bodyPr/>
                    <a:lstStyle/>
                    <a:p>
                      <a:pPr>
                        <a:defRPr sz="1100" b="0">
                          <a:solidFill>
                            <a:srgbClr val="3B4A63"/>
                          </a:solidFill>
                          <a:latin typeface="Avenir Next"/>
                        </a:defRPr>
                      </a:pPr>
                      <a:r>
                        <a:t>see Core slide</a:t>
                      </a:r>
                    </a:p>
                  </a:txBody>
                  <a:tcPr marL="109728" marR="73152" marT="13716" marB="13716" anchor="ctr">
                    <a:solidFill>
                      <a:srgbClr val="FFFFFF"/>
                    </a:solidFill>
                  </a:tcPr>
                </a:tc>
                <a:tc>
                  <a:txBody>
                    <a:bodyPr/>
                    <a:lstStyle/>
                    <a:p>
                      <a:pPr>
                        <a:defRPr sz="1050" b="0">
                          <a:solidFill>
                            <a:srgbClr val="6E7B90"/>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50607A"/>
                    </a:solidFill>
                  </a:tcPr>
                </a:tc>
                <a:tc hMerge="1">
                  <a:txBody>
                    <a:bodyPr/>
                    <a:lstStyle/>
                    <a:p/>
                  </a:txBody>
                  <a:tcPr/>
                </a:tc>
                <a:tc hMerge="1">
                  <a:txBody>
                    <a:bodyPr/>
                    <a:lstStyle/>
                    <a:p/>
                  </a:txBody>
                  <a:tcPr/>
                </a:tc>
              </a:tr>
              <a:tr h="254206">
                <a:tc>
                  <a:txBody>
                    <a:bodyPr/>
                    <a:lstStyle/>
                    <a:p>
                      <a:pPr>
                        <a:defRPr sz="1100" b="1">
                          <a:solidFill>
                            <a:srgbClr val="16243D"/>
                          </a:solidFill>
                          <a:latin typeface="Avenir Next"/>
                        </a:defRPr>
                      </a:pPr>
                      <a:r>
                        <a:t>externals</a:t>
                      </a:r>
                    </a:p>
                  </a:txBody>
                  <a:tcPr marL="109728" marR="73152" marT="13716" marB="13716" anchor="ctr">
                    <a:solidFill>
                      <a:srgbClr val="FFFFFF"/>
                    </a:solidFill>
                  </a:tcPr>
                </a:tc>
                <a:tc>
                  <a:txBody>
                    <a:bodyPr/>
                    <a:lstStyle/>
                    <a:p>
                      <a:pPr>
                        <a:defRPr sz="1100" b="0">
                          <a:solidFill>
                            <a:srgbClr val="3B4A63"/>
                          </a:solidFill>
                          <a:latin typeface="Avenir Next"/>
                        </a:defRPr>
                      </a:pPr>
                      <a:r>
                        <a:t>system</a:t>
                      </a:r>
                    </a:p>
                  </a:txBody>
                  <a:tcPr marL="109728" marR="73152" marT="13716" marB="13716" anchor="ctr">
                    <a:solidFill>
                      <a:srgbClr val="FFFFFF"/>
                    </a:solidFill>
                  </a:tcPr>
                </a:tc>
                <a:tc>
                  <a:txBody>
                    <a:bodyPr/>
                    <a:lstStyle/>
                    <a:p>
                      <a:pPr>
                        <a:defRPr sz="1050" b="0">
                          <a:solidFill>
                            <a:srgbClr val="6E7B90"/>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
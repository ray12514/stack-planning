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600" b="1">
                <a:solidFill>
                  <a:srgbClr val="0F172A"/>
                </a:solidFill>
                <a:latin typeface="Avenir Next"/>
              </a:defRPr>
            </a:pPr>
            <a:r>
              <a:t>The CSE Software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063240"/>
            <a:ext cx="2194560" cy="5486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334155"/>
                </a:solidFill>
                <a:latin typeface="Avenir Next"/>
              </a:defRPr>
            </a:pPr>
            <a:r>
              <a:t>One clean build surface per compiler, MPI, and GPU — the lanes model</a:t>
            </a:r>
          </a:p>
          <a:p>
            <a:pPr algn="l">
              <a:defRPr sz="1500" b="0">
                <a:solidFill>
                  <a:srgbClr val="64748B"/>
                </a:solidFill>
                <a:latin typeface="Avenir Next"/>
              </a:defRPr>
            </a:pPr>
            <a:r>
              <a:t>How we got here, what the community runs, and where we're going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July 2026  ·  working draft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148840"/>
            <a:ext cx="6858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0" y="2148840"/>
            <a:ext cx="6858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0" y="2148840"/>
            <a:ext cx="6858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744200" y="2148840"/>
            <a:ext cx="6858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WE ARE · WHERE WE'RE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From one flat surface to lanes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Today — CSEinit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GCC- and Intel-backed flavors · standard / noloads · extends MODULEPATH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hdf5/1.14.6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0592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78224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openmpi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50592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78224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50592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mkl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78224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50592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D97706"/>
                </a:solidFill>
                <a:latin typeface="Avenir Next"/>
              </a:defRPr>
            </a:pPr>
            <a:r>
              <a:t>Everything visible at once.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Conflicts avoided by convention · MPI/GPU surfaces not isolated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hand-curated per system — upgrades mean rebuilding everything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The lanes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2331720"/>
            <a:ext cx="434340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module load cse/GCC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38260" y="2788920"/>
            <a:ext cx="0" cy="27432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766560" y="3063240"/>
            <a:ext cx="2103120" cy="56692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 — automatic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6840" y="3063240"/>
            <a:ext cx="2103120" cy="566928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 — in view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938260" y="3630168"/>
            <a:ext cx="0" cy="274319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3904487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4224528"/>
            <a:ext cx="1371600" cy="54864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4224528"/>
            <a:ext cx="1371600" cy="5486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2640" y="4224528"/>
            <a:ext cx="1417320" cy="5486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D9488"/>
                </a:solidFill>
                <a:latin typeface="Avenir Next"/>
              </a:defRPr>
            </a:pPr>
            <a:r>
              <a:t>You see exactly one lane.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GPU is a complete MPI-capable lane when the selected toolchain supports it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package modules prevent incompatible version mixes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VALIDATION · PRODUCTION PRIOR 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The shape everyone converges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118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NASA JSC  ·  Flight Sciences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Avenir Next"/>
              </a:defRPr>
            </a:pPr>
            <a:r>
              <a:t>1,000+ packages · 4 compiler suites · 3 MPIs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Lmod hierarchy: Core → Compiler → MPI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compiler_mixing: false — lanes stay isolated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“Users never run a spack command.”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1" y="1600200"/>
            <a:ext cx="361188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ALCF  ·  Polaris Spack 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Avenir Next"/>
              </a:defRPr>
            </a:pPr>
            <a:r>
              <a:t>spack-pe-base + spack-pe-gnu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1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Base built once with system GCC, PE-agnostic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Meta-module gates MODULEPATH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Packages appear only after the stack loads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3" y="1600200"/>
            <a:ext cx="3611880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Spack project  ·  E4S / HPSF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Avenir Next"/>
              </a:defRPr>
            </a:pPr>
            <a:r>
              <a:t>Incremental concretization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Foundation → GPU/MPI/Python → integrations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Flat 270-spec environments hang the solver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Build caches are load-bearing, not optional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864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Base built once  →  isolated per-compiler/MPI fan-out  →  modules are the user contract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GENERATED, NOT HAND-CURATED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How a stack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PROBE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cluster-inspector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reads the system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24328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928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POLICY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one small site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defaults file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28616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57216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RENDER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stack-composer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emits every lane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32904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61504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Spack · lanes 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in parallel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37192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65792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PUBLISH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modules · views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caches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48840" y="3108960"/>
            <a:ext cx="786384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Core + Foundation — built once per compiler surface, portable target</a:t>
            </a:r>
          </a:p>
          <a:p>
            <a:pPr algn="ctr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  |   zlib · xz · zstd (single pinned version)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880360" y="3794760"/>
            <a:ext cx="3200400" cy="548640"/>
          </a:xfrm>
          <a:prstGeom prst="line">
            <a:avLst/>
          </a:prstGeom>
          <a:ln w="28575">
            <a:solidFill>
              <a:srgbClr val="D9770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371600" y="4343400"/>
            <a:ext cx="3017520" cy="8686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hdf5~mpi · fftw~mpi · boost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3794760"/>
            <a:ext cx="91440" cy="548640"/>
          </a:xfrm>
          <a:prstGeom prst="line">
            <a:avLst/>
          </a:prstGeom>
          <a:ln w="28575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663440" y="4343400"/>
            <a:ext cx="301752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Cray MPICH · hdf5+mpi · netcdf · tau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0760" y="3794760"/>
            <a:ext cx="3383280" cy="548640"/>
          </a:xfrm>
          <a:prstGeom prst="line">
            <a:avLst/>
          </a:prstGeom>
          <a:ln w="28575">
            <a:solidFill>
              <a:srgbClr val="7C3A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955279" y="4343400"/>
            <a:ext cx="301752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GPU-aware MPI · rocm/cuda — arch from the probe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Avenir Next"/>
              </a:defRPr>
            </a:pPr>
            <a:r>
              <a:t>A new system is a probe + a render — not months of curation.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The same pipeline produced a Cray EX (MI300A · ROCm) stack and an NVIDIA A100 Linux stack, unchanged.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THE FRONT DOOR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a user experiences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09390" y="1645920"/>
            <a:ext cx="457200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$ module load cse/GCC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390" y="2212848"/>
            <a:ext cx="0" cy="36576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63470" y="2578608"/>
            <a:ext cx="3749039" cy="9144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Core — loads automatically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cmake · python · miniforge · gsl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270" y="2578608"/>
            <a:ext cx="3749039" cy="9144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Foundation — ambient in the view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zlib · xz · zstd — one pinned version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390" y="3493008"/>
            <a:ext cx="0" cy="45720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809390" y="3950208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43400"/>
            <a:ext cx="3474720" cy="9144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hdf5~mpi 2.1.0 / 1.14.6 · fftw · 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343400"/>
            <a:ext cx="3474720" cy="9144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Cray MPICH · hdf5+mpi · netcdf · tau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4343400"/>
            <a:ext cx="3474720" cy="9144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GPU-aware MPI · kokkos +rocm gfx942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577840"/>
            <a:ext cx="108356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50" b="1">
                <a:solidFill>
                  <a:srgbClr val="0F172A"/>
                </a:solidFill>
                <a:latin typeface="Avenir Next"/>
              </a:defRPr>
            </a:pPr>
            <a:r>
              <a:t>Only the chosen lane is visible — GPU includes its compatible MPI surface.</a:t>
            </a:r>
          </a:p>
          <a:p>
            <a:pPr algn="ctr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Clean module names stay; module metadata blocks incompatible HDF5/NetCDF-style version mixes.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NAMES CARRY FACTS, NOT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Lane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7432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No MPI implementation exists for it, or it is a compiler-agnostic building block. Loads with the surface.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gsl · python · miniforge · cmake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1645920"/>
            <a:ext cx="27432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4176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MPI-capable — deliberately built without MPI for users who want it 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hdf5~mpi · fftw~mpi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37376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37376" y="1645920"/>
            <a:ext cx="27432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Built against the system MPI. Qualified only when the system offers more than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MPI  ·  or MPI-openmpi / MPI-mpich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81744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1744" y="1645920"/>
            <a:ext cx="27432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18904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Complete MPI+GPU lane over a compatible compiler, MPI, and GPU toolkit. Load GPU instead of MPI, not in addition to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2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GPU  ·  or GPU-gfx90a / GPU-gfx942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578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Modules: cse/&lt;Compiler&gt;/&lt;Lane&gt; — short names for users; dependency compatibility is enforced by module metadata.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TWO COMPILER SURFACES · ONE CRAY SYSTEM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Pilot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cse/&lt;SystemDefault&gt;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whatever the machine blesses as its 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(view)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cse/GCC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the portable reference surface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(view)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9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Representative roster — newest two supported releases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7627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03904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NetCDF-Fortran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31536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NetCDF-C++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59168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1443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03904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Kokkos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31536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59168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Miniforge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Newest-two policy: clean package names · compatible chains load · incompatible mixes fail clearly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THE PIPELINE IS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Status and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4068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5803D"/>
                </a:solidFill>
                <a:latin typeface="Avenir Next"/>
              </a:defRPr>
            </a:pPr>
            <a: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7744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End-to-end Cray smoke: probe → render → concretize → build (PrgEnv-gnu · cray-mpich · ROCm)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2900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Second system validated the generic-Linux path and hardened the prober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8056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Science stack renders clean today: four lanes, two-version roster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4924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D97706"/>
                </a:solidFill>
                <a:latin typeface="Avenir Next"/>
              </a:defRPr>
            </a:pPr>
            <a:r>
              <a:t>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37744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Build the science lanes on the Cray and Linux systems; verify the module/view front door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42900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Encode module compatibility checks for multi-version package chains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48056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Release process: build caches, lockfiles, release manifest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Core and foundation — built once per compiler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42245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Foundation — ambient in the lane view, never a module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zlib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 (require: pin)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xz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zstd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1.5.6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Core tools — user-loadable, compiler-agnostic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cmake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4.3.3 · 4.2.3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ninja · pkgconf · git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newest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unpinned — newest from the recipe generation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python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3.14.5 · 3.13.13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the two newest supported minor lines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py-numpy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against each python line (newest non-deprecated recipe)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miniforge3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26.1.1-3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by nature — installer for user-managed environments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Only-serial by nature — no MPI implementation exists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gsl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2.8 · 2.7.1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sqlite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3.53.1 · 3.51.2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Serial lane — MPI-capable, deliberately built without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3922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data chains — each netcdf rides one named hdf5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—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 —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math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here; the MPI lane carries its own +mpi build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Common compiler-dependent — built here once, available in every lane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openblas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0.3.33 · 0.3.32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performance-sensitive, so payload rather than core; the BLAS every lane links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netlib-lapack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3.12.1 · 3.12.0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reference LAPACK alongside openblas (flagged for team review)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gnuplot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6.0.0 · 5.4.10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needs the surface's compiler, so payload rather than core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MPI and GPU lanes — built against the system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5129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data chains — same pairing rule as serial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+parallel-netcdf —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 —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math and tools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+mpi; the Serial lane carries its own ~mpi build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tau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2.35.1 · 2.35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dakota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6.24.0 · 6.23.0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— heaviest build in the roster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GPU lane — selects the full MPI roster above, plus the GPU payload</a:t>
                      </a:r>
                    </a:p>
                  </a:txBody>
                  <a:tcPr marL="109728" marR="73152" marT="13716" marB="13716" anchor="ctr">
                    <a:solidFill>
                      <a:srgbClr val="7C3A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kokkos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5.1.1 · 5.1.0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+gpu → expands per lane: +rocm amdgpu_target=&lt;arch&gt; or +cuda cuda_arch=&lt;n&gt;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Common compiler-dependent — the Serial-lane build, available here too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common packages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see Serial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openblas · netlib-lapack · gnuplot: the same modules through the shared root, nothing rebuilt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Externals — used from the system, never built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externals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system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cray-mpich (Platform-backed) · openmpi, openssl (Site-external)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
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137160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7" name="Rounded Rectangle 26"/>
          <p:cNvSpPr/>
          <p:nvPr/>
        </p:nvSpPr>
        <p:spPr>
          <a:xfrm>
            <a:off x="8229600" y="3063240"/>
            <a:ext cx="1371600" cy="566928"/>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8" name="Rounded Rectangle 27"/>
          <p:cNvSpPr/>
          <p:nvPr/>
        </p:nvSpPr>
        <p:spPr>
          <a:xfrm>
            <a:off x="9692640" y="3063240"/>
            <a:ext cx="14173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9" name="Connector 28"/>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1" name="Rounded Rectangle 30"/>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2" name="Rounded Rectangle 31"/>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3" name="Rounded Rectangle 32"/>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4" name="TextBox 33"/>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85800" y="2578608"/>
            <a:ext cx="3474720"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9" name="Rounded Rectangle 8"/>
          <p:cNvSpPr/>
          <p:nvPr/>
        </p:nvSpPr>
        <p:spPr>
          <a:xfrm>
            <a:off x="4361688" y="2578608"/>
            <a:ext cx="3474720" cy="91440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10" name="Rounded Rectangle 9"/>
          <p:cNvSpPr/>
          <p:nvPr/>
        </p:nvSpPr>
        <p:spPr>
          <a:xfrm>
            <a:off x="8037575" y="2578608"/>
            <a:ext cx="3474720"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1" name="Connector 10"/>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3" name="Rounded Rectangle 12"/>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4" name="Rounded Rectangle 13"/>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5" name="Rounded Rectangle 14"/>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6" name="Rounded Rectangle 15"/>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load from the surface itself.</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34290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048256" cy="5943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9" name="TextBox 8"/>
          <p:cNvSpPr txBox="1"/>
          <p:nvPr/>
        </p:nvSpPr>
        <p:spPr>
          <a:xfrm>
            <a:off x="694944" y="2377440"/>
            <a:ext cx="1783080" cy="1920240"/>
          </a:xfrm>
          <a:prstGeom prst="rect">
            <a:avLst/>
          </a:prstGeom>
          <a:noFill/>
        </p:spPr>
        <p:txBody>
          <a:bodyPr wrap="square" anchor="t">
            <a:spAutoFit/>
          </a:bodyPr>
          <a:lstStyle/>
          <a:p>
            <a:pPr algn="l">
              <a:defRPr sz="1100" b="0">
                <a:solidFill>
                  <a:srgbClr val="334155"/>
                </a:solidFill>
                <a:latin typeface="Avenir Next"/>
              </a:defRPr>
            </a:pPr>
            <a:r>
              <a:t>Compiler-agnostic building blocks and tools. Available as soon as the surface loads.</a:t>
            </a:r>
          </a:p>
        </p:txBody>
      </p:sp>
      <p:sp>
        <p:nvSpPr>
          <p:cNvPr id="10" name="TextBox 9"/>
          <p:cNvSpPr txBox="1"/>
          <p:nvPr/>
        </p:nvSpPr>
        <p:spPr>
          <a:xfrm>
            <a:off x="694944" y="4343400"/>
            <a:ext cx="1783080" cy="640080"/>
          </a:xfrm>
          <a:prstGeom prst="rect">
            <a:avLst/>
          </a:prstGeom>
          <a:noFill/>
        </p:spPr>
        <p:txBody>
          <a:bodyPr wrap="square" anchor="t">
            <a:spAutoFit/>
          </a:bodyPr>
          <a:lstStyle/>
          <a:p>
            <a:pPr algn="l">
              <a:defRPr sz="1000" b="0">
                <a:solidFill>
                  <a:srgbClr val="64748B"/>
                </a:solidFill>
                <a:latin typeface="Avenir Next"/>
              </a:defRPr>
            </a:pPr>
            <a:r>
              <a:t>cmake · python · miniforge · gsl</a:t>
            </a:r>
          </a:p>
        </p:txBody>
      </p:sp>
      <p:sp>
        <p:nvSpPr>
          <p:cNvPr id="11" name="Rounded Rectangle 10"/>
          <p:cNvSpPr/>
          <p:nvPr/>
        </p:nvSpPr>
        <p:spPr>
          <a:xfrm>
            <a:off x="2706624" y="1645920"/>
            <a:ext cx="2048256" cy="34290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06624" y="1645920"/>
            <a:ext cx="2048256" cy="59436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4" name="TextBox 13"/>
          <p:cNvSpPr txBox="1"/>
          <p:nvPr/>
        </p:nvSpPr>
        <p:spPr>
          <a:xfrm>
            <a:off x="2852928" y="2377440"/>
            <a:ext cx="1783080" cy="1920240"/>
          </a:xfrm>
          <a:prstGeom prst="rect">
            <a:avLst/>
          </a:prstGeom>
          <a:noFill/>
        </p:spPr>
        <p:txBody>
          <a:bodyPr wrap="square" anchor="t">
            <a:spAutoFit/>
          </a:bodyPr>
          <a:lstStyle/>
          <a:p>
            <a:pPr algn="l">
              <a:defRPr sz="1100" b="0">
                <a:solidFill>
                  <a:srgbClr val="334155"/>
                </a:solidFill>
                <a:latin typeface="Avenir Next"/>
              </a:defRPr>
            </a:pPr>
            <a:r>
              <a:t>Built for this compiler, one build for every lane. Available with the surface, like Core.</a:t>
            </a:r>
          </a:p>
        </p:txBody>
      </p:sp>
      <p:sp>
        <p:nvSpPr>
          <p:cNvPr id="15" name="TextBox 14"/>
          <p:cNvSpPr txBox="1"/>
          <p:nvPr/>
        </p:nvSpPr>
        <p:spPr>
          <a:xfrm>
            <a:off x="2852928" y="4343400"/>
            <a:ext cx="1783080" cy="640080"/>
          </a:xfrm>
          <a:prstGeom prst="rect">
            <a:avLst/>
          </a:prstGeom>
          <a:noFill/>
        </p:spPr>
        <p:txBody>
          <a:bodyPr wrap="square" anchor="t">
            <a:spAutoFit/>
          </a:bodyPr>
          <a:lstStyle/>
          <a:p>
            <a:pPr algn="l">
              <a:defRPr sz="1000" b="0">
                <a:solidFill>
                  <a:srgbClr val="64748B"/>
                </a:solidFill>
                <a:latin typeface="Avenir Next"/>
              </a:defRPr>
            </a:pPr>
            <a:r>
              <a:t>openblas · gnuplot</a:t>
            </a:r>
          </a:p>
        </p:txBody>
      </p:sp>
      <p:sp>
        <p:nvSpPr>
          <p:cNvPr id="16" name="Rounded Rectangle 15"/>
          <p:cNvSpPr/>
          <p:nvPr/>
        </p:nvSpPr>
        <p:spPr>
          <a:xfrm>
            <a:off x="4864607" y="1645920"/>
            <a:ext cx="2048256" cy="34290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864607" y="1645920"/>
            <a:ext cx="2048256" cy="5943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9" name="TextBox 18"/>
          <p:cNvSpPr txBox="1"/>
          <p:nvPr/>
        </p:nvSpPr>
        <p:spPr>
          <a:xfrm>
            <a:off x="5010912" y="2377440"/>
            <a:ext cx="1783080" cy="1920240"/>
          </a:xfrm>
          <a:prstGeom prst="rect">
            <a:avLst/>
          </a:prstGeom>
          <a:noFill/>
        </p:spPr>
        <p:txBody>
          <a:bodyPr wrap="square" anchor="t">
            <a:spAutoFit/>
          </a:bodyPr>
          <a:lstStyle/>
          <a:p>
            <a:pPr algn="l">
              <a:defRPr sz="1100" b="0">
                <a:solidFill>
                  <a:srgbClr val="334155"/>
                </a:solidFill>
                <a:latin typeface="Avenir Next"/>
              </a:defRPr>
            </a:pPr>
            <a:r>
              <a:t>MPI-capable packages built without MPI on purpose, for work that never launches a parallel job.</a:t>
            </a:r>
          </a:p>
        </p:txBody>
      </p:sp>
      <p:sp>
        <p:nvSpPr>
          <p:cNvPr id="20" name="TextBox 19"/>
          <p:cNvSpPr txBox="1"/>
          <p:nvPr/>
        </p:nvSpPr>
        <p:spPr>
          <a:xfrm>
            <a:off x="5010912" y="4343400"/>
            <a:ext cx="1783080" cy="640080"/>
          </a:xfrm>
          <a:prstGeom prst="rect">
            <a:avLst/>
          </a:prstGeom>
          <a:noFill/>
        </p:spPr>
        <p:txBody>
          <a:bodyPr wrap="square" anchor="t">
            <a:spAutoFit/>
          </a:bodyPr>
          <a:lstStyle/>
          <a:p>
            <a:pPr algn="l">
              <a:defRPr sz="1000" b="0">
                <a:solidFill>
                  <a:srgbClr val="64748B"/>
                </a:solidFill>
                <a:latin typeface="Avenir Next"/>
              </a:defRPr>
            </a:pPr>
            <a:r>
              <a:t>hdf5~mpi · fftw~mpi · boost~mpi</a:t>
            </a:r>
          </a:p>
        </p:txBody>
      </p:sp>
      <p:sp>
        <p:nvSpPr>
          <p:cNvPr id="21" name="Rounded Rectangle 20"/>
          <p:cNvSpPr/>
          <p:nvPr/>
        </p:nvSpPr>
        <p:spPr>
          <a:xfrm>
            <a:off x="7022592" y="1645920"/>
            <a:ext cx="2048256" cy="34290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22592" y="1645920"/>
            <a:ext cx="2048256" cy="5943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4" name="TextBox 23"/>
          <p:cNvSpPr txBox="1"/>
          <p:nvPr/>
        </p:nvSpPr>
        <p:spPr>
          <a:xfrm>
            <a:off x="7168896" y="2377440"/>
            <a:ext cx="1783080" cy="1920240"/>
          </a:xfrm>
          <a:prstGeom prst="rect">
            <a:avLst/>
          </a:prstGeom>
          <a:noFill/>
        </p:spPr>
        <p:txBody>
          <a:bodyPr wrap="square" anchor="t">
            <a:spAutoFit/>
          </a:bodyPr>
          <a:lstStyle/>
          <a:p>
            <a:pPr algn="l">
              <a:defRPr sz="1100" b="0">
                <a:solidFill>
                  <a:srgbClr val="334155"/>
                </a:solidFill>
                <a:latin typeface="Avenir Next"/>
              </a:defRPr>
            </a:pPr>
            <a:r>
              <a:t>Built against the system MPI. Qualified only when the system offers more than one.</a:t>
            </a:r>
          </a:p>
        </p:txBody>
      </p:sp>
      <p:sp>
        <p:nvSpPr>
          <p:cNvPr id="25" name="TextBox 24"/>
          <p:cNvSpPr txBox="1"/>
          <p:nvPr/>
        </p:nvSpPr>
        <p:spPr>
          <a:xfrm>
            <a:off x="7168896" y="4343400"/>
            <a:ext cx="1783080" cy="640080"/>
          </a:xfrm>
          <a:prstGeom prst="rect">
            <a:avLst/>
          </a:prstGeom>
          <a:noFill/>
        </p:spPr>
        <p:txBody>
          <a:bodyPr wrap="square" anchor="t">
            <a:spAutoFit/>
          </a:bodyPr>
          <a:lstStyle/>
          <a:p>
            <a:pPr algn="l">
              <a:defRPr sz="1000" b="0">
                <a:solidFill>
                  <a:srgbClr val="64748B"/>
                </a:solidFill>
                <a:latin typeface="Avenir Next"/>
              </a:defRPr>
            </a:pPr>
            <a:r>
              <a:t>MPI · or MPI-openmpi / MPI-mpich</a:t>
            </a:r>
          </a:p>
        </p:txBody>
      </p:sp>
      <p:sp>
        <p:nvSpPr>
          <p:cNvPr id="26" name="Rounded Rectangle 25"/>
          <p:cNvSpPr/>
          <p:nvPr/>
        </p:nvSpPr>
        <p:spPr>
          <a:xfrm>
            <a:off x="9180576" y="1645920"/>
            <a:ext cx="2048256" cy="34290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80576" y="1645920"/>
            <a:ext cx="2048256" cy="5943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9" name="TextBox 28"/>
          <p:cNvSpPr txBox="1"/>
          <p:nvPr/>
        </p:nvSpPr>
        <p:spPr>
          <a:xfrm>
            <a:off x="9326880" y="2377440"/>
            <a:ext cx="1783080" cy="1920240"/>
          </a:xfrm>
          <a:prstGeom prst="rect">
            <a:avLst/>
          </a:prstGeom>
          <a:noFill/>
        </p:spPr>
        <p:txBody>
          <a:bodyPr wrap="square" anchor="t">
            <a:spAutoFit/>
          </a:bodyPr>
          <a:lstStyle/>
          <a:p>
            <a:pPr algn="l">
              <a:defRPr sz="1100" b="0">
                <a:solidFill>
                  <a:srgbClr val="334155"/>
                </a:solidFill>
                <a:latin typeface="Avenir Next"/>
              </a:defRPr>
            </a:pPr>
            <a:r>
              <a:t>The full MPI roster plus the GPU payload. Load GPU instead of MPI, not in addition.</a:t>
            </a:r>
          </a:p>
        </p:txBody>
      </p:sp>
      <p:sp>
        <p:nvSpPr>
          <p:cNvPr id="30" name="TextBox 29"/>
          <p:cNvSpPr txBox="1"/>
          <p:nvPr/>
        </p:nvSpPr>
        <p:spPr>
          <a:xfrm>
            <a:off x="9326880" y="4343400"/>
            <a:ext cx="1783080" cy="640080"/>
          </a:xfrm>
          <a:prstGeom prst="rect">
            <a:avLst/>
          </a:prstGeom>
          <a:noFill/>
        </p:spPr>
        <p:txBody>
          <a:bodyPr wrap="square" anchor="t">
            <a:spAutoFit/>
          </a:bodyPr>
          <a:lstStyle/>
          <a:p>
            <a:pPr algn="l">
              <a:defRPr sz="1000" b="0">
                <a:solidFill>
                  <a:srgbClr val="64748B"/>
                </a:solidFill>
                <a:latin typeface="Avenir Next"/>
              </a:defRPr>
            </a:pPr>
            <a:r>
              <a:t>GPU · or GPU-gfx90a / GPU-gfx942</a:t>
            </a:r>
          </a:p>
        </p:txBody>
      </p:sp>
      <p:sp>
        <p:nvSpPr>
          <p:cNvPr id="31" name="Rounded Rectangle 30"/>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150876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0" name="Rounded Rectangle 9"/>
          <p:cNvSpPr/>
          <p:nvPr/>
        </p:nvSpPr>
        <p:spPr>
          <a:xfrm>
            <a:off x="2468880" y="2743200"/>
            <a:ext cx="1508760" cy="50292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1" name="Rounded Rectangle 10"/>
          <p:cNvSpPr/>
          <p:nvPr/>
        </p:nvSpPr>
        <p:spPr>
          <a:xfrm>
            <a:off x="4114800" y="2743200"/>
            <a:ext cx="150876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2" name="Rounded Rectangle 11"/>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3" name="Rounded Rectangle 12"/>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4" name="Rounded Rectangle 13"/>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5" name="Rounded Rectangle 14"/>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7" name="TextBox 16"/>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8" name="Rounded Rectangle 17"/>
          <p:cNvSpPr/>
          <p:nvPr/>
        </p:nvSpPr>
        <p:spPr>
          <a:xfrm>
            <a:off x="6537959" y="2743200"/>
            <a:ext cx="150876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9" name="Rounded Rectangle 18"/>
          <p:cNvSpPr/>
          <p:nvPr/>
        </p:nvSpPr>
        <p:spPr>
          <a:xfrm>
            <a:off x="8183879" y="2743200"/>
            <a:ext cx="1508760" cy="50292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20" name="Rounded Rectangle 19"/>
          <p:cNvSpPr/>
          <p:nvPr/>
        </p:nvSpPr>
        <p:spPr>
          <a:xfrm>
            <a:off x="9829800" y="2743200"/>
            <a:ext cx="150876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1" name="Rounded Rectangle 20"/>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2" name="Rounded Rectangle 21"/>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3" name="Rounded Rectangle 22"/>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4" name="TextBox 23"/>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5" name="Rounded Rectangle 24"/>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6" name="Rounded Rectangle 25"/>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8" name="Rounded Rectangle 27"/>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9" name="Rounded Rectangle 28"/>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30" name="Rounded Rectangle 29"/>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31" name="Rounded Rectangle 30"/>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2" name="Rounded Rectangle 31"/>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3" name="Rounded Rectangle 32"/>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4" name="Rounded Rectangle 33"/>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5" name="Rounded Rectangle 34"/>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6" name="Rounded Rectangle 35"/>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7" name="Rounded Rectangle 36"/>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8" name="Rounded Rectangle 37"/>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9" name="TextBox 38"/>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happens next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566928" cy="10515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8" name="TextBox 7"/>
          <p:cNvSpPr txBox="1"/>
          <p:nvPr/>
        </p:nvSpPr>
        <p:spPr>
          <a:xfrm>
            <a:off x="1325880" y="1810512"/>
            <a:ext cx="10058400" cy="310896"/>
          </a:xfrm>
          <a:prstGeom prst="rect">
            <a:avLst/>
          </a:prstGeom>
          <a:noFill/>
        </p:spPr>
        <p:txBody>
          <a:bodyPr wrap="square" anchor="t">
            <a:spAutoFit/>
          </a:bodyPr>
          <a:lstStyle/>
          <a:p>
            <a:pPr algn="l">
              <a:defRPr sz="1550" b="1">
                <a:solidFill>
                  <a:srgbClr val="0F172A"/>
                </a:solidFill>
                <a:latin typeface="Avenir Next"/>
              </a:defRPr>
            </a:pPr>
            <a:r>
              <a:t>Build the pilot stack on the four systems</a:t>
            </a:r>
          </a:p>
        </p:txBody>
      </p:sp>
      <p:sp>
        <p:nvSpPr>
          <p:cNvPr id="9" name="TextBox 8"/>
          <p:cNvSpPr txBox="1"/>
          <p:nvPr/>
        </p:nvSpPr>
        <p:spPr>
          <a:xfrm>
            <a:off x="1325880" y="2176272"/>
            <a:ext cx="10058400" cy="420624"/>
          </a:xfrm>
          <a:prstGeom prst="rect">
            <a:avLst/>
          </a:prstGeom>
          <a:noFill/>
        </p:spPr>
        <p:txBody>
          <a:bodyPr wrap="square" anchor="t">
            <a:spAutoFit/>
          </a:bodyPr>
          <a:lstStyle/>
          <a:p>
            <a:pPr algn="l">
              <a:defRPr sz="1150" b="0">
                <a:solidFill>
                  <a:srgbClr val="64748B"/>
                </a:solidFill>
                <a:latin typeface="Avenir Next"/>
              </a:defRPr>
            </a:pPr>
            <a:r>
              <a:t>Probe each machine, render its lanes, concretize, install. The front door is the first real test of the naming: one compiler surface, then one lane, then a package.</a:t>
            </a:r>
          </a:p>
        </p:txBody>
      </p:sp>
      <p:sp>
        <p:nvSpPr>
          <p:cNvPr id="10" name="Rounded Rectangle 9"/>
          <p:cNvSpPr/>
          <p:nvPr/>
        </p:nvSpPr>
        <p:spPr>
          <a:xfrm>
            <a:off x="548640" y="2852928"/>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852928"/>
            <a:ext cx="566928" cy="1051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2" name="TextBox 11"/>
          <p:cNvSpPr txBox="1"/>
          <p:nvPr/>
        </p:nvSpPr>
        <p:spPr>
          <a:xfrm>
            <a:off x="1325880" y="3017520"/>
            <a:ext cx="10058400" cy="310896"/>
          </a:xfrm>
          <a:prstGeom prst="rect">
            <a:avLst/>
          </a:prstGeom>
          <a:noFill/>
        </p:spPr>
        <p:txBody>
          <a:bodyPr wrap="square" anchor="t">
            <a:spAutoFit/>
          </a:bodyPr>
          <a:lstStyle/>
          <a:p>
            <a:pPr algn="l">
              <a:defRPr sz="1550" b="1">
                <a:solidFill>
                  <a:srgbClr val="0F172A"/>
                </a:solidFill>
                <a:latin typeface="Avenir Next"/>
              </a:defRPr>
            </a:pPr>
            <a:r>
              <a:t>Prove the module contract</a:t>
            </a:r>
          </a:p>
        </p:txBody>
      </p:sp>
      <p:sp>
        <p:nvSpPr>
          <p:cNvPr id="13" name="TextBox 12"/>
          <p:cNvSpPr txBox="1"/>
          <p:nvPr/>
        </p:nvSpPr>
        <p:spPr>
          <a:xfrm>
            <a:off x="1325880" y="3383280"/>
            <a:ext cx="10058400" cy="420624"/>
          </a:xfrm>
          <a:prstGeom prst="rect">
            <a:avLst/>
          </a:prstGeom>
          <a:noFill/>
        </p:spPr>
        <p:txBody>
          <a:bodyPr wrap="square" anchor="t">
            <a:spAutoFit/>
          </a:bodyPr>
          <a:lstStyle/>
          <a:p>
            <a:pPr algn="l">
              <a:defRPr sz="1150" b="0">
                <a:solidFill>
                  <a:srgbClr val="64748B"/>
                </a:solidFill>
                <a:latin typeface="Avenir Next"/>
              </a:defRPr>
            </a:pPr>
            <a:r>
              <a:t>Compatible chains load and incompatible mixes fail. Lane purity and version pairing are checked in the concretized lockfile, never assumed from the render.</a:t>
            </a:r>
          </a:p>
        </p:txBody>
      </p:sp>
      <p:sp>
        <p:nvSpPr>
          <p:cNvPr id="14" name="Rounded Rectangle 13"/>
          <p:cNvSpPr/>
          <p:nvPr/>
        </p:nvSpPr>
        <p:spPr>
          <a:xfrm>
            <a:off x="548640" y="4059936"/>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059936"/>
            <a:ext cx="566928" cy="10515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6" name="TextBox 15"/>
          <p:cNvSpPr txBox="1"/>
          <p:nvPr/>
        </p:nvSpPr>
        <p:spPr>
          <a:xfrm>
            <a:off x="1325880" y="4224528"/>
            <a:ext cx="10058400" cy="310896"/>
          </a:xfrm>
          <a:prstGeom prst="rect">
            <a:avLst/>
          </a:prstGeom>
          <a:noFill/>
        </p:spPr>
        <p:txBody>
          <a:bodyPr wrap="square" anchor="t">
            <a:spAutoFit/>
          </a:bodyPr>
          <a:lstStyle/>
          <a:p>
            <a:pPr algn="l">
              <a:defRPr sz="1550" b="1">
                <a:solidFill>
                  <a:srgbClr val="0F172A"/>
                </a:solidFill>
                <a:latin typeface="Avenir Next"/>
              </a:defRPr>
            </a:pPr>
            <a:r>
              <a:t>Stand up the release process</a:t>
            </a:r>
          </a:p>
        </p:txBody>
      </p:sp>
      <p:sp>
        <p:nvSpPr>
          <p:cNvPr id="17" name="TextBox 16"/>
          <p:cNvSpPr txBox="1"/>
          <p:nvPr/>
        </p:nvSpPr>
        <p:spPr>
          <a:xfrm>
            <a:off x="1325880" y="4590288"/>
            <a:ext cx="10058400" cy="420624"/>
          </a:xfrm>
          <a:prstGeom prst="rect">
            <a:avLst/>
          </a:prstGeom>
          <a:noFill/>
        </p:spPr>
        <p:txBody>
          <a:bodyPr wrap="square" anchor="t">
            <a:spAutoFit/>
          </a:bodyPr>
          <a:lstStyle/>
          <a:p>
            <a:pPr algn="l">
              <a:defRPr sz="1150" b="0">
                <a:solidFill>
                  <a:srgbClr val="64748B"/>
                </a:solidFill>
                <a:latin typeface="Avenir Next"/>
              </a:defRPr>
            </a:pPr>
            <a:r>
              <a:t>Build caches, a lockfile per lane, and a release manifest, so a release can be rebuilt exactly, promoted deliberately, and rolled back by moving a pointer.</a:t>
            </a:r>
          </a:p>
        </p:txBody>
      </p:sp>
      <p:sp>
        <p:nvSpPr>
          <p:cNvPr id="18" name="Rounded Rectangle 17"/>
          <p:cNvSpPr/>
          <p:nvPr/>
        </p:nvSpPr>
        <p:spPr>
          <a:xfrm>
            <a:off x="548640" y="5266944"/>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66944"/>
            <a:ext cx="566928" cy="1051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20" name="TextBox 19"/>
          <p:cNvSpPr txBox="1"/>
          <p:nvPr/>
        </p:nvSpPr>
        <p:spPr>
          <a:xfrm>
            <a:off x="1325880" y="5431536"/>
            <a:ext cx="10058400" cy="310896"/>
          </a:xfrm>
          <a:prstGeom prst="rect">
            <a:avLst/>
          </a:prstGeom>
          <a:noFill/>
        </p:spPr>
        <p:txBody>
          <a:bodyPr wrap="square" anchor="t">
            <a:spAutoFit/>
          </a:bodyPr>
          <a:lstStyle/>
          <a:p>
            <a:pPr algn="l">
              <a:defRPr sz="1550" b="1">
                <a:solidFill>
                  <a:srgbClr val="0F172A"/>
                </a:solidFill>
                <a:latin typeface="Avenir Next"/>
              </a:defRPr>
            </a:pPr>
            <a:r>
              <a:t>Settle the open decisions</a:t>
            </a:r>
          </a:p>
        </p:txBody>
      </p:sp>
      <p:sp>
        <p:nvSpPr>
          <p:cNvPr id="21" name="TextBox 20"/>
          <p:cNvSpPr txBox="1"/>
          <p:nvPr/>
        </p:nvSpPr>
        <p:spPr>
          <a:xfrm>
            <a:off x="1325880" y="5797296"/>
            <a:ext cx="10058400" cy="420624"/>
          </a:xfrm>
          <a:prstGeom prst="rect">
            <a:avLst/>
          </a:prstGeom>
          <a:noFill/>
        </p:spPr>
        <p:txBody>
          <a:bodyPr wrap="square" anchor="t">
            <a:spAutoFit/>
          </a:bodyPr>
          <a:lstStyle/>
          <a:p>
            <a:pPr algn="l">
              <a:defRPr sz="1150" b="0">
                <a:solidFill>
                  <a:srgbClr val="64748B"/>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15803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compiler-common</a:t>
                      </a:r>
                    </a:p>
                  </a:txBody>
                  <a:tcPr marL="109728" marR="73152" marT="13716" marB="13716" anchor="ctr">
                    <a:solidFill>
                      <a:srgbClr val="FFFFFF"/>
                    </a:solidFill>
                  </a:tcPr>
                </a:tc>
                <a:tc>
                  <a:txBody>
                    <a:bodyPr/>
                    <a:lstStyle/>
                    <a:p>
                      <a:pPr>
                        <a:defRPr sz="1100" b="0">
                          <a:solidFill>
                            <a:srgbClr val="334155"/>
                          </a:solidFill>
                          <a:latin typeface="Avenir Next"/>
                        </a:defRPr>
                      </a:pPr>
                      <a:r>
                        <a:t>see Core slide</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54206">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
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600" b="1">
                <a:solidFill>
                  <a:srgbClr val="0F172A"/>
                </a:solidFill>
                <a:latin typeface="Avenir Next"/>
              </a:defRPr>
            </a:pPr>
            <a:r>
              <a:t>The CSE Software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3063240"/>
            <a:ext cx="2194560" cy="54864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2918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334155"/>
                </a:solidFill>
                <a:latin typeface="Avenir Next"/>
              </a:defRPr>
            </a:pPr>
            <a:r>
              <a:t>One clean build surface per compiler, MPI, and GPU — the lanes model</a:t>
            </a:r>
          </a:p>
          <a:p>
            <a:pPr algn="l">
              <a:defRPr sz="1500" b="0">
                <a:solidFill>
                  <a:srgbClr val="64748B"/>
                </a:solidFill>
                <a:latin typeface="Avenir Next"/>
              </a:defRPr>
            </a:pPr>
            <a:r>
              <a:t>How we got here, what the community runs, and where we're going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July 2026  ·  working draft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60" y="2148840"/>
            <a:ext cx="6858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06840" y="2148840"/>
            <a:ext cx="6858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0" y="2148840"/>
            <a:ext cx="6858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744200" y="2148840"/>
            <a:ext cx="6858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WE ARE · WHERE WE'RE GOING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From one flat surface to lanes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Today — CSEinit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12848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GCC- and Intel-backed flavors · standard / noloads · extends MODULEPATH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hdf5/1.14.6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50592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hdf5/1.10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78224" y="274320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openmpi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50592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78224" y="325526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50592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mkl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78224" y="3767328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50592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78224" y="4279392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D97706"/>
                </a:solidFill>
                <a:latin typeface="Avenir Next"/>
              </a:defRPr>
            </a:pPr>
            <a:r>
              <a:t>Everything visible at once.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GPU is a complete MPI-capable lane when the selected toolchain supports it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package modules prevent incompatible version mixes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600200"/>
            <a:ext cx="5349240" cy="4709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78308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Avenir Next"/>
              </a:defRPr>
            </a:pPr>
            <a:r>
              <a:t>The lanes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2331720"/>
            <a:ext cx="4343400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module load cse/GCC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938260" y="2788920"/>
            <a:ext cx="0" cy="27432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766560" y="3063240"/>
            <a:ext cx="2103120" cy="56692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Core — automatic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06840" y="3063240"/>
            <a:ext cx="2103120" cy="566928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Foundation — in view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938260" y="3630168"/>
            <a:ext cx="0" cy="274319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766560" y="3904487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50" b="1">
                <a:solidFill>
                  <a:srgbClr val="64748B"/>
                </a:solidFill>
                <a:latin typeface="Avenir Next"/>
              </a:defRPr>
            </a:pPr>
            <a:r>
              <a:t>CHOOSE EXACTLY ONE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4224528"/>
            <a:ext cx="1371600" cy="54864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0" y="4224528"/>
            <a:ext cx="1371600" cy="54864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92640" y="4224528"/>
            <a:ext cx="1417320" cy="54864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98348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>
                <a:solidFill>
                  <a:srgbClr val="0D9488"/>
                </a:solidFill>
                <a:latin typeface="Avenir Next"/>
              </a:defRPr>
            </a:pPr>
            <a:r>
              <a:t>You see exactly one lane.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No contamination, no accidental MPI/GPU linkage ·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versions inside a lane stay a policy-backed module choice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VALIDATION · PRODUCTION PRIOR 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The shape everyone converges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3611880" cy="8229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NASA JSC  ·  Flight Sciences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Avenir Next"/>
              </a:defRPr>
            </a:pPr>
            <a:r>
              <a:t>1,000+ packages · 4 compiler suites · 3 MPIs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Lmod hierarchy: Core → Compiler → MPI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compiler_mixing: false — lanes stay isolated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“Users never run a spack command.”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1" y="1600200"/>
            <a:ext cx="3611880" cy="8229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9431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ALCF  ·  Polaris Spack 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1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Avenir Next"/>
              </a:defRPr>
            </a:pPr>
            <a:r>
              <a:t>spack-pe-base + spack-pe-gnu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9431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Base built once with system GCC, PE-agnostic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Meta-module gates MODULEPATH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Packages appear only after the stack loads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023" y="1600200"/>
            <a:ext cx="3611880" cy="35661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3" y="1600200"/>
            <a:ext cx="3611880" cy="8229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1828800"/>
            <a:ext cx="32004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Spack project  ·  E4S / HPSF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395728"/>
            <a:ext cx="3200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D9488"/>
                </a:solidFill>
                <a:latin typeface="Avenir Next"/>
              </a:defRPr>
            </a:pPr>
            <a:r>
              <a:t>Incremental concretization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24612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Foundation → GPU/MPI/Python → integrations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Flat 270-spec environments hang the solver</a:t>
            </a:r>
          </a:p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Build caches are load-bearing, not optional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4864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Base built once  →  isolated per-compiler/MPI fan-out  →  modules are the user contract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GENERATED, NOT HAND-CURATED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How a stack is built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PROBE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cluster-inspector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reads the system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24328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52928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POLICY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one small site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defaults file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28616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57216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RENDER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stack-composer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emits every lane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32904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461504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Spack · lanes build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in parallel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37192" y="2121408"/>
            <a:ext cx="210312" cy="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65792" y="1645920"/>
            <a:ext cx="2057400" cy="960120"/>
          </a:xfrm>
          <a:prstGeom prst="roundRect">
            <a:avLst/>
          </a:prstGeom>
          <a:solidFill>
            <a:srgbClr val="F1F5F9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0F172A"/>
                </a:solidFill>
                <a:latin typeface="Avenir Next"/>
              </a:defRPr>
            </a:pPr>
            <a:r>
              <a:t>PUBLISH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modules · views</a:t>
            </a:r>
          </a:p>
          <a:p>
            <a:pPr algn="ctr">
              <a:defRPr sz="1100" b="0">
                <a:solidFill>
                  <a:srgbClr val="64748B"/>
                </a:solidFill>
                <a:latin typeface="Avenir Next"/>
              </a:defRPr>
            </a:pPr>
            <a:r>
              <a:t>build caches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48840" y="3108960"/>
            <a:ext cx="786384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0F172A"/>
                </a:solidFill>
                <a:latin typeface="Avenir Next"/>
              </a:defRPr>
            </a:pPr>
            <a:r>
              <a:t>Core + Foundation — built once per compiler surface, portable target</a:t>
            </a:r>
          </a:p>
          <a:p>
            <a:pPr algn="ctr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cmake · python · miniforge   |   zlib · xz · zstd (single pinned version)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880360" y="3794760"/>
            <a:ext cx="3200400" cy="548640"/>
          </a:xfrm>
          <a:prstGeom prst="line">
            <a:avLst/>
          </a:prstGeom>
          <a:ln w="28575">
            <a:solidFill>
              <a:srgbClr val="D9770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371600" y="4343400"/>
            <a:ext cx="3017520" cy="86868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hdf5~mpi · fftw~mpi · boost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80760" y="3794760"/>
            <a:ext cx="91440" cy="548640"/>
          </a:xfrm>
          <a:prstGeom prst="line">
            <a:avLst/>
          </a:prstGeom>
          <a:ln w="28575">
            <a:solidFill>
              <a:srgbClr val="2563E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663440" y="4343400"/>
            <a:ext cx="3017520" cy="86868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Cray MPICH · hdf5+mpi · netcdf · tau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80760" y="3794760"/>
            <a:ext cx="3383280" cy="548640"/>
          </a:xfrm>
          <a:prstGeom prst="line">
            <a:avLst/>
          </a:prstGeom>
          <a:ln w="28575">
            <a:solidFill>
              <a:srgbClr val="7C3AE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955279" y="4343400"/>
            <a:ext cx="3017520" cy="86868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00" b="0">
                <a:solidFill>
                  <a:srgbClr val="FFFFFF"/>
                </a:solidFill>
                <a:latin typeface="Avenir Next"/>
              </a:defRPr>
            </a:pPr>
            <a:r>
              <a:t>kokkos · rocm — arch from the probe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0D9488"/>
                </a:solidFill>
                <a:latin typeface="Avenir Next"/>
              </a:defRPr>
            </a:pPr>
            <a:r>
              <a:t>A new system is a probe + a render — not months of curation.</a:t>
            </a:r>
          </a:p>
          <a:p>
            <a:pPr algn="l">
              <a:defRPr sz="1250" b="0">
                <a:solidFill>
                  <a:srgbClr val="64748B"/>
                </a:solidFill>
                <a:latin typeface="Avenir Next"/>
              </a:defRPr>
            </a:pPr>
            <a:r>
              <a:t>The same pipeline produced a Cray EX (MI300A · ROCm) stack and an NVIDIA A100 Linux stack, unchanged.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SCHEMATIC · THE FRONT DOOR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What a user experiences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09390" y="1645920"/>
            <a:ext cx="4572000" cy="56692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$ module load cse/GCC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95390" y="2212848"/>
            <a:ext cx="0" cy="36576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163470" y="2578608"/>
            <a:ext cx="3749039" cy="9144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Core — loads automatically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cmake · python · miniforge · gsl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2578608"/>
            <a:ext cx="3749039" cy="91440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50" b="1">
                <a:solidFill>
                  <a:srgbClr val="FFFFFF"/>
                </a:solidFill>
                <a:latin typeface="Avenir Next"/>
              </a:defRPr>
            </a:pPr>
            <a:r>
              <a:t>Foundation — ambient in the view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zlib · xz · zstd — one pinned version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5390" y="3493008"/>
            <a:ext cx="0" cy="457200"/>
          </a:xfrm>
          <a:prstGeom prst="line">
            <a:avLst/>
          </a:prstGeom>
          <a:ln w="28575">
            <a:solidFill>
              <a:srgbClr val="0D94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809390" y="3950208"/>
            <a:ext cx="4572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50" b="1">
                <a:solidFill>
                  <a:srgbClr val="64748B"/>
                </a:solidFill>
                <a:latin typeface="Avenir Next"/>
              </a:defRPr>
            </a:pPr>
            <a:r>
              <a:t>CHOOSE EXACTLY ONE LANE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43400"/>
            <a:ext cx="3474720" cy="9144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hdf5~mpi 1.14.6 / 1.14.5 · fftw · boost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343400"/>
            <a:ext cx="3474720" cy="9144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Cray MPICH · hdf5+mpi · netcdf · tau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4343400"/>
            <a:ext cx="3474720" cy="9144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5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  <a:p>
            <a:pPr algn="ctr">
              <a:defRPr sz="1150" b="0">
                <a:solidFill>
                  <a:srgbClr val="FFFFFF"/>
                </a:solidFill>
                <a:latin typeface="Avenir Next"/>
              </a:defRPr>
            </a:pPr>
            <a:r>
              <a:t>GPU-aware MPI · kokkos +rocm gfx942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577840"/>
            <a:ext cx="10835640" cy="7772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350" b="1">
                <a:solidFill>
                  <a:srgbClr val="0F172A"/>
                </a:solidFill>
                <a:latin typeface="Avenir Next"/>
              </a:defRPr>
            </a:pPr>
            <a:r>
              <a:t>Only the chosen lane is visible — GPU includes its compatible MPI surface.</a:t>
            </a:r>
          </a:p>
          <a:p>
            <a:pPr algn="ctr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Clean module names stay; module metadata blocks incompatible HDF5/NetCDF-style version mixes.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NAMES CARRY FACTS, NOT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Lane vocabulary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743200" cy="68580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No MPI implementation exists for it, or it is a compiler-agnostic building block. Loads with the surface.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gsl · python · miniforge · cmake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1645920"/>
            <a:ext cx="2743200" cy="685800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4176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MPI-capable — deliberately built without MPI for users who want it plain.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94176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hdf5~mpi · fftw~mpi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37376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37376" y="1645920"/>
            <a:ext cx="2743200" cy="685800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Built against the system MPI. Qualified only when the system offers more than 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MPI  ·  or MPI-openmpi / MPI-mpich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81744" y="1645920"/>
            <a:ext cx="2743200" cy="324612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81744" y="1645920"/>
            <a:ext cx="2743200" cy="685800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18904" y="1755648"/>
            <a:ext cx="24688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2514600"/>
            <a:ext cx="23774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>
                <a:solidFill>
                  <a:srgbClr val="334155"/>
                </a:solidFill>
                <a:latin typeface="Avenir Next"/>
              </a:defRPr>
            </a:pPr>
            <a:r>
              <a:t>Complete MPI+GPU lane over a compatible compiler, MPI, and GPU toolkit. Load GPU instead of MPI, not in addition to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2912" y="4160520"/>
            <a:ext cx="23774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50" b="0">
                <a:solidFill>
                  <a:srgbClr val="64748B"/>
                </a:solidFill>
                <a:latin typeface="Avenir Next"/>
              </a:defRPr>
            </a:pPr>
            <a:r>
              <a:t>GPU  ·  or GPU-gfx90a / GPU-gfx942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57800"/>
            <a:ext cx="11091672" cy="56692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400" b="1">
                <a:solidFill>
                  <a:srgbClr val="0F172A"/>
                </a:solidFill>
                <a:latin typeface="Avenir Next"/>
              </a:defRPr>
            </a:pPr>
            <a:r>
              <a:t>Modules: cse/&lt;Compiler&gt;/&lt;Lane&gt; — short names for users; dependency compatibility is enforced by module metadata.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TWO COMPILER SURFACES · ONE CRAY SYSTEM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Pilot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cse/&lt;SystemDefault&gt;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whatever the machine blesses as its baseline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68880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94960" cy="26517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10512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F172A"/>
                </a:solidFill>
                <a:latin typeface="Avenir Next"/>
              </a:defRPr>
            </a:pPr>
            <a:r>
              <a:t>cse/GCC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the portable reference surface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59" y="2743200"/>
            <a:ext cx="2331720" cy="50292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Core (automatic)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40" y="2743200"/>
            <a:ext cx="2331720" cy="502920"/>
          </a:xfrm>
          <a:prstGeom prst="round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Foundation (view)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59" y="3401568"/>
            <a:ext cx="1508760" cy="566928"/>
          </a:xfrm>
          <a:prstGeom prst="round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Serial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79" y="3401568"/>
            <a:ext cx="1508760" cy="566928"/>
          </a:xfrm>
          <a:prstGeom prst="round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MPI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9800" y="3401568"/>
            <a:ext cx="1508760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1">
                <a:solidFill>
                  <a:srgbClr val="FFFFFF"/>
                </a:solidFill>
                <a:latin typeface="Avenir Next"/>
              </a:defRPr>
            </a:pPr>
            <a:r>
              <a:t>GPU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Avenir Next"/>
              </a:defRPr>
            </a:pPr>
            <a:r>
              <a:t>Representative roster — evolving, ~two versions each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HDF5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7627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03904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NetCDF-Fortran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31536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NetCDF-C++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59168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FFTW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86800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OpenBLAS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314432" y="4937760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Boost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GSL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76272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TAU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03904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Kokkos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31536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CMake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59168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Python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0" y="5449824"/>
            <a:ext cx="1481328" cy="384048"/>
          </a:xfrm>
          <a:prstGeom prst="round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defRPr sz="1200" b="0">
                <a:solidFill>
                  <a:srgbClr val="334155"/>
                </a:solidFill>
                <a:latin typeface="Avenir Next"/>
              </a:defRPr>
            </a:pPr>
            <a:r>
              <a:t>Miniforge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080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Avenir Next"/>
              </a:defRPr>
            </a:pPr>
            <a:r>
              <a:t>Multi-version by policy: clean package names · compatible chains load · incompatible mixes fail clearly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D9488"/>
                </a:solidFill>
                <a:latin typeface="Avenir Next"/>
              </a:defRPr>
            </a:pPr>
            <a:r>
              <a:t>WHERE THE PIPELINE IS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000" b="1">
                <a:solidFill>
                  <a:srgbClr val="0F172A"/>
                </a:solidFill>
                <a:latin typeface="Avenir Next"/>
              </a:defRPr>
            </a:pPr>
            <a:r>
              <a:t>Status and 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463040" cy="4114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4068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15803D"/>
                </a:solidFill>
                <a:latin typeface="Avenir Next"/>
              </a:defRPr>
            </a:pPr>
            <a:r>
              <a:t>Done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7744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End-to-end Cray smoke: probe → render → concretize → build (PrgEnv-gnu · cray-mpich · ROCm)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2900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Second system validated the generic-Linux path and hardened the prober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5803D"/>
                </a:solidFill>
                <a:latin typeface="Avenir Next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80560"/>
            <a:ext cx="4526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Science stack — four lanes, two-version roster — renders clean today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645920"/>
            <a:ext cx="5349240" cy="448056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8288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D97706"/>
                </a:solidFill>
                <a:latin typeface="Avenir Next"/>
              </a:defRPr>
            </a:pPr>
            <a:r>
              <a:t>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37744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37744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Build science lanes on Cray and Linux systems; verify the module/view front door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2900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42900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Encode module compatibility checks for multi-version package chains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480560"/>
            <a:ext cx="365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D97706"/>
                </a:solidFill>
                <a:latin typeface="Avenir Next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480560"/>
            <a:ext cx="4434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334155"/>
                </a:solidFill>
                <a:latin typeface="Avenir Next"/>
              </a:defRPr>
            </a:pPr>
            <a:r>
              <a:t>Release process: build caches, lockfiles, release manifest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
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4600" b="1">
                <a:solidFill>
                  <a:srgbClr val="0F172A"/>
                </a:solidFill>
                <a:latin typeface="Avenir Next"/>
              </a:defRPr>
            </a:pPr>
            <a:r>
              <a:t>The CSE Software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063240"/>
            <a:ext cx="2194560" cy="5486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2918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0">
                <a:solidFill>
                  <a:srgbClr val="334155"/>
                </a:solidFill>
                <a:latin typeface="Avenir Next"/>
              </a:defRPr>
            </a:pPr>
            <a:r>
              <a:t>One clean build surface per compiler, MPI, and GPU: the lanes model</a:t>
            </a:r>
          </a:p>
          <a:p>
            <a:pPr algn="l">
              <a:defRPr sz="1500" b="0">
                <a:solidFill>
                  <a:srgbClr val="64748B"/>
                </a:solidFill>
                <a:latin typeface="Avenir Next"/>
              </a:defRPr>
            </a:pPr>
            <a:r>
              <a:t>How we got here, what the community runs, and where we're going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July 2026  ·  working draft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2148840"/>
            <a:ext cx="685800" cy="6858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06840" y="2148840"/>
            <a:ext cx="685800" cy="6858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875520" y="2148840"/>
            <a:ext cx="685800" cy="6858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744200" y="2148840"/>
            <a:ext cx="685800" cy="6858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WHERE WE ARE · WHERE WE'RE GOING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From one flat surface to lanes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49240" cy="4709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venir Next"/>
              </a:defRPr>
            </a:pPr>
            <a:r>
              <a:t>Today: CSEinit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12848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GCC- and Intel-backed flavors · standard / noloads · extends MODULEPATH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74320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hdf5/1.14.6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50592" y="274320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hdf5/1.10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78224" y="274320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openmpi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25526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boost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50592" y="325526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78224" y="325526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fftw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767328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python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50592" y="3767328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mkl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78224" y="3767328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gsl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279392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tau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50592" y="4279392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cmake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78224" y="4279392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openblas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983480"/>
            <a:ext cx="49377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D97706"/>
                </a:solidFill>
                <a:latin typeface="Avenir Next"/>
              </a:defRPr>
            </a:pPr>
            <a:r>
              <a:t>Everything visible at once.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Conflicts avoided by convention · MPI/GPU surfaces not isolated ·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hand-curated per system; upgrades mean rebuilding everything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600200"/>
            <a:ext cx="5349240" cy="4709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17830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venir Next"/>
              </a:defRPr>
            </a:pPr>
            <a:r>
              <a:t>The lanes model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66560" y="2331720"/>
            <a:ext cx="4343400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0F172A"/>
                </a:solidFill>
                <a:latin typeface="Avenir Next"/>
              </a:defRPr>
            </a:pPr>
            <a:r>
              <a:t>module load cse/GCC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938260" y="2788920"/>
            <a:ext cx="0" cy="27432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766560" y="3063240"/>
            <a:ext cx="2103120" cy="56692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Core (automatic)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06840" y="3063240"/>
            <a:ext cx="2103120" cy="566928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Foundation (in view)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938260" y="3630168"/>
            <a:ext cx="0" cy="274319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766560" y="3904487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50" b="1">
                <a:solidFill>
                  <a:srgbClr val="64748B"/>
                </a:solidFill>
                <a:latin typeface="Avenir Next"/>
              </a:defRPr>
            </a:pPr>
            <a:r>
              <a:t>CHOOSE EXACTLY ONE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66560" y="4224528"/>
            <a:ext cx="1371600" cy="54864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0" y="4224528"/>
            <a:ext cx="1371600" cy="54864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92640" y="4224528"/>
            <a:ext cx="1417320" cy="54864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983480"/>
            <a:ext cx="49377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0D9488"/>
                </a:solidFill>
                <a:latin typeface="Avenir Next"/>
              </a:defRPr>
            </a:pPr>
            <a:r>
              <a:t>You see exactly one lane.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GPU is a complete MPI-capable lane when the selected toolchain supports it ·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package modules prevent incompatible version mixes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VALIDATION · PRODUCTION PRIOR 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The shape everyone converges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611880" cy="3566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3611880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NASA JSC  ·  Flight Sciences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Avenir Next"/>
              </a:defRPr>
            </a:pPr>
            <a:r>
              <a:t>1,000+ packages · 4 compiler suites · 3 MPIs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Lmod hierarchy: Core → Compiler → MPI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compiler_mixing: false keeps lanes isolated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“Users never run a spack command.”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1" y="1600200"/>
            <a:ext cx="3611880" cy="3566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1" y="1600200"/>
            <a:ext cx="3611880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1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ALCF  ·  Polaris Spack 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1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  <a:latin typeface="Avenir Next"/>
              </a:defRPr>
            </a:pPr>
            <a:r>
              <a:t>spack-pe-base + spack-pe-gnu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1" y="324612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Base built once with system GCC, PE-agnostic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Meta-module gates MODULEPATH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Packages appear only after the stack loads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3" y="1600200"/>
            <a:ext cx="3611880" cy="3566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93023" y="1600200"/>
            <a:ext cx="3611880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21624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Spack project  ·  E4S / HPSF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1624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D9488"/>
                </a:solidFill>
                <a:latin typeface="Avenir Next"/>
              </a:defRPr>
            </a:pPr>
            <a:r>
              <a:t>Incremental concretization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21624" y="324612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Foundation → GPU/MPI/Python → integrations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Flat 270-spec environments hang the solver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Build caches are load-bearing, not optional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486400"/>
            <a:ext cx="11091672" cy="56692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0F172A"/>
                </a:solidFill>
                <a:latin typeface="Avenir Next"/>
              </a:defRPr>
            </a:pPr>
            <a:r>
              <a:t>Base built once  →  isolated per-compiler/MPI fan-out  →  modules are the user contract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SCHEMATIC · GENERATED, NOT HAND-CURATED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How a stack is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PROBE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record the system's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facts, once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24328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52928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POLICY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one small site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defaults file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28616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57216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RENDER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derive every lane's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build input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32904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461504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BUILD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Spack · lanes build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in parallel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537192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65792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PUBLISH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modules · views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build caches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48840" y="3108960"/>
            <a:ext cx="786384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Core + Foundation: built once per compiler surface, portable target</a:t>
            </a:r>
          </a:p>
          <a:p>
            <a:pPr algn="ctr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cmake · python · miniforge   |   zlib · xz · zstd (single pinned version)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2880360" y="3794760"/>
            <a:ext cx="3200400" cy="548640"/>
          </a:xfrm>
          <a:prstGeom prst="line">
            <a:avLst/>
          </a:prstGeom>
          <a:ln w="28575">
            <a:solidFill>
              <a:srgbClr val="D9770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371600" y="4343400"/>
            <a:ext cx="3017520" cy="86868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non-MPI hdf5 · fftw · boost, plus common BLAS/LAPACK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80760" y="3794760"/>
            <a:ext cx="91440" cy="548640"/>
          </a:xfrm>
          <a:prstGeom prst="line">
            <a:avLst/>
          </a:prstGeom>
          <a:ln w="28575">
            <a:solidFill>
              <a:srgbClr val="2563E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663440" y="4343400"/>
            <a:ext cx="3017520" cy="8686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Cray MPICH · hdf5+mpi · fftw+mpi · tau · dakota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80760" y="3794760"/>
            <a:ext cx="3383280" cy="548640"/>
          </a:xfrm>
          <a:prstGeom prst="line">
            <a:avLst/>
          </a:prstGeom>
          <a:ln w="28575">
            <a:solidFill>
              <a:srgbClr val="7C3AE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955279" y="4343400"/>
            <a:ext cx="301752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the MPI roster plus kokkos · rocm/cuda arch from the probe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0D9488"/>
                </a:solidFill>
                <a:latin typeface="Avenir Next"/>
              </a:defRPr>
            </a:pPr>
            <a:r>
              <a:t>A new system is a probe and a render, not months of curation.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The same pipeline produced a Cray EX (MI300A · ROCm) stack and an NVIDIA A100 Linux stack, unchanged.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SCHEMATIC · THE FRONT DOOR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What a user experiences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809390" y="1645920"/>
            <a:ext cx="457200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600" b="1">
                <a:solidFill>
                  <a:srgbClr val="0F172A"/>
                </a:solidFill>
                <a:latin typeface="Avenir Next"/>
              </a:defRPr>
            </a:pPr>
            <a:r>
              <a:t>$ module load cse/GCC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5390" y="2212848"/>
            <a:ext cx="0" cy="36576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163470" y="2578608"/>
            <a:ext cx="3749039" cy="9144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Core: loads automatically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cmake · python · miniforge · gsl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270" y="2578608"/>
            <a:ext cx="3749039" cy="9144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Foundation: ambient in the view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zlib · xz · zstd · one pinned version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5390" y="3493008"/>
            <a:ext cx="0" cy="45720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809390" y="3950208"/>
            <a:ext cx="4572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50" b="1">
                <a:solidFill>
                  <a:srgbClr val="64748B"/>
                </a:solidFill>
                <a:latin typeface="Avenir Next"/>
              </a:defRPr>
            </a:pPr>
            <a:r>
              <a:t>CHOOSE EXACTLY ONE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343400"/>
            <a:ext cx="3474720" cy="9144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non-MPI hdf5 · fftw · boost, plus openblas · gnuplot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4343400"/>
            <a:ext cx="3474720" cy="9144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Cray MPICH · hdf5+mpi · fftw+mpi · boost+mpi · tau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4343400"/>
            <a:ext cx="3474720" cy="9144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the MPI roster plus kokkos +rocm gfx942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577840"/>
            <a:ext cx="10835640" cy="7772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50" b="1">
                <a:solidFill>
                  <a:srgbClr val="0F172A"/>
                </a:solidFill>
                <a:latin typeface="Avenir Next"/>
              </a:defRPr>
            </a:pPr>
            <a:r>
              <a:t>Only the chosen lane is visible; common packages (BLAS/LAPACK, gnuplot) are reachable from every lane.</a:t>
            </a:r>
          </a:p>
          <a:p>
            <a:pPr algn="ctr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Clean module names stay; module metadata blocks incompatible HDF5/NetCDF-style version mixes.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NAMES CARRY FACTS, NOT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Lane vocabulary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2743200" cy="6858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Compiler-agnostic building blocks and tools. They load with the surface, before any lane is chosen.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cmake · python · miniforge · gsl · sqlite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93008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1645920"/>
            <a:ext cx="2743200" cy="6858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0168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94176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Two classes: non-MPI builds of MPI-capable packages, and common compiler-dependent packages that every lane can load.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94176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hdf5~mpi · fftw~mpi  |  openblas · gnuplot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37376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37376" y="1645920"/>
            <a:ext cx="2743200" cy="6858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4536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Built against the system MPI. Qualified only when the system offers more than one.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38544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MPI  ·  or MPI-openmpi / MPI-mpich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81744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81744" y="1645920"/>
            <a:ext cx="2743200" cy="6858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18904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2912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Carries the full MPI roster plus the GPU payload. Load GPU instead of MPI, not in addition to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82912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GPU  ·  or GPU-gfx90a / GPU-gfx942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257800"/>
            <a:ext cx="11091672" cy="56692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0F172A"/>
                </a:solidFill>
                <a:latin typeface="Avenir Next"/>
              </a:defRPr>
            </a:pPr>
            <a:r>
              <a:t>Modules: cse/&lt;Compiler&gt;/&lt;Lane&gt;. Short names for users; dependency compatibility is enforced by module metadata.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TWO COMPILER SURFACES · ONE CRAY SYSTEM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Pilot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94960" cy="2651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1051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F172A"/>
                </a:solidFill>
                <a:latin typeface="Avenir Next"/>
              </a:defRPr>
            </a:pPr>
            <a:r>
              <a:t>cse/&lt;SystemDefault&gt;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whatever the machine blesses as its baseline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59" y="2743200"/>
            <a:ext cx="2331720" cy="50292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Core (automatic)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2743200"/>
            <a:ext cx="2331720" cy="50292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Foundation (view)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59" y="3401568"/>
            <a:ext cx="1508760" cy="566928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68880" y="3401568"/>
            <a:ext cx="1508760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0" y="3401568"/>
            <a:ext cx="1508760" cy="56692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45920"/>
            <a:ext cx="5394960" cy="2651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81051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F172A"/>
                </a:solidFill>
                <a:latin typeface="Avenir Next"/>
              </a:defRPr>
            </a:pPr>
            <a:r>
              <a:t>cse/GCC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286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the portable reference surface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59" y="2743200"/>
            <a:ext cx="2331720" cy="50292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Core (automatic)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40" y="2743200"/>
            <a:ext cx="2331720" cy="50292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Foundation (view)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37959" y="3401568"/>
            <a:ext cx="1508760" cy="566928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79" y="3401568"/>
            <a:ext cx="1508760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29800" y="3401568"/>
            <a:ext cx="1508760" cy="56692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5262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Avenir Next"/>
              </a:defRPr>
            </a:pPr>
            <a:r>
              <a:t>Representative roster: newest two supported releases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HDF5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76272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NetCDF-C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03904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NetCDF-Fortran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31536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NetCDF-C++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59168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FFTW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86800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OpenBLAS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314432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Boost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GSL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76272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TAU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03904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Dakota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31536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Kokkos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059168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Gnuplot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0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Python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314432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Miniforge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080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Newest-two policy: clean package names · compatible chains load · incompatible mixes fail clearly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WHERE THE PIPELINE IS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Status and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440680" cy="4480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5803D"/>
                </a:solidFill>
                <a:latin typeface="Avenir Next"/>
              </a:defRPr>
            </a:pPr>
            <a:r>
              <a:t>Done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5803D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7744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End-to-end Cray smoke: probe → render → concretize → build (PrgEnv-gnu · cray-mpich · ROCm)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2900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5803D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2900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Second system validated the generic-Linux path and hardened the prober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48056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5803D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8056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Science stack renders clean today: four lanes, two-version roster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45920"/>
            <a:ext cx="5349240" cy="4480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8288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D97706"/>
                </a:solidFill>
                <a:latin typeface="Avenir Next"/>
              </a:defRPr>
            </a:pPr>
            <a:r>
              <a:t>Next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37744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37744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Build the science lanes on the Cray and Linux systems; verify the module/view front door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42900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342900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Encode module compatibility checks for multi-version package chains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48056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48056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Release process: build caches, lockfiles, release manifest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APPENDIX · HOW THE LAYERS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What each lane exposes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8988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50" b="1">
                <a:solidFill>
                  <a:srgbClr val="64748B"/>
                </a:solidFill>
                <a:latin typeface="Avenir Next"/>
              </a:defRPr>
            </a:pPr>
            <a:r>
              <a:t>CHOOSE EXACTLY ONE LANE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19072"/>
            <a:ext cx="3611880" cy="132588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hdf5 · netcdf · fftw · boost</a:t>
            </a:r>
          </a:p>
          <a:p>
            <a:pPr algn="ctr">
              <a:defRPr sz="1000" b="0">
                <a:solidFill>
                  <a:srgbClr val="FFFFFF"/>
                </a:solidFill>
                <a:latin typeface="Avenir Next"/>
              </a:defRPr>
            </a:pPr>
            <a:r>
              <a:t>the same packages, built without MPI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1" y="1719072"/>
            <a:ext cx="3611880" cy="13258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hdf5 · netcdf · fftw · boost · tau · dakota</a:t>
            </a:r>
          </a:p>
          <a:p>
            <a:pPr algn="ctr">
              <a:defRPr sz="1000" b="0">
                <a:solidFill>
                  <a:srgbClr val="FFFFFF"/>
                </a:solidFill>
                <a:latin typeface="Avenir Next"/>
              </a:defRPr>
            </a:pPr>
            <a:r>
              <a:t>built against the system MPI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93023" y="1719072"/>
            <a:ext cx="3611880" cy="13258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the MPI roster, plus kokkos</a:t>
            </a:r>
          </a:p>
          <a:p>
            <a:pPr algn="ctr">
              <a:defRPr sz="1000" b="0">
                <a:solidFill>
                  <a:srgbClr val="FFFFFF"/>
                </a:solidFill>
                <a:latin typeface="Avenir Next"/>
              </a:defRPr>
            </a:pPr>
            <a:r>
              <a:t>+rocm / +cuda, arch from the probe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00400"/>
            <a:ext cx="11091672" cy="640080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Common compiler-dependent packages: loadable from every lane</a:t>
            </a:r>
          </a:p>
          <a:p>
            <a:pPr algn="ctr">
              <a:defRPr sz="1050" b="0">
                <a:solidFill>
                  <a:srgbClr val="FFFFFF"/>
                </a:solidFill>
                <a:latin typeface="Avenir Next"/>
              </a:defRPr>
            </a:pPr>
            <a:r>
              <a:t>openblas · netlib-lapack · gnuplot · one Serial-lane build, one install, shared module root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59352"/>
            <a:ext cx="11091672" cy="6400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Core: loads with the compiler surface</a:t>
            </a:r>
          </a:p>
          <a:p>
            <a:pPr algn="ctr">
              <a:defRPr sz="1050" b="0">
                <a:solidFill>
                  <a:srgbClr val="FFFFFF"/>
                </a:solidFill>
                <a:latin typeface="Avenir Next"/>
              </a:defRPr>
            </a:pPr>
            <a:r>
              <a:t>cmake · ninja · git · python · py-numpy · miniforge · gsl · sqlite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18304"/>
            <a:ext cx="11091672" cy="64008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Foundation: ambient in the view, never a module</a:t>
            </a:r>
          </a:p>
          <a:p>
            <a:pPr algn="ctr">
              <a:defRPr sz="1050" b="0">
                <a:solidFill>
                  <a:srgbClr val="FFFFFF"/>
                </a:solidFill>
                <a:latin typeface="Avenir Next"/>
              </a:defRPr>
            </a:pPr>
            <a:r>
              <a:t>zlib · xz · zstd, single pinned version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04688"/>
            <a:ext cx="11091672" cy="5486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0F172A"/>
                </a:solidFill>
                <a:latin typeface="Avenir Next"/>
              </a:defRPr>
            </a:pPr>
            <a:r>
              <a:t>cse/&lt;Compiler&gt; surface: everything above sits on one compiler</a:t>
            </a:r>
          </a:p>
          <a:p>
            <a:pPr algn="ctr">
              <a:defRPr sz="1050" b="0">
                <a:solidFill>
                  <a:srgbClr val="64748B"/>
                </a:solidFill>
                <a:latin typeface="Avenir Next"/>
              </a:defRPr>
            </a:pPr>
            <a:r>
              <a:t>lanes never mix compilers; loading a second lane fails loudly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99632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A user's view is one column: the surface, Foundation, Core, the common packages, and exactly one payload. The other payloads stay invisible until their lane is loaded.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APPENDIX · EXACT BUILD ROOTS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Core and foundation: built once per compiler surface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81328"/>
          <a:ext cx="11091672" cy="42245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286000"/>
                <a:gridCol w="6885432"/>
              </a:tblGrid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Package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Versions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as · pairing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Foundation: ambient in the lane view, never a module</a:t>
                      </a:r>
                    </a:p>
                  </a:txBody>
                  <a:tcPr marL="109728" marR="73152" marT="13716" marB="13716" anchor="ctr">
                    <a:solidFill>
                      <a:srgbClr val="475569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zlib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1.3.1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pinned version (require: pin)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xz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5.4.6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pinned version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zstd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1.5.6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pinned version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Core tools: user-loadable, compiler-agnostic</a:t>
                      </a:r>
                    </a:p>
                  </a:txBody>
                  <a:tcPr marL="109728" marR="73152" marT="13716" marB="13716" anchor="ctr">
                    <a:solidFill>
                      <a:srgbClr val="0D9488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cmake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4.3.3 · 4.2.3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ninja · pkgconf · git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newest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unpinned; newest from the recipe generation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python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3.14.5 · 3.13.13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the two newest supported minor lines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py-numpy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against each python line (newest non-deprecated recipe)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miniforge3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26.1.1-3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by nature; installer for user-managed environments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Only-serial by nature: no MPI implementation exists</a:t>
                      </a:r>
                    </a:p>
                  </a:txBody>
                  <a:tcPr marL="109728" marR="73152" marT="13716" marB="13716" anchor="ctr">
                    <a:solidFill>
                      <a:srgbClr val="0D9488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gsl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2.8 · 2.7.1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sqlite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3.53.1 · 3.51.2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583680"/>
            <a:ext cx="11064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venir Next"/>
              </a:defRPr>
            </a:pPr>
            <a:r>
              <a:t>Version policy: newest supported + immediate predecessor · pinned to spack-packages v2026.06.0 (Spack v1.1.1)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APPENDIX · EXACT BUILD ROOTS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Serial lane: MPI-capable, deliberately built without MPI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81328"/>
          <a:ext cx="11091672" cy="39227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286000"/>
                <a:gridCol w="6885432"/>
              </a:tblGrid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Package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Versions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as · pairing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Serial data chains: each netcdf rides one named hdf5</a:t>
                      </a:r>
                    </a:p>
                  </a:txBody>
                  <a:tcPr marL="109728" marR="73152" marT="13716" marB="13716" anchor="ctr">
                    <a:solidFill>
                      <a:srgbClr val="D9770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hdf5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2.1.0 ·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 +fortran +cxx +hl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4.10.0 · 4.9.3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~mpi, paired to hdf5 2.1.0 /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netcdf-fortran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4.6.2 · 4.6.1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rides its paired netcdf-c / hdf5 chain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netcdf-cxx4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4.3.1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recipe version; newest chain only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Serial math</a:t>
                      </a:r>
                    </a:p>
                  </a:txBody>
                  <a:tcPr marL="109728" marR="73152" marT="13716" marB="13716" anchor="ctr">
                    <a:solidFill>
                      <a:srgbClr val="D9770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fftw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3.3.11 · 3.3.10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boost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1.90.0 · 1.89.0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 here; the MPI lane carries its own +mpi build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Common compiler-dependent: built here once, available in every lane</a:t>
                      </a:r>
                    </a:p>
                  </a:txBody>
                  <a:tcPr marL="109728" marR="73152" marT="13716" marB="13716" anchor="ctr">
                    <a:solidFill>
                      <a:srgbClr val="15803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openblas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0.3.33 · 0.3.32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performance-sensitive, so payload rather than core; the BLAS every lane links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netlib-lapack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3.12.1 · 3.12.0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reference LAPACK alongside openblas (flagged for team review)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gnuplot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6.0.0 · 5.4.10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needs the surface's compiler, so payload rather than core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583680"/>
            <a:ext cx="11064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venir Next"/>
              </a:defRPr>
            </a:pPr>
            <a:r>
              <a:t>Version policy: newest supported + immediate predecessor · pinned to spack-packages v2026.06.0 (Spack v1.1.1)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APPENDIX · EXACT BUILD ROOTS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MPI and GPU lanes: built against the system MPI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81328"/>
          <a:ext cx="11091672" cy="5129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286000"/>
                <a:gridCol w="6885432"/>
              </a:tblGrid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Package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Versions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as · pairing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MPI data chains: same pairing rule as serial</a:t>
                      </a:r>
                    </a:p>
                  </a:txBody>
                  <a:tcPr marL="109728" marR="73152" marT="13716" marB="13716" anchor="ctr">
                    <a:solidFill>
                      <a:srgbClr val="2563E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hdf5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2.1.0 ·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 +fortran +cxx +hl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4.10.0 · 4.9.3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 +parallel-netcdf, paired to hdf5 2.1.0 /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netcdf-fortran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4.6.2 · 4.6.1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rides its paired netcdf-c / hdf5 chain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netcdf-cxx4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4.3.1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recipe version; newest chain only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MPI math and tools</a:t>
                      </a:r>
                    </a:p>
                  </a:txBody>
                  <a:tcPr marL="109728" marR="73152" marT="13716" marB="13716" anchor="ctr">
                    <a:solidFill>
                      <a:srgbClr val="2563E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fftw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3.3.11 · 3.3.10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boost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1.90.0 · 1.89.0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+mpi; the Serial lane carries its own ~mpi build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tau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2.35.1 · 2.35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dakota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6.24.0 · 6.23.0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+mpi; heaviest build in the roster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GPU lane: selects the full MPI roster above, plus the GPU payload</a:t>
                      </a:r>
                    </a:p>
                  </a:txBody>
                  <a:tcPr marL="109728" marR="73152" marT="13716" marB="13716" anchor="ctr">
                    <a:solidFill>
                      <a:srgbClr val="7C3A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kokkos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5.1.1 · 5.1.0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+gpu → expands per lane: +rocm amdgpu_target=&lt;arch&gt; or +cuda cuda_arch=&lt;n&gt;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Common compiler-dependent: the Serial-lane build, available here too</a:t>
                      </a:r>
                    </a:p>
                  </a:txBody>
                  <a:tcPr marL="109728" marR="73152" marT="13716" marB="13716" anchor="ctr">
                    <a:solidFill>
                      <a:srgbClr val="15803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common packages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see Serial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openblas · netlib-lapack · gnuplot: the same modules through the shared root, nothing rebuilt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Externals: used from the system, never built</a:t>
                      </a:r>
                    </a:p>
                  </a:txBody>
                  <a:tcPr marL="109728" marR="73152" marT="13716" marB="13716" anchor="ctr">
                    <a:solidFill>
                      <a:srgbClr val="475569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externals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system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cray-mpich (Platform-backed) · openmpi, openssl (Site-external)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583680"/>
            <a:ext cx="11064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venir Next"/>
              </a:defRPr>
            </a:pPr>
            <a:r>
              <a:t>Version policy: newest supported + immediate predecessor · pinned to spack-packages v2026.06.0 (Spack v1.1.1)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
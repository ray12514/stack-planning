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0F172A"/>
                </a:solidFill>
                <a:latin typeface="Avenir Next"/>
              </a:defRPr>
            </a:pPr>
            <a:r>
              <a:t>The CSE Software Stack</a:t>
            </a:r>
          </a:p>
        </p:txBody>
      </p:sp>
      <p:sp>
        <p:nvSpPr>
          <p:cNvPr id="5" name="Rectangle 4"/>
          <p:cNvSpPr/>
          <p:nvPr/>
        </p:nvSpPr>
        <p:spPr>
          <a:xfrm>
            <a:off x="868680" y="3063240"/>
            <a:ext cx="2194560" cy="54864"/>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291840"/>
            <a:ext cx="10515600" cy="1280160"/>
          </a:xfrm>
          <a:prstGeom prst="rect">
            <a:avLst/>
          </a:prstGeom>
          <a:noFill/>
        </p:spPr>
        <p:txBody>
          <a:bodyPr wrap="square" anchor="t">
            <a:spAutoFit/>
          </a:bodyPr>
          <a:lstStyle/>
          <a:p>
            <a:pPr algn="l">
              <a:defRPr sz="2200" b="0">
                <a:solidFill>
                  <a:srgbClr val="334155"/>
                </a:solidFill>
                <a:latin typeface="Avenir Next"/>
              </a:defRPr>
            </a:pPr>
            <a:r>
              <a:t>One clean build surface per compiler, MPI, and GPU: the lanes model</a:t>
            </a:r>
          </a:p>
          <a:p>
            <a:pPr algn="l">
              <a:defRPr sz="1500" b="0">
                <a:solidFill>
                  <a:srgbClr val="64748B"/>
                </a:solidFill>
                <a:latin typeface="Avenir Next"/>
              </a:defRPr>
            </a:pPr>
            <a:r>
              <a:t>How we got here, what the community runs, and where we're going</a:t>
            </a:r>
          </a:p>
        </p:txBody>
      </p:sp>
      <p:sp>
        <p:nvSpPr>
          <p:cNvPr id="7" name="TextBox 6"/>
          <p:cNvSpPr txBox="1"/>
          <p:nvPr/>
        </p:nvSpPr>
        <p:spPr>
          <a:xfrm>
            <a:off x="822960" y="6355080"/>
            <a:ext cx="10515600" cy="457200"/>
          </a:xfrm>
          <a:prstGeom prst="rect">
            <a:avLst/>
          </a:prstGeom>
          <a:noFill/>
        </p:spPr>
        <p:txBody>
          <a:bodyPr wrap="square" anchor="t">
            <a:spAutoFit/>
          </a:bodyPr>
          <a:lstStyle/>
          <a:p>
            <a:pPr algn="l">
              <a:defRPr sz="1200" b="0">
                <a:solidFill>
                  <a:srgbClr val="64748B"/>
                </a:solidFill>
                <a:latin typeface="Avenir Next"/>
              </a:defRPr>
            </a:pPr>
            <a:r>
              <a:t>July 2026  ·  working draft</a:t>
            </a:r>
          </a:p>
        </p:txBody>
      </p:sp>
      <p:sp>
        <p:nvSpPr>
          <p:cNvPr id="8" name="Rounded Rectangle 7"/>
          <p:cNvSpPr/>
          <p:nvPr/>
        </p:nvSpPr>
        <p:spPr>
          <a:xfrm>
            <a:off x="8138160" y="214884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006840" y="2148840"/>
            <a:ext cx="6858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875520" y="2148840"/>
            <a:ext cx="6858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744200" y="2148840"/>
            <a:ext cx="6858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From one flat surface to lanes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57200"/>
          </a:xfrm>
          <a:prstGeom prst="rect">
            <a:avLst/>
          </a:prstGeom>
          <a:noFill/>
        </p:spPr>
        <p:txBody>
          <a:bodyPr wrap="square" anchor="t">
            <a:spAutoFit/>
          </a:bodyPr>
          <a:lstStyle/>
          <a:p>
            <a:pPr algn="l">
              <a:defRPr sz="1700" b="1">
                <a:solidFill>
                  <a:srgbClr val="0F172A"/>
                </a:solidFill>
                <a:latin typeface="Avenir Next"/>
              </a:defRPr>
            </a:pPr>
            <a:r>
              <a:t>Today: CSEinit</a:t>
            </a:r>
          </a:p>
        </p:txBody>
      </p:sp>
      <p:sp>
        <p:nvSpPr>
          <p:cNvPr id="8" name="TextBox 7"/>
          <p:cNvSpPr txBox="1"/>
          <p:nvPr/>
        </p:nvSpPr>
        <p:spPr>
          <a:xfrm>
            <a:off x="777240" y="2212848"/>
            <a:ext cx="4937760" cy="365760"/>
          </a:xfrm>
          <a:prstGeom prst="rect">
            <a:avLst/>
          </a:prstGeom>
          <a:noFill/>
        </p:spPr>
        <p:txBody>
          <a:bodyPr wrap="square" anchor="t">
            <a:spAutoFit/>
          </a:bodyPr>
          <a:lstStyle/>
          <a:p>
            <a:pPr algn="l">
              <a:defRPr sz="1250" b="0">
                <a:solidFill>
                  <a:srgbClr val="64748B"/>
                </a:solidFill>
                <a:latin typeface="Avenir Next"/>
              </a:defRPr>
            </a:pPr>
            <a:r>
              <a:t>GCC- and Intel-backed flavors · standard / noloads · extends MODULEPATH</a:t>
            </a:r>
          </a:p>
        </p:txBody>
      </p:sp>
      <p:sp>
        <p:nvSpPr>
          <p:cNvPr id="9" name="Rounded Rectangle 8"/>
          <p:cNvSpPr/>
          <p:nvPr/>
        </p:nvSpPr>
        <p:spPr>
          <a:xfrm>
            <a:off x="822960"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hdf5/1.14.6</a:t>
            </a:r>
          </a:p>
        </p:txBody>
      </p:sp>
      <p:sp>
        <p:nvSpPr>
          <p:cNvPr id="10" name="Rounded Rectangle 9"/>
          <p:cNvSpPr/>
          <p:nvPr/>
        </p:nvSpPr>
        <p:spPr>
          <a:xfrm>
            <a:off x="2450592"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hdf5/1.10</a:t>
            </a:r>
          </a:p>
        </p:txBody>
      </p:sp>
      <p:sp>
        <p:nvSpPr>
          <p:cNvPr id="11" name="Rounded Rectangle 10"/>
          <p:cNvSpPr/>
          <p:nvPr/>
        </p:nvSpPr>
        <p:spPr>
          <a:xfrm>
            <a:off x="4078224"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openmpi</a:t>
            </a:r>
          </a:p>
        </p:txBody>
      </p:sp>
      <p:sp>
        <p:nvSpPr>
          <p:cNvPr id="12" name="Rounded Rectangle 11"/>
          <p:cNvSpPr/>
          <p:nvPr/>
        </p:nvSpPr>
        <p:spPr>
          <a:xfrm>
            <a:off x="822960"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13" name="Rounded Rectangle 12"/>
          <p:cNvSpPr/>
          <p:nvPr/>
        </p:nvSpPr>
        <p:spPr>
          <a:xfrm>
            <a:off x="2450592"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a:t>
            </a:r>
          </a:p>
        </p:txBody>
      </p:sp>
      <p:sp>
        <p:nvSpPr>
          <p:cNvPr id="14" name="Rounded Rectangle 13"/>
          <p:cNvSpPr/>
          <p:nvPr/>
        </p:nvSpPr>
        <p:spPr>
          <a:xfrm>
            <a:off x="4078224"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15" name="Rounded Rectangle 14"/>
          <p:cNvSpPr/>
          <p:nvPr/>
        </p:nvSpPr>
        <p:spPr>
          <a:xfrm>
            <a:off x="822960"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16" name="Rounded Rectangle 15"/>
          <p:cNvSpPr/>
          <p:nvPr/>
        </p:nvSpPr>
        <p:spPr>
          <a:xfrm>
            <a:off x="2450592"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mkl</a:t>
            </a:r>
          </a:p>
        </p:txBody>
      </p:sp>
      <p:sp>
        <p:nvSpPr>
          <p:cNvPr id="17" name="Rounded Rectangle 16"/>
          <p:cNvSpPr/>
          <p:nvPr/>
        </p:nvSpPr>
        <p:spPr>
          <a:xfrm>
            <a:off x="4078224"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18" name="Rounded Rectangle 17"/>
          <p:cNvSpPr/>
          <p:nvPr/>
        </p:nvSpPr>
        <p:spPr>
          <a:xfrm>
            <a:off x="822960"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19" name="Rounded Rectangle 18"/>
          <p:cNvSpPr/>
          <p:nvPr/>
        </p:nvSpPr>
        <p:spPr>
          <a:xfrm>
            <a:off x="2450592"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cmake</a:t>
            </a:r>
          </a:p>
        </p:txBody>
      </p:sp>
      <p:sp>
        <p:nvSpPr>
          <p:cNvPr id="20" name="Rounded Rectangle 19"/>
          <p:cNvSpPr/>
          <p:nvPr/>
        </p:nvSpPr>
        <p:spPr>
          <a:xfrm>
            <a:off x="4078224"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1" name="TextBox 20"/>
          <p:cNvSpPr txBox="1"/>
          <p:nvPr/>
        </p:nvSpPr>
        <p:spPr>
          <a:xfrm>
            <a:off x="777240" y="4983480"/>
            <a:ext cx="4937760" cy="1188720"/>
          </a:xfrm>
          <a:prstGeom prst="rect">
            <a:avLst/>
          </a:prstGeom>
          <a:noFill/>
        </p:spPr>
        <p:txBody>
          <a:bodyPr wrap="square" anchor="t">
            <a:spAutoFit/>
          </a:bodyPr>
          <a:lstStyle/>
          <a:p>
            <a:pPr algn="l">
              <a:defRPr sz="1350" b="1">
                <a:solidFill>
                  <a:srgbClr val="D97706"/>
                </a:solidFill>
                <a:latin typeface="Avenir Next"/>
              </a:defRPr>
            </a:pPr>
            <a:r>
              <a:t>Everything visible at once.</a:t>
            </a:r>
          </a:p>
          <a:p>
            <a:pPr algn="l">
              <a:defRPr sz="1250" b="0">
                <a:solidFill>
                  <a:srgbClr val="64748B"/>
                </a:solidFill>
                <a:latin typeface="Avenir Next"/>
              </a:defRPr>
            </a:pPr>
            <a:r>
              <a:t>Conflicts avoided by convention · MPI/GPU surfaces not isolated ·</a:t>
            </a:r>
          </a:p>
          <a:p>
            <a:pPr algn="l">
              <a:defRPr sz="1250" b="0">
                <a:solidFill>
                  <a:srgbClr val="64748B"/>
                </a:solidFill>
                <a:latin typeface="Avenir Next"/>
              </a:defRPr>
            </a:pPr>
            <a:r>
              <a:t>hand-curated per system; upgrades mean rebuilding everything</a:t>
            </a:r>
          </a:p>
        </p:txBody>
      </p:sp>
      <p:sp>
        <p:nvSpPr>
          <p:cNvPr id="22" name="Rounded Rectangle 21"/>
          <p:cNvSpPr/>
          <p:nvPr/>
        </p:nvSpPr>
        <p:spPr>
          <a:xfrm>
            <a:off x="6263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783080"/>
            <a:ext cx="4937760" cy="457200"/>
          </a:xfrm>
          <a:prstGeom prst="rect">
            <a:avLst/>
          </a:prstGeom>
          <a:noFill/>
        </p:spPr>
        <p:txBody>
          <a:bodyPr wrap="square" anchor="t">
            <a:spAutoFit/>
          </a:bodyPr>
          <a:lstStyle/>
          <a:p>
            <a:pPr algn="l">
              <a:defRPr sz="1700" b="1">
                <a:solidFill>
                  <a:srgbClr val="0F172A"/>
                </a:solidFill>
                <a:latin typeface="Avenir Next"/>
              </a:defRPr>
            </a:pPr>
            <a:r>
              <a:t>The lanes model</a:t>
            </a:r>
          </a:p>
        </p:txBody>
      </p:sp>
      <p:sp>
        <p:nvSpPr>
          <p:cNvPr id="24" name="Rounded Rectangle 23"/>
          <p:cNvSpPr/>
          <p:nvPr/>
        </p:nvSpPr>
        <p:spPr>
          <a:xfrm>
            <a:off x="6766560" y="2331720"/>
            <a:ext cx="4343400" cy="45720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module load cse/GCC</a:t>
            </a:r>
          </a:p>
        </p:txBody>
      </p:sp>
      <p:cxnSp>
        <p:nvCxnSpPr>
          <p:cNvPr id="25" name="Connector 24"/>
          <p:cNvCxnSpPr/>
          <p:nvPr/>
        </p:nvCxnSpPr>
        <p:spPr>
          <a:xfrm>
            <a:off x="8938260" y="2788920"/>
            <a:ext cx="0" cy="27432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66560" y="3063240"/>
            <a:ext cx="2103120" cy="56692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(automatic)</a:t>
            </a:r>
          </a:p>
        </p:txBody>
      </p:sp>
      <p:sp>
        <p:nvSpPr>
          <p:cNvPr id="27" name="Rounded Rectangle 26"/>
          <p:cNvSpPr/>
          <p:nvPr/>
        </p:nvSpPr>
        <p:spPr>
          <a:xfrm>
            <a:off x="9006840" y="3063240"/>
            <a:ext cx="2103120" cy="566928"/>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the path)</a:t>
            </a:r>
          </a:p>
        </p:txBody>
      </p:sp>
      <p:cxnSp>
        <p:nvCxnSpPr>
          <p:cNvPr id="28" name="Connector 27"/>
          <p:cNvCxnSpPr/>
          <p:nvPr/>
        </p:nvCxnSpPr>
        <p:spPr>
          <a:xfrm>
            <a:off x="8938260" y="3630168"/>
            <a:ext cx="0" cy="274319"/>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4748B"/>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0D9488"/>
                </a:solidFill>
                <a:latin typeface="Avenir Next"/>
              </a:defRPr>
            </a:pPr>
            <a:r>
              <a:t>You see exactly one lane.</a:t>
            </a:r>
          </a:p>
          <a:p>
            <a:pPr algn="l">
              <a:defRPr sz="1250" b="0">
                <a:solidFill>
                  <a:srgbClr val="64748B"/>
                </a:solidFill>
                <a:latin typeface="Avenir Next"/>
              </a:defRPr>
            </a:pPr>
            <a:r>
              <a:t>GPU is a complete MPI-capable lane when the selected toolchain supports it ·</a:t>
            </a:r>
          </a:p>
          <a:p>
            <a:pPr algn="l">
              <a:defRPr sz="1250" b="0">
                <a:solidFill>
                  <a:srgbClr val="64748B"/>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The shape everyone converges on</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36118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200400" cy="502920"/>
          </a:xfrm>
          <a:prstGeom prst="rect">
            <a:avLst/>
          </a:prstGeom>
          <a:noFill/>
        </p:spPr>
        <p:txBody>
          <a:bodyPr wrap="square" anchor="t">
            <a:spAutoFit/>
          </a:bodyPr>
          <a:lstStyle/>
          <a:p>
            <a:pPr algn="l">
              <a:defRPr sz="1450" b="1">
                <a:solidFill>
                  <a:srgbClr val="0F172A"/>
                </a:solidFill>
                <a:latin typeface="Avenir Next"/>
              </a:defRPr>
            </a:pPr>
            <a:r>
              <a:t>NASA JSC  ·  Flight Sciences Lab</a:t>
            </a:r>
          </a:p>
        </p:txBody>
      </p:sp>
      <p:sp>
        <p:nvSpPr>
          <p:cNvPr id="9" name="TextBox 8"/>
          <p:cNvSpPr txBox="1"/>
          <p:nvPr/>
        </p:nvSpPr>
        <p:spPr>
          <a:xfrm>
            <a:off x="777240" y="2395728"/>
            <a:ext cx="3200400" cy="685800"/>
          </a:xfrm>
          <a:prstGeom prst="rect">
            <a:avLst/>
          </a:prstGeom>
          <a:noFill/>
        </p:spPr>
        <p:txBody>
          <a:bodyPr wrap="square" anchor="t">
            <a:spAutoFit/>
          </a:bodyPr>
          <a:lstStyle/>
          <a:p>
            <a:pPr algn="l">
              <a:defRPr sz="1600" b="1">
                <a:solidFill>
                  <a:srgbClr val="2563EB"/>
                </a:solidFill>
                <a:latin typeface="Avenir Next"/>
              </a:defRPr>
            </a:pPr>
            <a:r>
              <a:t>1,000+ packages · 4 compiler suites · 3 MPIs</a:t>
            </a:r>
          </a:p>
        </p:txBody>
      </p:sp>
      <p:sp>
        <p:nvSpPr>
          <p:cNvPr id="10" name="TextBox 9"/>
          <p:cNvSpPr txBox="1"/>
          <p:nvPr/>
        </p:nvSpPr>
        <p:spPr>
          <a:xfrm>
            <a:off x="777240" y="3246120"/>
            <a:ext cx="3200400" cy="1828800"/>
          </a:xfrm>
          <a:prstGeom prst="rect">
            <a:avLst/>
          </a:prstGeom>
          <a:noFill/>
        </p:spPr>
        <p:txBody>
          <a:bodyPr wrap="square" anchor="t">
            <a:spAutoFit/>
          </a:bodyPr>
          <a:lstStyle/>
          <a:p>
            <a:pPr algn="l">
              <a:defRPr sz="1250" b="0">
                <a:solidFill>
                  <a:srgbClr val="334155"/>
                </a:solidFill>
                <a:latin typeface="Avenir Next"/>
              </a:defRPr>
            </a:pPr>
            <a:r>
              <a:t>Lmod hierarchy: Core → Compiler → MPI</a:t>
            </a:r>
          </a:p>
          <a:p>
            <a:pPr algn="l">
              <a:defRPr sz="1250" b="0">
                <a:solidFill>
                  <a:srgbClr val="334155"/>
                </a:solidFill>
                <a:latin typeface="Avenir Next"/>
              </a:defRPr>
            </a:pPr>
            <a:r>
              <a:t>compiler_mixing: false keeps lanes isolated</a:t>
            </a:r>
          </a:p>
          <a:p>
            <a:pPr algn="l">
              <a:defRPr sz="1250" b="0">
                <a:solidFill>
                  <a:srgbClr val="334155"/>
                </a:solidFill>
                <a:latin typeface="Avenir Next"/>
              </a:defRPr>
            </a:pPr>
            <a:r>
              <a:t>“Users never run a spack command.”</a:t>
            </a:r>
          </a:p>
        </p:txBody>
      </p:sp>
      <p:sp>
        <p:nvSpPr>
          <p:cNvPr id="11" name="Rounded Rectangle 10"/>
          <p:cNvSpPr/>
          <p:nvPr/>
        </p:nvSpPr>
        <p:spPr>
          <a:xfrm>
            <a:off x="4370831"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1600200"/>
            <a:ext cx="36118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9431" y="1828800"/>
            <a:ext cx="3200400" cy="502920"/>
          </a:xfrm>
          <a:prstGeom prst="rect">
            <a:avLst/>
          </a:prstGeom>
          <a:noFill/>
        </p:spPr>
        <p:txBody>
          <a:bodyPr wrap="square" anchor="t">
            <a:spAutoFit/>
          </a:bodyPr>
          <a:lstStyle/>
          <a:p>
            <a:pPr algn="l">
              <a:defRPr sz="1450" b="1">
                <a:solidFill>
                  <a:srgbClr val="0F172A"/>
                </a:solidFill>
                <a:latin typeface="Avenir Next"/>
              </a:defRPr>
            </a:pPr>
            <a:r>
              <a:t>ALCF  ·  Polaris Spack PE</a:t>
            </a:r>
          </a:p>
        </p:txBody>
      </p:sp>
      <p:sp>
        <p:nvSpPr>
          <p:cNvPr id="14" name="TextBox 13"/>
          <p:cNvSpPr txBox="1"/>
          <p:nvPr/>
        </p:nvSpPr>
        <p:spPr>
          <a:xfrm>
            <a:off x="4599431" y="2395728"/>
            <a:ext cx="3200400" cy="685800"/>
          </a:xfrm>
          <a:prstGeom prst="rect">
            <a:avLst/>
          </a:prstGeom>
          <a:noFill/>
        </p:spPr>
        <p:txBody>
          <a:bodyPr wrap="square" anchor="t">
            <a:spAutoFit/>
          </a:bodyPr>
          <a:lstStyle/>
          <a:p>
            <a:pPr algn="l">
              <a:defRPr sz="1600" b="1">
                <a:solidFill>
                  <a:srgbClr val="7C3AED"/>
                </a:solidFill>
                <a:latin typeface="Avenir Next"/>
              </a:defRPr>
            </a:pPr>
            <a:r>
              <a:t>spack-pe-base + spack-pe-gnu</a:t>
            </a:r>
          </a:p>
        </p:txBody>
      </p:sp>
      <p:sp>
        <p:nvSpPr>
          <p:cNvPr id="15" name="TextBox 14"/>
          <p:cNvSpPr txBox="1"/>
          <p:nvPr/>
        </p:nvSpPr>
        <p:spPr>
          <a:xfrm>
            <a:off x="4599431" y="3246120"/>
            <a:ext cx="3200400" cy="1828800"/>
          </a:xfrm>
          <a:prstGeom prst="rect">
            <a:avLst/>
          </a:prstGeom>
          <a:noFill/>
        </p:spPr>
        <p:txBody>
          <a:bodyPr wrap="square" anchor="t">
            <a:spAutoFit/>
          </a:bodyPr>
          <a:lstStyle/>
          <a:p>
            <a:pPr algn="l">
              <a:defRPr sz="1250" b="0">
                <a:solidFill>
                  <a:srgbClr val="334155"/>
                </a:solidFill>
                <a:latin typeface="Avenir Next"/>
              </a:defRPr>
            </a:pPr>
            <a:r>
              <a:t>Base built once with system GCC, PE-agnostic</a:t>
            </a:r>
          </a:p>
          <a:p>
            <a:pPr algn="l">
              <a:defRPr sz="1250" b="0">
                <a:solidFill>
                  <a:srgbClr val="334155"/>
                </a:solidFill>
                <a:latin typeface="Avenir Next"/>
              </a:defRPr>
            </a:pPr>
            <a:r>
              <a:t>Meta-module gates MODULEPATH</a:t>
            </a:r>
          </a:p>
          <a:p>
            <a:pPr algn="l">
              <a:defRPr sz="1250" b="0">
                <a:solidFill>
                  <a:srgbClr val="334155"/>
                </a:solidFill>
                <a:latin typeface="Avenir Next"/>
              </a:defRPr>
            </a:pPr>
            <a:r>
              <a:t>Packages appear only after the stack loads</a:t>
            </a:r>
          </a:p>
        </p:txBody>
      </p:sp>
      <p:sp>
        <p:nvSpPr>
          <p:cNvPr id="16" name="Rounded Rectangle 15"/>
          <p:cNvSpPr/>
          <p:nvPr/>
        </p:nvSpPr>
        <p:spPr>
          <a:xfrm>
            <a:off x="8193023"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3" y="1600200"/>
            <a:ext cx="3611880"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1828800"/>
            <a:ext cx="3200400" cy="502920"/>
          </a:xfrm>
          <a:prstGeom prst="rect">
            <a:avLst/>
          </a:prstGeom>
          <a:noFill/>
        </p:spPr>
        <p:txBody>
          <a:bodyPr wrap="square" anchor="t">
            <a:spAutoFit/>
          </a:bodyPr>
          <a:lstStyle/>
          <a:p>
            <a:pPr algn="l">
              <a:defRPr sz="1450" b="1">
                <a:solidFill>
                  <a:srgbClr val="0F172A"/>
                </a:solidFill>
                <a:latin typeface="Avenir Next"/>
              </a:defRPr>
            </a:pPr>
            <a:r>
              <a:t>Spack project  ·  E4S / HPSF</a:t>
            </a:r>
          </a:p>
        </p:txBody>
      </p:sp>
      <p:sp>
        <p:nvSpPr>
          <p:cNvPr id="19" name="TextBox 18"/>
          <p:cNvSpPr txBox="1"/>
          <p:nvPr/>
        </p:nvSpPr>
        <p:spPr>
          <a:xfrm>
            <a:off x="8421624" y="2395728"/>
            <a:ext cx="3200400" cy="685800"/>
          </a:xfrm>
          <a:prstGeom prst="rect">
            <a:avLst/>
          </a:prstGeom>
          <a:noFill/>
        </p:spPr>
        <p:txBody>
          <a:bodyPr wrap="square" anchor="t">
            <a:spAutoFit/>
          </a:bodyPr>
          <a:lstStyle/>
          <a:p>
            <a:pPr algn="l">
              <a:defRPr sz="1600" b="1">
                <a:solidFill>
                  <a:srgbClr val="0D9488"/>
                </a:solidFill>
                <a:latin typeface="Avenir Next"/>
              </a:defRPr>
            </a:pPr>
            <a:r>
              <a:t>Incremental concretization</a:t>
            </a:r>
          </a:p>
        </p:txBody>
      </p:sp>
      <p:sp>
        <p:nvSpPr>
          <p:cNvPr id="20" name="TextBox 19"/>
          <p:cNvSpPr txBox="1"/>
          <p:nvPr/>
        </p:nvSpPr>
        <p:spPr>
          <a:xfrm>
            <a:off x="8421624" y="3246120"/>
            <a:ext cx="3200400" cy="1828800"/>
          </a:xfrm>
          <a:prstGeom prst="rect">
            <a:avLst/>
          </a:prstGeom>
          <a:noFill/>
        </p:spPr>
        <p:txBody>
          <a:bodyPr wrap="square" anchor="t">
            <a:spAutoFit/>
          </a:bodyPr>
          <a:lstStyle/>
          <a:p>
            <a:pPr algn="l">
              <a:defRPr sz="1250" b="0">
                <a:solidFill>
                  <a:srgbClr val="334155"/>
                </a:solidFill>
                <a:latin typeface="Avenir Next"/>
              </a:defRPr>
            </a:pPr>
            <a:r>
              <a:t>Foundation → GPU/MPI/Python → integrations</a:t>
            </a:r>
          </a:p>
          <a:p>
            <a:pPr algn="l">
              <a:defRPr sz="1250" b="0">
                <a:solidFill>
                  <a:srgbClr val="334155"/>
                </a:solidFill>
                <a:latin typeface="Avenir Next"/>
              </a:defRPr>
            </a:pPr>
            <a:r>
              <a:t>Flat 270-spec environments hang the solver</a:t>
            </a:r>
          </a:p>
          <a:p>
            <a:pPr algn="l">
              <a:defRPr sz="1250" b="0">
                <a:solidFill>
                  <a:srgbClr val="334155"/>
                </a:solidFill>
                <a:latin typeface="Avenir Next"/>
              </a:defRPr>
            </a:pPr>
            <a:r>
              <a:t>Build caches are load-bearing, not optional</a:t>
            </a:r>
          </a:p>
        </p:txBody>
      </p:sp>
      <p:sp>
        <p:nvSpPr>
          <p:cNvPr id="21" name="Rounded Rectangle 20"/>
          <p:cNvSpPr/>
          <p:nvPr/>
        </p:nvSpPr>
        <p:spPr>
          <a:xfrm>
            <a:off x="548640" y="54864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How a stack is built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PROBE</a:t>
            </a:r>
          </a:p>
          <a:p>
            <a:pPr algn="ctr">
              <a:defRPr sz="1100" b="0">
                <a:solidFill>
                  <a:srgbClr val="64748B"/>
                </a:solidFill>
                <a:latin typeface="Avenir Next"/>
              </a:defRPr>
            </a:pPr>
            <a:r>
              <a:t>record the system's</a:t>
            </a:r>
          </a:p>
          <a:p>
            <a:pPr algn="ctr">
              <a:defRPr sz="1100" b="0">
                <a:solidFill>
                  <a:srgbClr val="64748B"/>
                </a:solidFill>
                <a:latin typeface="Avenir Next"/>
              </a:defRPr>
            </a:pPr>
            <a:r>
              <a:t>facts, once</a:t>
            </a:r>
          </a:p>
        </p:txBody>
      </p:sp>
      <p:cxnSp>
        <p:nvCxnSpPr>
          <p:cNvPr id="7" name="Connector 6"/>
          <p:cNvCxnSpPr/>
          <p:nvPr/>
        </p:nvCxnSpPr>
        <p:spPr>
          <a:xfrm>
            <a:off x="2624328"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52928"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POLICY</a:t>
            </a:r>
          </a:p>
          <a:p>
            <a:pPr algn="ctr">
              <a:defRPr sz="1100" b="0">
                <a:solidFill>
                  <a:srgbClr val="64748B"/>
                </a:solidFill>
                <a:latin typeface="Avenir Next"/>
              </a:defRPr>
            </a:pPr>
            <a:r>
              <a:t>one small site</a:t>
            </a:r>
          </a:p>
          <a:p>
            <a:pPr algn="ctr">
              <a:defRPr sz="1100" b="0">
                <a:solidFill>
                  <a:srgbClr val="64748B"/>
                </a:solidFill>
                <a:latin typeface="Avenir Next"/>
              </a:defRPr>
            </a:pPr>
            <a:r>
              <a:t>defaults file</a:t>
            </a:r>
          </a:p>
        </p:txBody>
      </p:sp>
      <p:cxnSp>
        <p:nvCxnSpPr>
          <p:cNvPr id="9" name="Connector 8"/>
          <p:cNvCxnSpPr/>
          <p:nvPr/>
        </p:nvCxnSpPr>
        <p:spPr>
          <a:xfrm>
            <a:off x="4928616"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57216"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RENDER</a:t>
            </a:r>
          </a:p>
          <a:p>
            <a:pPr algn="ctr">
              <a:defRPr sz="1100" b="0">
                <a:solidFill>
                  <a:srgbClr val="64748B"/>
                </a:solidFill>
                <a:latin typeface="Avenir Next"/>
              </a:defRPr>
            </a:pPr>
            <a:r>
              <a:t>derive every lane's</a:t>
            </a:r>
          </a:p>
          <a:p>
            <a:pPr algn="ctr">
              <a:defRPr sz="1100" b="0">
                <a:solidFill>
                  <a:srgbClr val="64748B"/>
                </a:solidFill>
                <a:latin typeface="Avenir Next"/>
              </a:defRPr>
            </a:pPr>
            <a:r>
              <a:t>build input</a:t>
            </a:r>
          </a:p>
        </p:txBody>
      </p:sp>
      <p:cxnSp>
        <p:nvCxnSpPr>
          <p:cNvPr id="11" name="Connector 10"/>
          <p:cNvCxnSpPr/>
          <p:nvPr/>
        </p:nvCxnSpPr>
        <p:spPr>
          <a:xfrm>
            <a:off x="7232904"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61504"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BUILD</a:t>
            </a:r>
          </a:p>
          <a:p>
            <a:pPr algn="ctr">
              <a:defRPr sz="1100" b="0">
                <a:solidFill>
                  <a:srgbClr val="64748B"/>
                </a:solidFill>
                <a:latin typeface="Avenir Next"/>
              </a:defRPr>
            </a:pPr>
            <a:r>
              <a:t>Spack · lanes build</a:t>
            </a:r>
          </a:p>
          <a:p>
            <a:pPr algn="ctr">
              <a:defRPr sz="1100" b="0">
                <a:solidFill>
                  <a:srgbClr val="64748B"/>
                </a:solidFill>
                <a:latin typeface="Avenir Next"/>
              </a:defRPr>
            </a:pPr>
            <a:r>
              <a:t>in parallel</a:t>
            </a:r>
          </a:p>
        </p:txBody>
      </p:sp>
      <p:cxnSp>
        <p:nvCxnSpPr>
          <p:cNvPr id="13" name="Connector 12"/>
          <p:cNvCxnSpPr/>
          <p:nvPr/>
        </p:nvCxnSpPr>
        <p:spPr>
          <a:xfrm>
            <a:off x="9537192"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765792"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PUBLISH</a:t>
            </a:r>
          </a:p>
          <a:p>
            <a:pPr algn="ctr">
              <a:defRPr sz="1100" b="0">
                <a:solidFill>
                  <a:srgbClr val="64748B"/>
                </a:solidFill>
                <a:latin typeface="Avenir Next"/>
              </a:defRPr>
            </a:pPr>
            <a:r>
              <a:t>modules · views</a:t>
            </a:r>
          </a:p>
          <a:p>
            <a:pPr algn="ctr">
              <a:defRPr sz="1100" b="0">
                <a:solidFill>
                  <a:srgbClr val="64748B"/>
                </a:solidFill>
                <a:latin typeface="Avenir Next"/>
              </a:defRPr>
            </a:pPr>
            <a:r>
              <a:t>build caches</a:t>
            </a:r>
          </a:p>
        </p:txBody>
      </p:sp>
      <p:sp>
        <p:nvSpPr>
          <p:cNvPr id="15" name="Rounded Rectangle 14"/>
          <p:cNvSpPr/>
          <p:nvPr/>
        </p:nvSpPr>
        <p:spPr>
          <a:xfrm>
            <a:off x="2148840" y="3108960"/>
            <a:ext cx="7863840" cy="685800"/>
          </a:xfrm>
          <a:prstGeom prst="roundRect">
            <a:avLst/>
          </a:prstGeom>
          <a:solidFill>
            <a:srgbClr val="FFFFFF"/>
          </a:solidFill>
          <a:ln w="15875">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0F172A"/>
                </a:solidFill>
                <a:latin typeface="Avenir Next"/>
              </a:defRPr>
            </a:pPr>
            <a:r>
              <a:t>Core + Foundation: built once per compiler surface, portable target</a:t>
            </a:r>
          </a:p>
          <a:p>
            <a:pPr algn="ctr">
              <a:defRPr sz="1150" b="0">
                <a:solidFill>
                  <a:srgbClr val="64748B"/>
                </a:solidFill>
                <a:latin typeface="Avenir Next"/>
              </a:defRPr>
            </a:pPr>
            <a:r>
              <a:t>cmake · python · miniforge   |   zlib · xz · zstd (single pinned version)</a:t>
            </a:r>
          </a:p>
        </p:txBody>
      </p:sp>
      <p:cxnSp>
        <p:nvCxnSpPr>
          <p:cNvPr id="16" name="Connector 15"/>
          <p:cNvCxnSpPr/>
          <p:nvPr/>
        </p:nvCxnSpPr>
        <p:spPr>
          <a:xfrm flipH="1">
            <a:off x="2880360" y="3794760"/>
            <a:ext cx="3200400" cy="548640"/>
          </a:xfrm>
          <a:prstGeom prst="line">
            <a:avLst/>
          </a:prstGeom>
          <a:ln w="28575">
            <a:solidFill>
              <a:srgbClr val="D9770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0" y="4343400"/>
            <a:ext cx="3017520" cy="8686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8" name="Connector 17"/>
          <p:cNvCxnSpPr/>
          <p:nvPr/>
        </p:nvCxnSpPr>
        <p:spPr>
          <a:xfrm>
            <a:off x="6080760" y="3794760"/>
            <a:ext cx="91440" cy="548640"/>
          </a:xfrm>
          <a:prstGeom prst="line">
            <a:avLst/>
          </a:prstGeom>
          <a:ln w="28575">
            <a:solidFill>
              <a:srgbClr val="2563E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663440" y="4343400"/>
            <a:ext cx="301752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20" name="Connector 19"/>
          <p:cNvCxnSpPr/>
          <p:nvPr/>
        </p:nvCxnSpPr>
        <p:spPr>
          <a:xfrm>
            <a:off x="6080760" y="3794760"/>
            <a:ext cx="3383280" cy="548640"/>
          </a:xfrm>
          <a:prstGeom prst="line">
            <a:avLst/>
          </a:prstGeom>
          <a:ln w="28575">
            <a:solidFill>
              <a:srgbClr val="7C3AE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955279" y="4343400"/>
            <a:ext cx="301752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2" name="TextBox 21"/>
          <p:cNvSpPr txBox="1"/>
          <p:nvPr/>
        </p:nvSpPr>
        <p:spPr>
          <a:xfrm>
            <a:off x="548640" y="5623560"/>
            <a:ext cx="11064240" cy="822960"/>
          </a:xfrm>
          <a:prstGeom prst="rect">
            <a:avLst/>
          </a:prstGeom>
          <a:noFill/>
        </p:spPr>
        <p:txBody>
          <a:bodyPr wrap="square" anchor="t">
            <a:spAutoFit/>
          </a:bodyPr>
          <a:lstStyle/>
          <a:p>
            <a:pPr algn="l">
              <a:defRPr sz="1400" b="1">
                <a:solidFill>
                  <a:srgbClr val="0D9488"/>
                </a:solidFill>
                <a:latin typeface="Avenir Next"/>
              </a:defRPr>
            </a:pPr>
            <a:r>
              <a:t>A new system is a probe and a render, not months of curation.</a:t>
            </a:r>
          </a:p>
          <a:p>
            <a:pPr algn="l">
              <a:defRPr sz="1250" b="0">
                <a:solidFill>
                  <a:srgbClr val="64748B"/>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a user experiences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809390" y="1645920"/>
            <a:ext cx="4572000" cy="566928"/>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0F172A"/>
                </a:solidFill>
                <a:latin typeface="Avenir Next"/>
              </a:defRPr>
            </a:pPr>
            <a:r>
              <a:t>$ module load cse/GCC</a:t>
            </a:r>
          </a:p>
        </p:txBody>
      </p:sp>
      <p:cxnSp>
        <p:nvCxnSpPr>
          <p:cNvPr id="7" name="Connector 6"/>
          <p:cNvCxnSpPr/>
          <p:nvPr/>
        </p:nvCxnSpPr>
        <p:spPr>
          <a:xfrm>
            <a:off x="6095390" y="2212848"/>
            <a:ext cx="0" cy="36576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163470" y="2578608"/>
            <a:ext cx="3749039" cy="9144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Core: loads automatically</a:t>
            </a:r>
          </a:p>
          <a:p>
            <a:pPr algn="ctr">
              <a:defRPr sz="1150" b="0">
                <a:solidFill>
                  <a:srgbClr val="FFFFFF"/>
                </a:solidFill>
                <a:latin typeface="Avenir Next"/>
              </a:defRPr>
            </a:pPr>
            <a:r>
              <a:t>cmake · python · miniforge · gsl</a:t>
            </a:r>
          </a:p>
        </p:txBody>
      </p:sp>
      <p:sp>
        <p:nvSpPr>
          <p:cNvPr id="9" name="Rounded Rectangle 8"/>
          <p:cNvSpPr/>
          <p:nvPr/>
        </p:nvSpPr>
        <p:spPr>
          <a:xfrm>
            <a:off x="6278270" y="2578608"/>
            <a:ext cx="3749039" cy="9144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Foundation: on your paths automatically</a:t>
            </a:r>
          </a:p>
          <a:p>
            <a:pPr algn="ctr">
              <a:defRPr sz="11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4748B"/>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fftw · boost, plus openblas · gnuplot</a:t>
            </a:r>
          </a:p>
        </p:txBody>
      </p:sp>
      <p:sp>
        <p:nvSpPr>
          <p:cNvPr id="13" name="Rounded Rectangle 12"/>
          <p:cNvSpPr/>
          <p:nvPr/>
        </p:nvSpPr>
        <p:spPr>
          <a:xfrm>
            <a:off x="4343400" y="4343400"/>
            <a:ext cx="347472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0F172A"/>
                </a:solidFill>
                <a:latin typeface="Avenir Next"/>
              </a:defRPr>
            </a:pPr>
            <a:r>
              <a:t>Only the chosen lane is visible; common packages (BLAS/LAPACK, gnuplot) are reachable from every lane.</a:t>
            </a:r>
          </a:p>
          <a:p>
            <a:pPr algn="ctr">
              <a:defRPr sz="1200" b="0">
                <a:solidFill>
                  <a:srgbClr val="64748B"/>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Lane vocabulary</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27432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55648"/>
            <a:ext cx="2468880" cy="502920"/>
          </a:xfrm>
          <a:prstGeom prst="rect">
            <a:avLst/>
          </a:prstGeom>
          <a:noFill/>
        </p:spPr>
        <p:txBody>
          <a:bodyPr wrap="square" anchor="t">
            <a:spAutoFit/>
          </a:bodyPr>
          <a:lstStyle/>
          <a:p>
            <a:pPr algn="ctr">
              <a:defRPr sz="1700" b="1">
                <a:solidFill>
                  <a:srgbClr val="FFFFFF"/>
                </a:solidFill>
                <a:latin typeface="Avenir Next"/>
              </a:defRPr>
            </a:pPr>
            <a:r>
              <a:t>Core</a:t>
            </a:r>
          </a:p>
        </p:txBody>
      </p:sp>
      <p:sp>
        <p:nvSpPr>
          <p:cNvPr id="9" name="TextBox 8"/>
          <p:cNvSpPr txBox="1"/>
          <p:nvPr/>
        </p:nvSpPr>
        <p:spPr>
          <a:xfrm>
            <a:off x="749808" y="2514600"/>
            <a:ext cx="2377440" cy="1554480"/>
          </a:xfrm>
          <a:prstGeom prst="rect">
            <a:avLst/>
          </a:prstGeom>
          <a:noFill/>
        </p:spPr>
        <p:txBody>
          <a:bodyPr wrap="square" anchor="t">
            <a:spAutoFit/>
          </a:bodyPr>
          <a:lstStyle/>
          <a:p>
            <a:pPr algn="l">
              <a:defRPr sz="1250" b="0">
                <a:solidFill>
                  <a:srgbClr val="334155"/>
                </a:solidFill>
                <a:latin typeface="Avenir Next"/>
              </a:defRPr>
            </a:pPr>
            <a:r>
              <a:t>Compiler-agnostic building blocks and tools. They load with the surface, before any lane is chosen.</a:t>
            </a:r>
          </a:p>
        </p:txBody>
      </p:sp>
      <p:sp>
        <p:nvSpPr>
          <p:cNvPr id="10" name="TextBox 9"/>
          <p:cNvSpPr txBox="1"/>
          <p:nvPr/>
        </p:nvSpPr>
        <p:spPr>
          <a:xfrm>
            <a:off x="749808" y="4160520"/>
            <a:ext cx="2377440" cy="640080"/>
          </a:xfrm>
          <a:prstGeom prst="rect">
            <a:avLst/>
          </a:prstGeom>
          <a:noFill/>
        </p:spPr>
        <p:txBody>
          <a:bodyPr wrap="square" anchor="t">
            <a:spAutoFit/>
          </a:bodyPr>
          <a:lstStyle/>
          <a:p>
            <a:pPr algn="l">
              <a:defRPr sz="1150" b="0">
                <a:solidFill>
                  <a:srgbClr val="64748B"/>
                </a:solidFill>
                <a:latin typeface="Avenir Next"/>
              </a:defRPr>
            </a:pPr>
            <a:r>
              <a:t>cmake · python · miniforge · gsl · sqlite</a:t>
            </a:r>
          </a:p>
        </p:txBody>
      </p:sp>
      <p:sp>
        <p:nvSpPr>
          <p:cNvPr id="11" name="Rounded Rectangle 10"/>
          <p:cNvSpPr/>
          <p:nvPr/>
        </p:nvSpPr>
        <p:spPr>
          <a:xfrm>
            <a:off x="3493008"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93008" y="1645920"/>
            <a:ext cx="27432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755648"/>
            <a:ext cx="2468880" cy="502920"/>
          </a:xfrm>
          <a:prstGeom prst="rect">
            <a:avLst/>
          </a:prstGeom>
          <a:noFill/>
        </p:spPr>
        <p:txBody>
          <a:bodyPr wrap="square" anchor="t">
            <a:spAutoFit/>
          </a:bodyPr>
          <a:lstStyle/>
          <a:p>
            <a:pPr algn="ctr">
              <a:defRPr sz="1700" b="1">
                <a:solidFill>
                  <a:srgbClr val="FFFFFF"/>
                </a:solidFill>
                <a:latin typeface="Avenir Next"/>
              </a:defRPr>
            </a:pPr>
            <a:r>
              <a:t>Serial</a:t>
            </a:r>
          </a:p>
        </p:txBody>
      </p:sp>
      <p:sp>
        <p:nvSpPr>
          <p:cNvPr id="14" name="TextBox 13"/>
          <p:cNvSpPr txBox="1"/>
          <p:nvPr/>
        </p:nvSpPr>
        <p:spPr>
          <a:xfrm>
            <a:off x="3694176" y="2514600"/>
            <a:ext cx="2377440" cy="1554480"/>
          </a:xfrm>
          <a:prstGeom prst="rect">
            <a:avLst/>
          </a:prstGeom>
          <a:noFill/>
        </p:spPr>
        <p:txBody>
          <a:bodyPr wrap="square" anchor="t">
            <a:spAutoFit/>
          </a:bodyPr>
          <a:lstStyle/>
          <a:p>
            <a:pPr algn="l">
              <a:defRPr sz="1250" b="0">
                <a:solidFill>
                  <a:srgbClr val="334155"/>
                </a:solidFill>
                <a:latin typeface="Avenir Next"/>
              </a:defRPr>
            </a:pPr>
            <a:r>
              <a:t>Two classes: non-MPI builds of MPI-capable packages, and common compiler-dependent packages that every lane can load.</a:t>
            </a:r>
          </a:p>
        </p:txBody>
      </p:sp>
      <p:sp>
        <p:nvSpPr>
          <p:cNvPr id="15" name="TextBox 14"/>
          <p:cNvSpPr txBox="1"/>
          <p:nvPr/>
        </p:nvSpPr>
        <p:spPr>
          <a:xfrm>
            <a:off x="3694176" y="4160520"/>
            <a:ext cx="2377440" cy="640080"/>
          </a:xfrm>
          <a:prstGeom prst="rect">
            <a:avLst/>
          </a:prstGeom>
          <a:noFill/>
        </p:spPr>
        <p:txBody>
          <a:bodyPr wrap="square" anchor="t">
            <a:spAutoFit/>
          </a:bodyPr>
          <a:lstStyle/>
          <a:p>
            <a:pPr algn="l">
              <a:defRPr sz="1150" b="0">
                <a:solidFill>
                  <a:srgbClr val="64748B"/>
                </a:solidFill>
                <a:latin typeface="Avenir Next"/>
              </a:defRPr>
            </a:pPr>
            <a:r>
              <a:t>hdf5~mpi · fftw~mpi  |  openblas · gnuplot</a:t>
            </a:r>
          </a:p>
        </p:txBody>
      </p:sp>
      <p:sp>
        <p:nvSpPr>
          <p:cNvPr id="16" name="Rounded Rectangle 15"/>
          <p:cNvSpPr/>
          <p:nvPr/>
        </p:nvSpPr>
        <p:spPr>
          <a:xfrm>
            <a:off x="6437376"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37376" y="1645920"/>
            <a:ext cx="27432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74536" y="1755648"/>
            <a:ext cx="2468880" cy="502920"/>
          </a:xfrm>
          <a:prstGeom prst="rect">
            <a:avLst/>
          </a:prstGeom>
          <a:noFill/>
        </p:spPr>
        <p:txBody>
          <a:bodyPr wrap="square" anchor="t">
            <a:spAutoFit/>
          </a:bodyPr>
          <a:lstStyle/>
          <a:p>
            <a:pPr algn="ctr">
              <a:defRPr sz="1700" b="1">
                <a:solidFill>
                  <a:srgbClr val="FFFFFF"/>
                </a:solidFill>
                <a:latin typeface="Avenir Next"/>
              </a:defRPr>
            </a:pPr>
            <a:r>
              <a:t>MPI</a:t>
            </a:r>
          </a:p>
        </p:txBody>
      </p:sp>
      <p:sp>
        <p:nvSpPr>
          <p:cNvPr id="19" name="TextBox 18"/>
          <p:cNvSpPr txBox="1"/>
          <p:nvPr/>
        </p:nvSpPr>
        <p:spPr>
          <a:xfrm>
            <a:off x="6638544" y="2514600"/>
            <a:ext cx="2377440" cy="1554480"/>
          </a:xfrm>
          <a:prstGeom prst="rect">
            <a:avLst/>
          </a:prstGeom>
          <a:noFill/>
        </p:spPr>
        <p:txBody>
          <a:bodyPr wrap="square" anchor="t">
            <a:spAutoFit/>
          </a:bodyPr>
          <a:lstStyle/>
          <a:p>
            <a:pPr algn="l">
              <a:defRPr sz="1250" b="0">
                <a:solidFill>
                  <a:srgbClr val="334155"/>
                </a:solidFill>
                <a:latin typeface="Avenir Next"/>
              </a:defRPr>
            </a:pPr>
            <a:r>
              <a:t>Built against the system MPI. Qualified only when the system offers more than one.</a:t>
            </a:r>
          </a:p>
        </p:txBody>
      </p:sp>
      <p:sp>
        <p:nvSpPr>
          <p:cNvPr id="20" name="TextBox 19"/>
          <p:cNvSpPr txBox="1"/>
          <p:nvPr/>
        </p:nvSpPr>
        <p:spPr>
          <a:xfrm>
            <a:off x="6638544" y="4160520"/>
            <a:ext cx="2377440" cy="640080"/>
          </a:xfrm>
          <a:prstGeom prst="rect">
            <a:avLst/>
          </a:prstGeom>
          <a:noFill/>
        </p:spPr>
        <p:txBody>
          <a:bodyPr wrap="square" anchor="t">
            <a:spAutoFit/>
          </a:bodyPr>
          <a:lstStyle/>
          <a:p>
            <a:pPr algn="l">
              <a:defRPr sz="1150" b="0">
                <a:solidFill>
                  <a:srgbClr val="64748B"/>
                </a:solidFill>
                <a:latin typeface="Avenir Next"/>
              </a:defRPr>
            </a:pPr>
            <a:r>
              <a:t>MPI  ·  or MPI-openmpi / MPI-mpich</a:t>
            </a:r>
          </a:p>
        </p:txBody>
      </p:sp>
      <p:sp>
        <p:nvSpPr>
          <p:cNvPr id="21" name="Rounded Rectangle 20"/>
          <p:cNvSpPr/>
          <p:nvPr/>
        </p:nvSpPr>
        <p:spPr>
          <a:xfrm>
            <a:off x="9381744"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81744" y="1645920"/>
            <a:ext cx="27432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18904" y="1755648"/>
            <a:ext cx="2468880" cy="502920"/>
          </a:xfrm>
          <a:prstGeom prst="rect">
            <a:avLst/>
          </a:prstGeom>
          <a:noFill/>
        </p:spPr>
        <p:txBody>
          <a:bodyPr wrap="square" anchor="t">
            <a:spAutoFit/>
          </a:bodyPr>
          <a:lstStyle/>
          <a:p>
            <a:pPr algn="ctr">
              <a:defRPr sz="1700" b="1">
                <a:solidFill>
                  <a:srgbClr val="FFFFFF"/>
                </a:solidFill>
                <a:latin typeface="Avenir Next"/>
              </a:defRPr>
            </a:pPr>
            <a:r>
              <a:t>GPU</a:t>
            </a:r>
          </a:p>
        </p:txBody>
      </p:sp>
      <p:sp>
        <p:nvSpPr>
          <p:cNvPr id="24" name="TextBox 23"/>
          <p:cNvSpPr txBox="1"/>
          <p:nvPr/>
        </p:nvSpPr>
        <p:spPr>
          <a:xfrm>
            <a:off x="9582912" y="2514600"/>
            <a:ext cx="2377440" cy="1554480"/>
          </a:xfrm>
          <a:prstGeom prst="rect">
            <a:avLst/>
          </a:prstGeom>
          <a:noFill/>
        </p:spPr>
        <p:txBody>
          <a:bodyPr wrap="square" anchor="t">
            <a:spAutoFit/>
          </a:bodyPr>
          <a:lstStyle/>
          <a:p>
            <a:pPr algn="l">
              <a:defRPr sz="1250" b="0">
                <a:solidFill>
                  <a:srgbClr val="334155"/>
                </a:solidFill>
                <a:latin typeface="Avenir Next"/>
              </a:defRPr>
            </a:pPr>
            <a:r>
              <a:t>Carries the full MPI roster plus the GPU payload. Load GPU instead of MPI, not in addition to it.</a:t>
            </a:r>
          </a:p>
        </p:txBody>
      </p:sp>
      <p:sp>
        <p:nvSpPr>
          <p:cNvPr id="25" name="TextBox 24"/>
          <p:cNvSpPr txBox="1"/>
          <p:nvPr/>
        </p:nvSpPr>
        <p:spPr>
          <a:xfrm>
            <a:off x="9582912" y="4160520"/>
            <a:ext cx="2377440" cy="640080"/>
          </a:xfrm>
          <a:prstGeom prst="rect">
            <a:avLst/>
          </a:prstGeom>
          <a:noFill/>
        </p:spPr>
        <p:txBody>
          <a:bodyPr wrap="square" anchor="t">
            <a:spAutoFit/>
          </a:bodyPr>
          <a:lstStyle/>
          <a:p>
            <a:pPr algn="l">
              <a:defRPr sz="1150" b="0">
                <a:solidFill>
                  <a:srgbClr val="64748B"/>
                </a:solidFill>
                <a:latin typeface="Avenir Next"/>
              </a:defRPr>
            </a:pPr>
            <a:r>
              <a:t>GPU  ·  or GPU-gfx90a / GPU-gfx942</a:t>
            </a:r>
          </a:p>
        </p:txBody>
      </p:sp>
      <p:sp>
        <p:nvSpPr>
          <p:cNvPr id="26" name="Rounded Rectangle 25"/>
          <p:cNvSpPr/>
          <p:nvPr/>
        </p:nvSpPr>
        <p:spPr>
          <a:xfrm>
            <a:off x="548640" y="52578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Pilot scope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10512"/>
            <a:ext cx="4937760" cy="457200"/>
          </a:xfrm>
          <a:prstGeom prst="rect">
            <a:avLst/>
          </a:prstGeom>
          <a:noFill/>
        </p:spPr>
        <p:txBody>
          <a:bodyPr wrap="square" anchor="t">
            <a:spAutoFit/>
          </a:bodyPr>
          <a:lstStyle/>
          <a:p>
            <a:pPr algn="l">
              <a:defRPr sz="1600" b="1">
                <a:solidFill>
                  <a:srgbClr val="0F172A"/>
                </a:solidFill>
                <a:latin typeface="Avenir Next"/>
              </a:defRPr>
            </a:pPr>
            <a:r>
              <a:t>cse/&lt;SystemDefault&gt;</a:t>
            </a:r>
          </a:p>
        </p:txBody>
      </p:sp>
      <p:sp>
        <p:nvSpPr>
          <p:cNvPr id="8" name="TextBox 7"/>
          <p:cNvSpPr txBox="1"/>
          <p:nvPr/>
        </p:nvSpPr>
        <p:spPr>
          <a:xfrm>
            <a:off x="777240" y="2286000"/>
            <a:ext cx="4937760" cy="365760"/>
          </a:xfrm>
          <a:prstGeom prst="rect">
            <a:avLst/>
          </a:prstGeom>
          <a:noFill/>
        </p:spPr>
        <p:txBody>
          <a:bodyPr wrap="square" anchor="t">
            <a:spAutoFit/>
          </a:bodyPr>
          <a:lstStyle/>
          <a:p>
            <a:pPr algn="l">
              <a:defRPr sz="1200" b="0">
                <a:solidFill>
                  <a:srgbClr val="64748B"/>
                </a:solidFill>
                <a:latin typeface="Avenir Next"/>
              </a:defRPr>
            </a:pPr>
            <a:r>
              <a:t>whatever the machine blesses as its baseline</a:t>
            </a:r>
          </a:p>
        </p:txBody>
      </p:sp>
      <p:sp>
        <p:nvSpPr>
          <p:cNvPr id="9" name="Rounded Rectangle 8"/>
          <p:cNvSpPr/>
          <p:nvPr/>
        </p:nvSpPr>
        <p:spPr>
          <a:xfrm>
            <a:off x="822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0" name="Rounded Rectangle 9"/>
          <p:cNvSpPr/>
          <p:nvPr/>
        </p:nvSpPr>
        <p:spPr>
          <a:xfrm>
            <a:off x="3291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1" name="Rounded Rectangle 10"/>
          <p:cNvSpPr/>
          <p:nvPr/>
        </p:nvSpPr>
        <p:spPr>
          <a:xfrm>
            <a:off x="822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0F172A"/>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4748B"/>
                </a:solidFill>
                <a:latin typeface="Avenir Next"/>
              </a:defRPr>
            </a:pPr>
            <a:r>
              <a:t>the portable reference surface</a:t>
            </a:r>
          </a:p>
        </p:txBody>
      </p:sp>
      <p:sp>
        <p:nvSpPr>
          <p:cNvPr id="17" name="Rounded Rectangle 16"/>
          <p:cNvSpPr/>
          <p:nvPr/>
        </p:nvSpPr>
        <p:spPr>
          <a:xfrm>
            <a:off x="6537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8" name="Rounded Rectangle 17"/>
          <p:cNvSpPr/>
          <p:nvPr/>
        </p:nvSpPr>
        <p:spPr>
          <a:xfrm>
            <a:off x="9006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9" name="Rounded Rectangle 18"/>
          <p:cNvSpPr/>
          <p:nvPr/>
        </p:nvSpPr>
        <p:spPr>
          <a:xfrm>
            <a:off x="6537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0" name="Rounded Rectangle 19"/>
          <p:cNvSpPr/>
          <p:nvPr/>
        </p:nvSpPr>
        <p:spPr>
          <a:xfrm>
            <a:off x="8183879"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1" name="Rounded Rectangle 20"/>
          <p:cNvSpPr/>
          <p:nvPr/>
        </p:nvSpPr>
        <p:spPr>
          <a:xfrm>
            <a:off x="9829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2" name="TextBox 21"/>
          <p:cNvSpPr txBox="1"/>
          <p:nvPr/>
        </p:nvSpPr>
        <p:spPr>
          <a:xfrm>
            <a:off x="548640" y="4526280"/>
            <a:ext cx="10972800" cy="365760"/>
          </a:xfrm>
          <a:prstGeom prst="rect">
            <a:avLst/>
          </a:prstGeom>
          <a:noFill/>
        </p:spPr>
        <p:txBody>
          <a:bodyPr wrap="square" anchor="t">
            <a:spAutoFit/>
          </a:bodyPr>
          <a:lstStyle/>
          <a:p>
            <a:pPr algn="l">
              <a:defRPr sz="1300" b="1">
                <a:solidFill>
                  <a:srgbClr val="0F172A"/>
                </a:solidFill>
                <a:latin typeface="Avenir Next"/>
              </a:defRPr>
            </a:pPr>
            <a:r>
              <a:t>Representative roster: newest two supported releases</a:t>
            </a:r>
          </a:p>
        </p:txBody>
      </p:sp>
      <p:sp>
        <p:nvSpPr>
          <p:cNvPr id="23" name="Rounded Rectangle 22"/>
          <p:cNvSpPr/>
          <p:nvPr/>
        </p:nvSpPr>
        <p:spPr>
          <a:xfrm>
            <a:off x="54864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a:t>
            </a:r>
          </a:p>
        </p:txBody>
      </p:sp>
      <p:sp>
        <p:nvSpPr>
          <p:cNvPr id="24" name="Rounded Rectangle 23"/>
          <p:cNvSpPr/>
          <p:nvPr/>
        </p:nvSpPr>
        <p:spPr>
          <a:xfrm>
            <a:off x="217627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5" name="Rounded Rectangle 24"/>
          <p:cNvSpPr/>
          <p:nvPr/>
        </p:nvSpPr>
        <p:spPr>
          <a:xfrm>
            <a:off x="3803904"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NetCDF-Fortran</a:t>
            </a:r>
          </a:p>
        </p:txBody>
      </p:sp>
      <p:sp>
        <p:nvSpPr>
          <p:cNvPr id="26" name="Rounded Rectangle 25"/>
          <p:cNvSpPr/>
          <p:nvPr/>
        </p:nvSpPr>
        <p:spPr>
          <a:xfrm>
            <a:off x="5431536"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7" name="Rounded Rectangle 26"/>
          <p:cNvSpPr/>
          <p:nvPr/>
        </p:nvSpPr>
        <p:spPr>
          <a:xfrm>
            <a:off x="7059168"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28" name="Rounded Rectangle 27"/>
          <p:cNvSpPr/>
          <p:nvPr/>
        </p:nvSpPr>
        <p:spPr>
          <a:xfrm>
            <a:off x="868680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9" name="Rounded Rectangle 28"/>
          <p:cNvSpPr/>
          <p:nvPr/>
        </p:nvSpPr>
        <p:spPr>
          <a:xfrm>
            <a:off x="1031443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30" name="Rounded Rectangle 29"/>
          <p:cNvSpPr/>
          <p:nvPr/>
        </p:nvSpPr>
        <p:spPr>
          <a:xfrm>
            <a:off x="54864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31" name="Rounded Rectangle 30"/>
          <p:cNvSpPr/>
          <p:nvPr/>
        </p:nvSpPr>
        <p:spPr>
          <a:xfrm>
            <a:off x="217627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32" name="Rounded Rectangle 31"/>
          <p:cNvSpPr/>
          <p:nvPr/>
        </p:nvSpPr>
        <p:spPr>
          <a:xfrm>
            <a:off x="3803904"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Dakota</a:t>
            </a:r>
          </a:p>
        </p:txBody>
      </p:sp>
      <p:sp>
        <p:nvSpPr>
          <p:cNvPr id="33" name="Rounded Rectangle 32"/>
          <p:cNvSpPr/>
          <p:nvPr/>
        </p:nvSpPr>
        <p:spPr>
          <a:xfrm>
            <a:off x="5431536"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Kokkos</a:t>
            </a:r>
          </a:p>
        </p:txBody>
      </p:sp>
      <p:sp>
        <p:nvSpPr>
          <p:cNvPr id="34" name="Rounded Rectangle 33"/>
          <p:cNvSpPr/>
          <p:nvPr/>
        </p:nvSpPr>
        <p:spPr>
          <a:xfrm>
            <a:off x="7059168"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Gnuplot</a:t>
            </a:r>
          </a:p>
        </p:txBody>
      </p:sp>
      <p:sp>
        <p:nvSpPr>
          <p:cNvPr id="35" name="Rounded Rectangle 34"/>
          <p:cNvSpPr/>
          <p:nvPr/>
        </p:nvSpPr>
        <p:spPr>
          <a:xfrm>
            <a:off x="868680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36" name="Rounded Rectangle 35"/>
          <p:cNvSpPr/>
          <p:nvPr/>
        </p:nvSpPr>
        <p:spPr>
          <a:xfrm>
            <a:off x="1031443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Miniforge</a:t>
            </a:r>
          </a:p>
        </p:txBody>
      </p:sp>
      <p:sp>
        <p:nvSpPr>
          <p:cNvPr id="37" name="TextBox 36"/>
          <p:cNvSpPr txBox="1"/>
          <p:nvPr/>
        </p:nvSpPr>
        <p:spPr>
          <a:xfrm>
            <a:off x="548640" y="6080760"/>
            <a:ext cx="11064240" cy="457200"/>
          </a:xfrm>
          <a:prstGeom prst="rect">
            <a:avLst/>
          </a:prstGeom>
          <a:noFill/>
        </p:spPr>
        <p:txBody>
          <a:bodyPr wrap="square" anchor="t">
            <a:spAutoFit/>
          </a:bodyPr>
          <a:lstStyle/>
          <a:p>
            <a:pPr algn="l">
              <a:defRPr sz="1200" b="0">
                <a:solidFill>
                  <a:srgbClr val="64748B"/>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Four systems will prove the pilot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27632"/>
            <a:ext cx="109728"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73936"/>
            <a:ext cx="1920240" cy="365760"/>
          </a:xfrm>
          <a:prstGeom prst="rect">
            <a:avLst/>
          </a:prstGeom>
          <a:noFill/>
        </p:spPr>
        <p:txBody>
          <a:bodyPr wrap="square" anchor="t">
            <a:spAutoFit/>
          </a:bodyPr>
          <a:lstStyle/>
          <a:p>
            <a:pPr algn="l">
              <a:defRPr sz="1700" b="1">
                <a:solidFill>
                  <a:srgbClr val="0F172A"/>
                </a:solidFill>
                <a:latin typeface="Avenir Next"/>
              </a:defRPr>
            </a:pPr>
            <a:r>
              <a:t>Blueback</a:t>
            </a:r>
          </a:p>
        </p:txBody>
      </p:sp>
      <p:sp>
        <p:nvSpPr>
          <p:cNvPr id="9" name="TextBox 8"/>
          <p:cNvSpPr txBox="1"/>
          <p:nvPr/>
        </p:nvSpPr>
        <p:spPr>
          <a:xfrm>
            <a:off x="2697480" y="1801368"/>
            <a:ext cx="2971800" cy="320040"/>
          </a:xfrm>
          <a:prstGeom prst="rect">
            <a:avLst/>
          </a:prstGeom>
          <a:noFill/>
        </p:spPr>
        <p:txBody>
          <a:bodyPr wrap="square" anchor="t">
            <a:spAutoFit/>
          </a:bodyPr>
          <a:lstStyle/>
          <a:p>
            <a:pPr algn="r">
              <a:defRPr sz="1150" b="1">
                <a:solidFill>
                  <a:srgbClr val="7C3AED"/>
                </a:solidFill>
                <a:latin typeface="Avenir Next"/>
              </a:defRPr>
            </a:pPr>
            <a:r>
              <a:t>CRAY PE · AMD APU</a:t>
            </a:r>
          </a:p>
        </p:txBody>
      </p:sp>
      <p:sp>
        <p:nvSpPr>
          <p:cNvPr id="10" name="TextBox 9"/>
          <p:cNvSpPr txBox="1"/>
          <p:nvPr/>
        </p:nvSpPr>
        <p:spPr>
          <a:xfrm>
            <a:off x="822959" y="2221992"/>
            <a:ext cx="4846320" cy="292608"/>
          </a:xfrm>
          <a:prstGeom prst="rect">
            <a:avLst/>
          </a:prstGeom>
          <a:noFill/>
        </p:spPr>
        <p:txBody>
          <a:bodyPr wrap="square" anchor="t">
            <a:spAutoFit/>
          </a:bodyPr>
          <a:lstStyle/>
          <a:p>
            <a:pPr algn="l">
              <a:defRPr sz="1250" b="1">
                <a:solidFill>
                  <a:srgbClr val="334155"/>
                </a:solidFill>
                <a:latin typeface="Avenir Next"/>
              </a:defRPr>
            </a:pPr>
            <a:r>
              <a:t>NAVY · HPE Cray EX4000 · SLES</a:t>
            </a:r>
          </a:p>
        </p:txBody>
      </p:sp>
      <p:sp>
        <p:nvSpPr>
          <p:cNvPr id="11" name="TextBox 10"/>
          <p:cNvSpPr txBox="1"/>
          <p:nvPr/>
        </p:nvSpPr>
        <p:spPr>
          <a:xfrm>
            <a:off x="822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9654 Genoa, 192 cores</a:t>
            </a:r>
          </a:p>
        </p:txBody>
      </p:sp>
      <p:sp>
        <p:nvSpPr>
          <p:cNvPr id="12" name="TextBox 11"/>
          <p:cNvSpPr txBox="1"/>
          <p:nvPr/>
        </p:nvSpPr>
        <p:spPr>
          <a:xfrm>
            <a:off x="822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AMD Instinct MI300A APU, 96 cores + 4 × MI300A</a:t>
            </a:r>
          </a:p>
        </p:txBody>
      </p:sp>
      <p:sp>
        <p:nvSpPr>
          <p:cNvPr id="13" name="Rounded Rectangle 12"/>
          <p:cNvSpPr/>
          <p:nvPr/>
        </p:nvSpPr>
        <p:spPr>
          <a:xfrm>
            <a:off x="6263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627632"/>
            <a:ext cx="109728" cy="1783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773936"/>
            <a:ext cx="1920240" cy="365760"/>
          </a:xfrm>
          <a:prstGeom prst="rect">
            <a:avLst/>
          </a:prstGeom>
          <a:noFill/>
        </p:spPr>
        <p:txBody>
          <a:bodyPr wrap="square" anchor="t">
            <a:spAutoFit/>
          </a:bodyPr>
          <a:lstStyle/>
          <a:p>
            <a:pPr algn="l">
              <a:defRPr sz="1700" b="1">
                <a:solidFill>
                  <a:srgbClr val="0F172A"/>
                </a:solidFill>
                <a:latin typeface="Avenir Next"/>
              </a:defRPr>
            </a:pPr>
            <a:r>
              <a:t>Fran</a:t>
            </a:r>
          </a:p>
        </p:txBody>
      </p:sp>
      <p:sp>
        <p:nvSpPr>
          <p:cNvPr id="16" name="TextBox 15"/>
          <p:cNvSpPr txBox="1"/>
          <p:nvPr/>
        </p:nvSpPr>
        <p:spPr>
          <a:xfrm>
            <a:off x="8412480" y="1801368"/>
            <a:ext cx="2971800" cy="320040"/>
          </a:xfrm>
          <a:prstGeom prst="rect">
            <a:avLst/>
          </a:prstGeom>
          <a:noFill/>
        </p:spPr>
        <p:txBody>
          <a:bodyPr wrap="square" anchor="t">
            <a:spAutoFit/>
          </a:bodyPr>
          <a:lstStyle/>
          <a:p>
            <a:pPr algn="r">
              <a:defRPr sz="1150" b="1">
                <a:solidFill>
                  <a:srgbClr val="2563EB"/>
                </a:solidFill>
                <a:latin typeface="Avenir Next"/>
              </a:defRPr>
            </a:pPr>
            <a:r>
              <a:t>SECOND CRAY SITE · NEWEST NVIDIA</a:t>
            </a:r>
          </a:p>
        </p:txBody>
      </p:sp>
      <p:sp>
        <p:nvSpPr>
          <p:cNvPr id="17" name="TextBox 16"/>
          <p:cNvSpPr txBox="1"/>
          <p:nvPr/>
        </p:nvSpPr>
        <p:spPr>
          <a:xfrm>
            <a:off x="6537959" y="2221992"/>
            <a:ext cx="4846320" cy="292608"/>
          </a:xfrm>
          <a:prstGeom prst="rect">
            <a:avLst/>
          </a:prstGeom>
          <a:noFill/>
        </p:spPr>
        <p:txBody>
          <a:bodyPr wrap="square" anchor="t">
            <a:spAutoFit/>
          </a:bodyPr>
          <a:lstStyle/>
          <a:p>
            <a:pPr algn="l">
              <a:defRPr sz="1250" b="1">
                <a:solidFill>
                  <a:srgbClr val="334155"/>
                </a:solidFill>
                <a:latin typeface="Avenir Next"/>
              </a:defRPr>
            </a:pPr>
            <a:r>
              <a:t>ARL · HPE Cray EX4000 · RHEL 9</a:t>
            </a:r>
          </a:p>
        </p:txBody>
      </p:sp>
      <p:sp>
        <p:nvSpPr>
          <p:cNvPr id="18" name="TextBox 17"/>
          <p:cNvSpPr txBox="1"/>
          <p:nvPr/>
        </p:nvSpPr>
        <p:spPr>
          <a:xfrm>
            <a:off x="6537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Genoa, 192 cores</a:t>
            </a:r>
          </a:p>
        </p:txBody>
      </p:sp>
      <p:sp>
        <p:nvSpPr>
          <p:cNvPr id="19" name="TextBox 18"/>
          <p:cNvSpPr txBox="1"/>
          <p:nvPr/>
        </p:nvSpPr>
        <p:spPr>
          <a:xfrm>
            <a:off x="6537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NVIDIA H200</a:t>
            </a:r>
          </a:p>
        </p:txBody>
      </p:sp>
      <p:sp>
        <p:nvSpPr>
          <p:cNvPr id="20" name="Rounded Rectangle 19"/>
          <p:cNvSpPr/>
          <p:nvPr/>
        </p:nvSpPr>
        <p:spPr>
          <a:xfrm>
            <a:off x="548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685032"/>
            <a:ext cx="109728" cy="17830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831336"/>
            <a:ext cx="1920240" cy="365760"/>
          </a:xfrm>
          <a:prstGeom prst="rect">
            <a:avLst/>
          </a:prstGeom>
          <a:noFill/>
        </p:spPr>
        <p:txBody>
          <a:bodyPr wrap="square" anchor="t">
            <a:spAutoFit/>
          </a:bodyPr>
          <a:lstStyle/>
          <a:p>
            <a:pPr algn="l">
              <a:defRPr sz="1700" b="1">
                <a:solidFill>
                  <a:srgbClr val="0F172A"/>
                </a:solidFill>
                <a:latin typeface="Avenir Next"/>
              </a:defRPr>
            </a:pPr>
            <a:r>
              <a:t>Raider</a:t>
            </a:r>
          </a:p>
        </p:txBody>
      </p:sp>
      <p:sp>
        <p:nvSpPr>
          <p:cNvPr id="23" name="TextBox 22"/>
          <p:cNvSpPr txBox="1"/>
          <p:nvPr/>
        </p:nvSpPr>
        <p:spPr>
          <a:xfrm>
            <a:off x="2697480" y="3858768"/>
            <a:ext cx="2971800" cy="320040"/>
          </a:xfrm>
          <a:prstGeom prst="rect">
            <a:avLst/>
          </a:prstGeom>
          <a:noFill/>
        </p:spPr>
        <p:txBody>
          <a:bodyPr wrap="square" anchor="t">
            <a:spAutoFit/>
          </a:bodyPr>
          <a:lstStyle/>
          <a:p>
            <a:pPr algn="r">
              <a:defRPr sz="1150" b="1">
                <a:solidFill>
                  <a:srgbClr val="0D9488"/>
                </a:solidFill>
                <a:latin typeface="Avenir Next"/>
              </a:defRPr>
            </a:pPr>
            <a:r>
              <a:t>GENERIC LINUX · CUDA</a:t>
            </a:r>
          </a:p>
        </p:txBody>
      </p:sp>
      <p:sp>
        <p:nvSpPr>
          <p:cNvPr id="24" name="TextBox 23"/>
          <p:cNvSpPr txBox="1"/>
          <p:nvPr/>
        </p:nvSpPr>
        <p:spPr>
          <a:xfrm>
            <a:off x="822959" y="4279392"/>
            <a:ext cx="4846320" cy="292608"/>
          </a:xfrm>
          <a:prstGeom prst="rect">
            <a:avLst/>
          </a:prstGeom>
          <a:noFill/>
        </p:spPr>
        <p:txBody>
          <a:bodyPr wrap="square" anchor="t">
            <a:spAutoFit/>
          </a:bodyPr>
          <a:lstStyle/>
          <a:p>
            <a:pPr algn="l">
              <a:defRPr sz="1250" b="1">
                <a:solidFill>
                  <a:srgbClr val="334155"/>
                </a:solidFill>
                <a:latin typeface="Avenir Next"/>
              </a:defRPr>
            </a:pPr>
            <a:r>
              <a:t>AFRL · Penguin TrueHPC · RHEL 8</a:t>
            </a:r>
          </a:p>
        </p:txBody>
      </p:sp>
      <p:sp>
        <p:nvSpPr>
          <p:cNvPr id="25" name="TextBox 24"/>
          <p:cNvSpPr txBox="1"/>
          <p:nvPr/>
        </p:nvSpPr>
        <p:spPr>
          <a:xfrm>
            <a:off x="822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7713 Milan, 128 cores</a:t>
            </a:r>
          </a:p>
        </p:txBody>
      </p:sp>
      <p:sp>
        <p:nvSpPr>
          <p:cNvPr id="26" name="TextBox 25"/>
          <p:cNvSpPr txBox="1"/>
          <p:nvPr/>
        </p:nvSpPr>
        <p:spPr>
          <a:xfrm>
            <a:off x="822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 NVIDIA A100 SXM4</a:t>
            </a:r>
          </a:p>
        </p:txBody>
      </p:sp>
      <p:sp>
        <p:nvSpPr>
          <p:cNvPr id="27" name="Rounded Rectangle 26"/>
          <p:cNvSpPr/>
          <p:nvPr/>
        </p:nvSpPr>
        <p:spPr>
          <a:xfrm>
            <a:off x="6263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3685032"/>
            <a:ext cx="109728" cy="17830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59" y="3831336"/>
            <a:ext cx="1920240" cy="365760"/>
          </a:xfrm>
          <a:prstGeom prst="rect">
            <a:avLst/>
          </a:prstGeom>
          <a:noFill/>
        </p:spPr>
        <p:txBody>
          <a:bodyPr wrap="square" anchor="t">
            <a:spAutoFit/>
          </a:bodyPr>
          <a:lstStyle/>
          <a:p>
            <a:pPr algn="l">
              <a:defRPr sz="1700" b="1">
                <a:solidFill>
                  <a:srgbClr val="0F172A"/>
                </a:solidFill>
                <a:latin typeface="Avenir Next"/>
              </a:defRPr>
            </a:pPr>
            <a:r>
              <a:t>Wheat</a:t>
            </a:r>
          </a:p>
        </p:txBody>
      </p:sp>
      <p:sp>
        <p:nvSpPr>
          <p:cNvPr id="30" name="TextBox 29"/>
          <p:cNvSpPr txBox="1"/>
          <p:nvPr/>
        </p:nvSpPr>
        <p:spPr>
          <a:xfrm>
            <a:off x="8412480" y="3858768"/>
            <a:ext cx="2971800" cy="320040"/>
          </a:xfrm>
          <a:prstGeom prst="rect">
            <a:avLst/>
          </a:prstGeom>
          <a:noFill/>
        </p:spPr>
        <p:txBody>
          <a:bodyPr wrap="square" anchor="t">
            <a:spAutoFit/>
          </a:bodyPr>
          <a:lstStyle/>
          <a:p>
            <a:pPr algn="r">
              <a:defRPr sz="1150" b="1">
                <a:solidFill>
                  <a:srgbClr val="D97706"/>
                </a:solidFill>
                <a:latin typeface="Avenir Next"/>
              </a:defRPr>
            </a:pPr>
            <a:r>
              <a:t>INTEL CPU · COMPOSABLE GPU</a:t>
            </a:r>
          </a:p>
        </p:txBody>
      </p:sp>
      <p:sp>
        <p:nvSpPr>
          <p:cNvPr id="31" name="TextBox 30"/>
          <p:cNvSpPr txBox="1"/>
          <p:nvPr/>
        </p:nvSpPr>
        <p:spPr>
          <a:xfrm>
            <a:off x="6537959" y="4279392"/>
            <a:ext cx="4846320" cy="292608"/>
          </a:xfrm>
          <a:prstGeom prst="rect">
            <a:avLst/>
          </a:prstGeom>
          <a:noFill/>
        </p:spPr>
        <p:txBody>
          <a:bodyPr wrap="square" anchor="t">
            <a:spAutoFit/>
          </a:bodyPr>
          <a:lstStyle/>
          <a:p>
            <a:pPr algn="l">
              <a:defRPr sz="1250" b="1">
                <a:solidFill>
                  <a:srgbClr val="334155"/>
                </a:solidFill>
                <a:latin typeface="Avenir Next"/>
              </a:defRPr>
            </a:pPr>
            <a:r>
              <a:t>ERDC · Liqid composable · RHEL 8</a:t>
            </a:r>
          </a:p>
        </p:txBody>
      </p:sp>
      <p:sp>
        <p:nvSpPr>
          <p:cNvPr id="32" name="TextBox 31"/>
          <p:cNvSpPr txBox="1"/>
          <p:nvPr/>
        </p:nvSpPr>
        <p:spPr>
          <a:xfrm>
            <a:off x="6537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Intel Xeon 9242 Cascade Lake, 92 cores</a:t>
            </a:r>
          </a:p>
        </p:txBody>
      </p:sp>
      <p:sp>
        <p:nvSpPr>
          <p:cNvPr id="33" name="TextBox 32"/>
          <p:cNvSpPr txBox="1"/>
          <p:nvPr/>
        </p:nvSpPr>
        <p:spPr>
          <a:xfrm>
            <a:off x="6537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or 6 × NVIDIA A100</a:t>
            </a:r>
          </a:p>
        </p:txBody>
      </p:sp>
      <p:sp>
        <p:nvSpPr>
          <p:cNvPr id="34" name="Rounded Rectangle 33"/>
          <p:cNvSpPr/>
          <p:nvPr/>
        </p:nvSpPr>
        <p:spPr>
          <a:xfrm>
            <a:off x="548640" y="5806440"/>
            <a:ext cx="11091672" cy="530352"/>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Coverage: SLES + RHEL 8 + RHEL 9 · AMD + Intel CPUs · AMD MI300A + NVIDIA H200 and A100</a:t>
            </a:r>
          </a:p>
        </p:txBody>
      </p:sp>
      <p:sp>
        <p:nvSpPr>
          <p:cNvPr id="35" name="TextBox 34"/>
          <p:cNvSpPr txBox="1"/>
          <p:nvPr/>
        </p:nvSpPr>
        <p:spPr>
          <a:xfrm>
            <a:off x="548640" y="6419088"/>
            <a:ext cx="11064240" cy="219456"/>
          </a:xfrm>
          <a:prstGeom prst="rect">
            <a:avLst/>
          </a:prstGeom>
          <a:noFill/>
        </p:spPr>
        <p:txBody>
          <a:bodyPr wrap="square" anchor="t">
            <a:spAutoFit/>
          </a:bodyPr>
          <a:lstStyle/>
          <a:p>
            <a:pPr algn="r">
              <a:defRPr sz="950" b="0">
                <a:solidFill>
                  <a:srgbClr val="64748B"/>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happens next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566928" cy="105156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8" name="TextBox 7"/>
          <p:cNvSpPr txBox="1"/>
          <p:nvPr/>
        </p:nvSpPr>
        <p:spPr>
          <a:xfrm>
            <a:off x="1325880" y="1810512"/>
            <a:ext cx="10058400" cy="310896"/>
          </a:xfrm>
          <a:prstGeom prst="rect">
            <a:avLst/>
          </a:prstGeom>
          <a:noFill/>
        </p:spPr>
        <p:txBody>
          <a:bodyPr wrap="square" anchor="t">
            <a:spAutoFit/>
          </a:bodyPr>
          <a:lstStyle/>
          <a:p>
            <a:pPr algn="l">
              <a:defRPr sz="1550" b="1">
                <a:solidFill>
                  <a:srgbClr val="0F172A"/>
                </a:solidFill>
                <a:latin typeface="Avenir Next"/>
              </a:defRPr>
            </a:pPr>
            <a:r>
              <a:t>Build the pilot stack on the four systems</a:t>
            </a:r>
          </a:p>
        </p:txBody>
      </p:sp>
      <p:sp>
        <p:nvSpPr>
          <p:cNvPr id="9" name="TextBox 8"/>
          <p:cNvSpPr txBox="1"/>
          <p:nvPr/>
        </p:nvSpPr>
        <p:spPr>
          <a:xfrm>
            <a:off x="1325880" y="2176272"/>
            <a:ext cx="10058400" cy="420624"/>
          </a:xfrm>
          <a:prstGeom prst="rect">
            <a:avLst/>
          </a:prstGeom>
          <a:noFill/>
        </p:spPr>
        <p:txBody>
          <a:bodyPr wrap="square" anchor="t">
            <a:spAutoFit/>
          </a:bodyPr>
          <a:lstStyle/>
          <a:p>
            <a:pPr algn="l">
              <a:defRPr sz="1150" b="0">
                <a:solidFill>
                  <a:srgbClr val="64748B"/>
                </a:solidFill>
                <a:latin typeface="Avenir Next"/>
              </a:defRPr>
            </a:pPr>
            <a:r>
              <a:t>Probe each machine, render its lanes, concretize, install. The front door is the first real test of the naming: one compiler surface, then one lane, then a package.</a:t>
            </a:r>
          </a:p>
        </p:txBody>
      </p:sp>
      <p:sp>
        <p:nvSpPr>
          <p:cNvPr id="10" name="Rounded Rectangle 9"/>
          <p:cNvSpPr/>
          <p:nvPr/>
        </p:nvSpPr>
        <p:spPr>
          <a:xfrm>
            <a:off x="548640" y="2852928"/>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852928"/>
            <a:ext cx="566928" cy="1051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2" name="TextBox 11"/>
          <p:cNvSpPr txBox="1"/>
          <p:nvPr/>
        </p:nvSpPr>
        <p:spPr>
          <a:xfrm>
            <a:off x="1325880" y="3017520"/>
            <a:ext cx="10058400" cy="310896"/>
          </a:xfrm>
          <a:prstGeom prst="rect">
            <a:avLst/>
          </a:prstGeom>
          <a:noFill/>
        </p:spPr>
        <p:txBody>
          <a:bodyPr wrap="square" anchor="t">
            <a:spAutoFit/>
          </a:bodyPr>
          <a:lstStyle/>
          <a:p>
            <a:pPr algn="l">
              <a:defRPr sz="1550" b="1">
                <a:solidFill>
                  <a:srgbClr val="0F172A"/>
                </a:solidFill>
                <a:latin typeface="Avenir Next"/>
              </a:defRPr>
            </a:pPr>
            <a:r>
              <a:t>Prove the module contract</a:t>
            </a:r>
          </a:p>
        </p:txBody>
      </p:sp>
      <p:sp>
        <p:nvSpPr>
          <p:cNvPr id="13" name="TextBox 12"/>
          <p:cNvSpPr txBox="1"/>
          <p:nvPr/>
        </p:nvSpPr>
        <p:spPr>
          <a:xfrm>
            <a:off x="1325880" y="3383280"/>
            <a:ext cx="10058400" cy="420624"/>
          </a:xfrm>
          <a:prstGeom prst="rect">
            <a:avLst/>
          </a:prstGeom>
          <a:noFill/>
        </p:spPr>
        <p:txBody>
          <a:bodyPr wrap="square" anchor="t">
            <a:spAutoFit/>
          </a:bodyPr>
          <a:lstStyle/>
          <a:p>
            <a:pPr algn="l">
              <a:defRPr sz="1150" b="0">
                <a:solidFill>
                  <a:srgbClr val="64748B"/>
                </a:solidFill>
                <a:latin typeface="Avenir Next"/>
              </a:defRPr>
            </a:pPr>
            <a:r>
              <a:t>Compatible chains load and incompatible mixes fail. Lane purity and version pairing are checked in the concretized lockfile, never assumed from the render.</a:t>
            </a:r>
          </a:p>
        </p:txBody>
      </p:sp>
      <p:sp>
        <p:nvSpPr>
          <p:cNvPr id="14" name="Rounded Rectangle 13"/>
          <p:cNvSpPr/>
          <p:nvPr/>
        </p:nvSpPr>
        <p:spPr>
          <a:xfrm>
            <a:off x="548640" y="4059936"/>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4059936"/>
            <a:ext cx="566928" cy="10515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6" name="TextBox 15"/>
          <p:cNvSpPr txBox="1"/>
          <p:nvPr/>
        </p:nvSpPr>
        <p:spPr>
          <a:xfrm>
            <a:off x="1325880" y="4224528"/>
            <a:ext cx="10058400" cy="310896"/>
          </a:xfrm>
          <a:prstGeom prst="rect">
            <a:avLst/>
          </a:prstGeom>
          <a:noFill/>
        </p:spPr>
        <p:txBody>
          <a:bodyPr wrap="square" anchor="t">
            <a:spAutoFit/>
          </a:bodyPr>
          <a:lstStyle/>
          <a:p>
            <a:pPr algn="l">
              <a:defRPr sz="1550" b="1">
                <a:solidFill>
                  <a:srgbClr val="0F172A"/>
                </a:solidFill>
                <a:latin typeface="Avenir Next"/>
              </a:defRPr>
            </a:pPr>
            <a:r>
              <a:t>Stand up the release process</a:t>
            </a:r>
          </a:p>
        </p:txBody>
      </p:sp>
      <p:sp>
        <p:nvSpPr>
          <p:cNvPr id="17" name="TextBox 16"/>
          <p:cNvSpPr txBox="1"/>
          <p:nvPr/>
        </p:nvSpPr>
        <p:spPr>
          <a:xfrm>
            <a:off x="1325880" y="4590288"/>
            <a:ext cx="10058400" cy="420624"/>
          </a:xfrm>
          <a:prstGeom prst="rect">
            <a:avLst/>
          </a:prstGeom>
          <a:noFill/>
        </p:spPr>
        <p:txBody>
          <a:bodyPr wrap="square" anchor="t">
            <a:spAutoFit/>
          </a:bodyPr>
          <a:lstStyle/>
          <a:p>
            <a:pPr algn="l">
              <a:defRPr sz="1150" b="0">
                <a:solidFill>
                  <a:srgbClr val="64748B"/>
                </a:solidFill>
                <a:latin typeface="Avenir Next"/>
              </a:defRPr>
            </a:pPr>
            <a:r>
              <a:t>Build caches, a lockfile per lane, and a release manifest, so a release can be rebuilt exactly, promoted deliberately, and rolled back by moving a pointer.</a:t>
            </a:r>
          </a:p>
        </p:txBody>
      </p:sp>
      <p:sp>
        <p:nvSpPr>
          <p:cNvPr id="18" name="Rounded Rectangle 17"/>
          <p:cNvSpPr/>
          <p:nvPr/>
        </p:nvSpPr>
        <p:spPr>
          <a:xfrm>
            <a:off x="548640" y="5266944"/>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5266944"/>
            <a:ext cx="566928" cy="1051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20" name="TextBox 19"/>
          <p:cNvSpPr txBox="1"/>
          <p:nvPr/>
        </p:nvSpPr>
        <p:spPr>
          <a:xfrm>
            <a:off x="1325880" y="5431536"/>
            <a:ext cx="10058400" cy="310896"/>
          </a:xfrm>
          <a:prstGeom prst="rect">
            <a:avLst/>
          </a:prstGeom>
          <a:noFill/>
        </p:spPr>
        <p:txBody>
          <a:bodyPr wrap="square" anchor="t">
            <a:spAutoFit/>
          </a:bodyPr>
          <a:lstStyle/>
          <a:p>
            <a:pPr algn="l">
              <a:defRPr sz="1550" b="1">
                <a:solidFill>
                  <a:srgbClr val="0F172A"/>
                </a:solidFill>
                <a:latin typeface="Avenir Next"/>
              </a:defRPr>
            </a:pPr>
            <a:r>
              <a:t>Settle the open decisions</a:t>
            </a:r>
          </a:p>
        </p:txBody>
      </p:sp>
      <p:sp>
        <p:nvSpPr>
          <p:cNvPr id="21" name="TextBox 20"/>
          <p:cNvSpPr txBox="1"/>
          <p:nvPr/>
        </p:nvSpPr>
        <p:spPr>
          <a:xfrm>
            <a:off x="1325880" y="5797296"/>
            <a:ext cx="10058400" cy="420624"/>
          </a:xfrm>
          <a:prstGeom prst="rect">
            <a:avLst/>
          </a:prstGeom>
          <a:noFill/>
        </p:spPr>
        <p:txBody>
          <a:bodyPr wrap="square" anchor="t">
            <a:spAutoFit/>
          </a:bodyPr>
          <a:lstStyle/>
          <a:p>
            <a:pPr algn="l">
              <a:defRPr sz="1150" b="0">
                <a:solidFill>
                  <a:srgbClr val="64748B"/>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Open questions for the team</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91440" cy="9875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28216"/>
            <a:ext cx="10515600" cy="274320"/>
          </a:xfrm>
          <a:prstGeom prst="rect">
            <a:avLst/>
          </a:prstGeom>
          <a:noFill/>
        </p:spPr>
        <p:txBody>
          <a:bodyPr wrap="square" anchor="t">
            <a:spAutoFit/>
          </a:bodyPr>
          <a:lstStyle/>
          <a:p>
            <a:pPr algn="l">
              <a:defRPr sz="1350" b="1">
                <a:solidFill>
                  <a:srgbClr val="0F172A"/>
                </a:solidFill>
                <a:latin typeface="Avenir Next"/>
              </a:defRPr>
            </a:pPr>
            <a:r>
              <a:t>Do we offer the vendor's math libraries as well as OpenBLAS?</a:t>
            </a:r>
          </a:p>
        </p:txBody>
      </p:sp>
      <p:sp>
        <p:nvSpPr>
          <p:cNvPr id="9" name="TextBox 8"/>
          <p:cNvSpPr txBox="1"/>
          <p:nvPr/>
        </p:nvSpPr>
        <p:spPr>
          <a:xfrm>
            <a:off x="868680" y="2011680"/>
            <a:ext cx="10515600" cy="530352"/>
          </a:xfrm>
          <a:prstGeom prst="rect">
            <a:avLst/>
          </a:prstGeom>
          <a:noFill/>
        </p:spPr>
        <p:txBody>
          <a:bodyPr wrap="square" anchor="t">
            <a:spAutoFit/>
          </a:bodyPr>
          <a:lstStyle/>
          <a:p>
            <a:pPr algn="l">
              <a:defRPr sz="1100" b="0">
                <a:solidFill>
                  <a:srgbClr val="64748B"/>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10" name="Rounded Rectangle 9"/>
          <p:cNvSpPr/>
          <p:nvPr/>
        </p:nvSpPr>
        <p:spPr>
          <a:xfrm>
            <a:off x="548640" y="2679191"/>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79191"/>
            <a:ext cx="91440" cy="98755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07208"/>
            <a:ext cx="10515600" cy="274320"/>
          </a:xfrm>
          <a:prstGeom prst="rect">
            <a:avLst/>
          </a:prstGeom>
          <a:noFill/>
        </p:spPr>
        <p:txBody>
          <a:bodyPr wrap="square" anchor="t">
            <a:spAutoFit/>
          </a:bodyPr>
          <a:lstStyle/>
          <a:p>
            <a:pPr algn="l">
              <a:defRPr sz="1350" b="1">
                <a:solidFill>
                  <a:srgbClr val="0F172A"/>
                </a:solidFill>
                <a:latin typeface="Avenir Next"/>
              </a:defRPr>
            </a:pPr>
            <a:r>
              <a:t>Which compiler surfaces does the pilot carry?</a:t>
            </a:r>
          </a:p>
        </p:txBody>
      </p:sp>
      <p:sp>
        <p:nvSpPr>
          <p:cNvPr id="13" name="TextBox 12"/>
          <p:cNvSpPr txBox="1"/>
          <p:nvPr/>
        </p:nvSpPr>
        <p:spPr>
          <a:xfrm>
            <a:off x="868680" y="3090672"/>
            <a:ext cx="10515600" cy="530352"/>
          </a:xfrm>
          <a:prstGeom prst="rect">
            <a:avLst/>
          </a:prstGeom>
          <a:noFill/>
        </p:spPr>
        <p:txBody>
          <a:bodyPr wrap="square" anchor="t">
            <a:spAutoFit/>
          </a:bodyPr>
          <a:lstStyle/>
          <a:p>
            <a:pPr algn="l">
              <a:defRPr sz="1100" b="0">
                <a:solidFill>
                  <a:srgbClr val="64748B"/>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4" name="Rounded Rectangle 13"/>
          <p:cNvSpPr/>
          <p:nvPr/>
        </p:nvSpPr>
        <p:spPr>
          <a:xfrm>
            <a:off x="548640" y="3758183"/>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758183"/>
            <a:ext cx="91440" cy="98755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86199"/>
            <a:ext cx="10515600" cy="274320"/>
          </a:xfrm>
          <a:prstGeom prst="rect">
            <a:avLst/>
          </a:prstGeom>
          <a:noFill/>
        </p:spPr>
        <p:txBody>
          <a:bodyPr wrap="square" anchor="t">
            <a:spAutoFit/>
          </a:bodyPr>
          <a:lstStyle/>
          <a:p>
            <a:pPr algn="l">
              <a:defRPr sz="1350" b="1">
                <a:solidFill>
                  <a:srgbClr val="0F172A"/>
                </a:solidFill>
                <a:latin typeface="Avenir Next"/>
              </a:defRPr>
            </a:pPr>
            <a:r>
              <a:t>Does the Serial lane stay?</a:t>
            </a:r>
          </a:p>
        </p:txBody>
      </p:sp>
      <p:sp>
        <p:nvSpPr>
          <p:cNvPr id="17" name="TextBox 16"/>
          <p:cNvSpPr txBox="1"/>
          <p:nvPr/>
        </p:nvSpPr>
        <p:spPr>
          <a:xfrm>
            <a:off x="868680" y="4169663"/>
            <a:ext cx="10515600" cy="530352"/>
          </a:xfrm>
          <a:prstGeom prst="rect">
            <a:avLst/>
          </a:prstGeom>
          <a:noFill/>
        </p:spPr>
        <p:txBody>
          <a:bodyPr wrap="square" anchor="t">
            <a:spAutoFit/>
          </a:bodyPr>
          <a:lstStyle/>
          <a:p>
            <a:pPr algn="l">
              <a:defRPr sz="1100" b="0">
                <a:solidFill>
                  <a:srgbClr val="64748B"/>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8" name="Rounded Rectangle 17"/>
          <p:cNvSpPr/>
          <p:nvPr/>
        </p:nvSpPr>
        <p:spPr>
          <a:xfrm>
            <a:off x="548640" y="4837176"/>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837176"/>
            <a:ext cx="91440"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65192"/>
            <a:ext cx="10515600" cy="274320"/>
          </a:xfrm>
          <a:prstGeom prst="rect">
            <a:avLst/>
          </a:prstGeom>
          <a:noFill/>
        </p:spPr>
        <p:txBody>
          <a:bodyPr wrap="square" anchor="t">
            <a:spAutoFit/>
          </a:bodyPr>
          <a:lstStyle/>
          <a:p>
            <a:pPr algn="l">
              <a:defRPr sz="1350" b="1">
                <a:solidFill>
                  <a:srgbClr val="0F172A"/>
                </a:solidFill>
                <a:latin typeface="Avenir Next"/>
              </a:defRPr>
            </a:pPr>
            <a:r>
              <a:t>Performance targeting: baseline first, tuning after.</a:t>
            </a:r>
          </a:p>
        </p:txBody>
      </p:sp>
      <p:sp>
        <p:nvSpPr>
          <p:cNvPr id="21" name="TextBox 20"/>
          <p:cNvSpPr txBox="1"/>
          <p:nvPr/>
        </p:nvSpPr>
        <p:spPr>
          <a:xfrm>
            <a:off x="868680" y="5248656"/>
            <a:ext cx="10515600" cy="530352"/>
          </a:xfrm>
          <a:prstGeom prst="rect">
            <a:avLst/>
          </a:prstGeom>
          <a:noFill/>
        </p:spPr>
        <p:txBody>
          <a:bodyPr wrap="square" anchor="t">
            <a:spAutoFit/>
          </a:bodyPr>
          <a:lstStyle/>
          <a:p>
            <a:pPr algn="l">
              <a:defRPr sz="1100" b="0">
                <a:solidFill>
                  <a:srgbClr val="64748B"/>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
        <p:nvSpPr>
          <p:cNvPr id="22" name="TextBox 21"/>
          <p:cNvSpPr txBox="1"/>
          <p:nvPr/>
        </p:nvSpPr>
        <p:spPr>
          <a:xfrm>
            <a:off x="548640" y="6263640"/>
            <a:ext cx="11064240" cy="365760"/>
          </a:xfrm>
          <a:prstGeom prst="rect">
            <a:avLst/>
          </a:prstGeom>
          <a:noFill/>
        </p:spPr>
        <p:txBody>
          <a:bodyPr wrap="square" anchor="t">
            <a:spAutoFit/>
          </a:bodyPr>
          <a:lstStyle/>
          <a:p>
            <a:pPr algn="l">
              <a:defRPr sz="1100" b="0">
                <a:solidFill>
                  <a:srgbClr val="64748B"/>
                </a:solidFill>
                <a:latin typeface="Avenir Next"/>
              </a:defRPr>
            </a:pPr>
            <a:r>
              <a:t>Per-package placement and the full reasoning: docs/package_placement_map_v1.html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each lane exposes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89888"/>
            <a:ext cx="11064240" cy="274320"/>
          </a:xfrm>
          <a:prstGeom prst="rect">
            <a:avLst/>
          </a:prstGeom>
          <a:noFill/>
        </p:spPr>
        <p:txBody>
          <a:bodyPr wrap="square" anchor="t">
            <a:spAutoFit/>
          </a:bodyPr>
          <a:lstStyle/>
          <a:p>
            <a:pPr algn="ctr">
              <a:defRPr sz="1150" b="1">
                <a:solidFill>
                  <a:srgbClr val="64748B"/>
                </a:solidFill>
                <a:latin typeface="Avenir Next"/>
              </a:defRPr>
            </a:pPr>
            <a:r>
              <a:t>CHOOSE EXACTLY ONE LANE</a:t>
            </a:r>
          </a:p>
        </p:txBody>
      </p:sp>
      <p:sp>
        <p:nvSpPr>
          <p:cNvPr id="7" name="Rounded Rectangle 6"/>
          <p:cNvSpPr/>
          <p:nvPr/>
        </p:nvSpPr>
        <p:spPr>
          <a:xfrm>
            <a:off x="548640" y="1719072"/>
            <a:ext cx="3611880" cy="13258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8" name="Rounded Rectangle 7"/>
          <p:cNvSpPr/>
          <p:nvPr/>
        </p:nvSpPr>
        <p:spPr>
          <a:xfrm>
            <a:off x="4370831" y="1719072"/>
            <a:ext cx="3611880" cy="13258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9" name="Rounded Rectangle 8"/>
          <p:cNvSpPr/>
          <p:nvPr/>
        </p:nvSpPr>
        <p:spPr>
          <a:xfrm>
            <a:off x="8193023" y="1719072"/>
            <a:ext cx="3611880" cy="13258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10" name="Rounded Rectangle 9"/>
          <p:cNvSpPr/>
          <p:nvPr/>
        </p:nvSpPr>
        <p:spPr>
          <a:xfrm>
            <a:off x="548640" y="3200400"/>
            <a:ext cx="11091672" cy="64008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Common compiler-dependent packages: loadable from every lane</a:t>
            </a:r>
          </a:p>
          <a:p>
            <a:pPr algn="ctr">
              <a:defRPr sz="1050" b="0">
                <a:solidFill>
                  <a:srgbClr val="FFFFFF"/>
                </a:solidFill>
                <a:latin typeface="Avenir Next"/>
              </a:defRPr>
            </a:pPr>
            <a:r>
              <a:t>openblas · gnuplot · one Serial-lane build, one install, shared module root</a:t>
            </a:r>
          </a:p>
        </p:txBody>
      </p:sp>
      <p:sp>
        <p:nvSpPr>
          <p:cNvPr id="11" name="Rounded Rectangle 10"/>
          <p:cNvSpPr/>
          <p:nvPr/>
        </p:nvSpPr>
        <p:spPr>
          <a:xfrm>
            <a:off x="548640" y="3959352"/>
            <a:ext cx="11091672"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2" name="Rounded Rectangle 11"/>
          <p:cNvSpPr/>
          <p:nvPr/>
        </p:nvSpPr>
        <p:spPr>
          <a:xfrm>
            <a:off x="548640" y="4718304"/>
            <a:ext cx="11091672" cy="6400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3" name="Rounded Rectangle 12"/>
          <p:cNvSpPr/>
          <p:nvPr/>
        </p:nvSpPr>
        <p:spPr>
          <a:xfrm>
            <a:off x="548640" y="5504688"/>
            <a:ext cx="11091672" cy="54864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cse/&lt;Compiler&gt; surface: everything above sits on one compiler</a:t>
            </a:r>
          </a:p>
          <a:p>
            <a:pPr algn="ctr">
              <a:defRPr sz="1050" b="0">
                <a:solidFill>
                  <a:srgbClr val="64748B"/>
                </a:solidFill>
                <a:latin typeface="Avenir Next"/>
              </a:defRPr>
            </a:pPr>
            <a:r>
              <a:t>lanes never mix compilers; loading a second lane fails loudly</a:t>
            </a:r>
          </a:p>
        </p:txBody>
      </p:sp>
      <p:sp>
        <p:nvSpPr>
          <p:cNvPr id="14" name="TextBox 13"/>
          <p:cNvSpPr txBox="1"/>
          <p:nvPr/>
        </p:nvSpPr>
        <p:spPr>
          <a:xfrm>
            <a:off x="548640" y="6199632"/>
            <a:ext cx="11064240" cy="457200"/>
          </a:xfrm>
          <a:prstGeom prst="rect">
            <a:avLst/>
          </a:prstGeom>
          <a:noFill/>
        </p:spPr>
        <p:txBody>
          <a:bodyPr wrap="square" anchor="t">
            <a:spAutoFit/>
          </a:bodyPr>
          <a:lstStyle/>
          <a:p>
            <a:pPr algn="l">
              <a:defRPr sz="1150" b="0">
                <a:solidFill>
                  <a:srgbClr val="64748B"/>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Core and foundation: built once per compiler surface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422452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475569"/>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zlib</a:t>
                      </a:r>
                    </a:p>
                  </a:txBody>
                  <a:tcPr marL="109728" marR="73152" marT="13716" marB="13716" anchor="ctr">
                    <a:solidFill>
                      <a:srgbClr val="FFFFFF"/>
                    </a:solidFill>
                  </a:tcPr>
                </a:tc>
                <a:tc>
                  <a:txBody>
                    <a:bodyPr/>
                    <a:lstStyle/>
                    <a:p>
                      <a:pPr>
                        <a:defRPr sz="1100" b="0">
                          <a:solidFill>
                            <a:srgbClr val="334155"/>
                          </a:solidFill>
                          <a:latin typeface="Avenir Next"/>
                        </a:defRPr>
                      </a:pPr>
                      <a:r>
                        <a:t>1.3.1</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xz</a:t>
                      </a:r>
                    </a:p>
                  </a:txBody>
                  <a:tcPr marL="109728" marR="73152" marT="13716" marB="13716" anchor="ctr">
                    <a:solidFill>
                      <a:srgbClr val="FFFFFF"/>
                    </a:solidFill>
                  </a:tcPr>
                </a:tc>
                <a:tc>
                  <a:txBody>
                    <a:bodyPr/>
                    <a:lstStyle/>
                    <a:p>
                      <a:pPr>
                        <a:defRPr sz="1100" b="0">
                          <a:solidFill>
                            <a:srgbClr val="334155"/>
                          </a:solidFill>
                          <a:latin typeface="Avenir Next"/>
                        </a:defRPr>
                      </a:pPr>
                      <a:r>
                        <a:t>5.4.6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zstd</a:t>
                      </a:r>
                    </a:p>
                  </a:txBody>
                  <a:tcPr marL="109728" marR="73152" marT="13716" marB="13716" anchor="ctr">
                    <a:solidFill>
                      <a:srgbClr val="FFFFFF"/>
                    </a:solidFill>
                  </a:tcPr>
                </a:tc>
                <a:tc>
                  <a:txBody>
                    <a:bodyPr/>
                    <a:lstStyle/>
                    <a:p>
                      <a:pPr>
                        <a:defRPr sz="1100" b="0">
                          <a:solidFill>
                            <a:srgbClr val="334155"/>
                          </a:solidFill>
                          <a:latin typeface="Avenir Next"/>
                        </a:defRPr>
                      </a:pPr>
                      <a:r>
                        <a:t>1.5.6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cmake</a:t>
                      </a:r>
                    </a:p>
                  </a:txBody>
                  <a:tcPr marL="109728" marR="73152" marT="13716" marB="13716" anchor="ctr">
                    <a:solidFill>
                      <a:srgbClr val="FFFFFF"/>
                    </a:solidFill>
                  </a:tcPr>
                </a:tc>
                <a:tc>
                  <a:txBody>
                    <a:bodyPr/>
                    <a:lstStyle/>
                    <a:p>
                      <a:pPr>
                        <a:defRPr sz="1100" b="0">
                          <a:solidFill>
                            <a:srgbClr val="334155"/>
                          </a:solidFill>
                          <a:latin typeface="Avenir Next"/>
                        </a:defRPr>
                      </a:pPr>
                      <a:r>
                        <a:t>4.3.3 · 4.2.3</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34155"/>
                          </a:solidFill>
                          <a:latin typeface="Avenir Next"/>
                        </a:defRPr>
                      </a:pPr>
                      <a:r>
                        <a:t>newest</a:t>
                      </a:r>
                    </a:p>
                  </a:txBody>
                  <a:tcPr marL="109728" marR="73152" marT="13716" marB="13716" anchor="ctr">
                    <a:solidFill>
                      <a:srgbClr val="FFFFFF"/>
                    </a:solidFill>
                  </a:tcPr>
                </a:tc>
                <a:tc>
                  <a:txBody>
                    <a:bodyPr/>
                    <a:lstStyle/>
                    <a:p>
                      <a:pPr>
                        <a:defRPr sz="1050" b="0">
                          <a:solidFill>
                            <a:srgbClr val="64748B"/>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python</a:t>
                      </a:r>
                    </a:p>
                  </a:txBody>
                  <a:tcPr marL="109728" marR="73152" marT="13716" marB="13716" anchor="ctr">
                    <a:solidFill>
                      <a:srgbClr val="FFFFFF"/>
                    </a:solidFill>
                  </a:tcPr>
                </a:tc>
                <a:tc>
                  <a:txBody>
                    <a:bodyPr/>
                    <a:lstStyle/>
                    <a:p>
                      <a:pPr>
                        <a:defRPr sz="1100" b="0">
                          <a:solidFill>
                            <a:srgbClr val="334155"/>
                          </a:solidFill>
                          <a:latin typeface="Avenir Next"/>
                        </a:defRPr>
                      </a:pPr>
                      <a:r>
                        <a:t>3.14.5 · 3.13.13</a:t>
                      </a:r>
                    </a:p>
                  </a:txBody>
                  <a:tcPr marL="109728" marR="73152" marT="13716" marB="13716" anchor="ctr">
                    <a:solidFill>
                      <a:srgbClr val="FFFFFF"/>
                    </a:solidFill>
                  </a:tcPr>
                </a:tc>
                <a:tc>
                  <a:txBody>
                    <a:bodyPr/>
                    <a:lstStyle/>
                    <a:p>
                      <a:pPr>
                        <a:defRPr sz="1050" b="0">
                          <a:solidFill>
                            <a:srgbClr val="64748B"/>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py-numpy</a:t>
                      </a:r>
                    </a:p>
                  </a:txBody>
                  <a:tcPr marL="109728" marR="73152" marT="13716" marB="13716" anchor="ctr">
                    <a:solidFill>
                      <a:srgbClr val="FFFFFF"/>
                    </a:solidFill>
                  </a:tcPr>
                </a:tc>
                <a:tc>
                  <a:txBody>
                    <a:bodyPr/>
                    <a:lstStyle/>
                    <a:p>
                      <a:pPr>
                        <a:defRPr sz="1100" b="0">
                          <a:solidFill>
                            <a:srgbClr val="334155"/>
                          </a:solidFill>
                          <a:latin typeface="Avenir Next"/>
                        </a:defRPr>
                      </a:pPr>
                      <a:r>
                        <a:t>2.4.6</a:t>
                      </a:r>
                    </a:p>
                  </a:txBody>
                  <a:tcPr marL="109728" marR="73152" marT="13716" marB="13716" anchor="ctr">
                    <a:solidFill>
                      <a:srgbClr val="FFFFFF"/>
                    </a:solidFill>
                  </a:tcPr>
                </a:tc>
                <a:tc>
                  <a:txBody>
                    <a:bodyPr/>
                    <a:lstStyle/>
                    <a:p>
                      <a:pPr>
                        <a:defRPr sz="1050" b="0">
                          <a:solidFill>
                            <a:srgbClr val="64748B"/>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miniforge3</a:t>
                      </a:r>
                    </a:p>
                  </a:txBody>
                  <a:tcPr marL="109728" marR="73152" marT="13716" marB="13716" anchor="ctr">
                    <a:solidFill>
                      <a:srgbClr val="FFFFFF"/>
                    </a:solidFill>
                  </a:tcPr>
                </a:tc>
                <a:tc>
                  <a:txBody>
                    <a:bodyPr/>
                    <a:lstStyle/>
                    <a:p>
                      <a:pPr>
                        <a:defRPr sz="1100" b="0">
                          <a:solidFill>
                            <a:srgbClr val="334155"/>
                          </a:solidFill>
                          <a:latin typeface="Avenir Next"/>
                        </a:defRPr>
                      </a:pPr>
                      <a:r>
                        <a:t>26.1.1-3</a:t>
                      </a:r>
                    </a:p>
                  </a:txBody>
                  <a:tcPr marL="109728" marR="73152" marT="13716" marB="13716" anchor="ctr">
                    <a:solidFill>
                      <a:srgbClr val="FFFFFF"/>
                    </a:solidFill>
                  </a:tcPr>
                </a:tc>
                <a:tc>
                  <a:txBody>
                    <a:bodyPr/>
                    <a:lstStyle/>
                    <a:p>
                      <a:pPr>
                        <a:defRPr sz="1050" b="0">
                          <a:solidFill>
                            <a:srgbClr val="64748B"/>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gsl</a:t>
                      </a:r>
                    </a:p>
                  </a:txBody>
                  <a:tcPr marL="109728" marR="73152" marT="13716" marB="13716" anchor="ctr">
                    <a:solidFill>
                      <a:srgbClr val="FFFFFF"/>
                    </a:solidFill>
                  </a:tcPr>
                </a:tc>
                <a:tc>
                  <a:txBody>
                    <a:bodyPr/>
                    <a:lstStyle/>
                    <a:p>
                      <a:pPr>
                        <a:defRPr sz="1100" b="0">
                          <a:solidFill>
                            <a:srgbClr val="334155"/>
                          </a:solidFill>
                          <a:latin typeface="Avenir Next"/>
                        </a:defRPr>
                      </a:pPr>
                      <a:r>
                        <a:t>2.8 · 2.7.1</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sqlite</a:t>
                      </a:r>
                    </a:p>
                  </a:txBody>
                  <a:tcPr marL="109728" marR="73152" marT="13716" marB="13716" anchor="ctr">
                    <a:solidFill>
                      <a:srgbClr val="FFFFFF"/>
                    </a:solidFill>
                  </a:tcPr>
                </a:tc>
                <a:tc>
                  <a:txBody>
                    <a:bodyPr/>
                    <a:lstStyle/>
                    <a:p>
                      <a:pPr>
                        <a:defRPr sz="1100" b="0">
                          <a:solidFill>
                            <a:srgbClr val="334155"/>
                          </a:solidFill>
                          <a:latin typeface="Avenir Next"/>
                        </a:defRPr>
                      </a:pPr>
                      <a:r>
                        <a:t>3.53.1 · 3.51.2</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newest supported + immediate predecessor · pinned to spack-packages v2026.06.0 (Spack v1.1.1)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Serial lane: MPI-capable, deliberately built without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362102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here; the MPI lane carries its own +mpi build</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Common compiler-dependent: built here once, available in every lane</a:t>
                      </a:r>
                    </a:p>
                  </a:txBody>
                  <a:tcPr marL="109728" marR="73152" marT="13716" marB="13716" anchor="ctr">
                    <a:solidFill>
                      <a:srgbClr val="15803D"/>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openblas</a:t>
                      </a:r>
                    </a:p>
                  </a:txBody>
                  <a:tcPr marL="109728" marR="73152" marT="13716" marB="13716" anchor="ctr">
                    <a:solidFill>
                      <a:srgbClr val="FFFFFF"/>
                    </a:solidFill>
                  </a:tcPr>
                </a:tc>
                <a:tc>
                  <a:txBody>
                    <a:bodyPr/>
                    <a:lstStyle/>
                    <a:p>
                      <a:pPr>
                        <a:defRPr sz="1100" b="0">
                          <a:solidFill>
                            <a:srgbClr val="334155"/>
                          </a:solidFill>
                          <a:latin typeface="Avenir Next"/>
                        </a:defRPr>
                      </a:pPr>
                      <a:r>
                        <a:t>0.3.33 · 0.3.32</a:t>
                      </a:r>
                    </a:p>
                  </a:txBody>
                  <a:tcPr marL="109728" marR="73152" marT="13716" marB="13716" anchor="ctr">
                    <a:solidFill>
                      <a:srgbClr val="FFFFFF"/>
                    </a:solidFill>
                  </a:tcPr>
                </a:tc>
                <a:tc>
                  <a:txBody>
                    <a:bodyPr/>
                    <a:lstStyle/>
                    <a:p>
                      <a:pPr>
                        <a:defRPr sz="1050" b="0">
                          <a:solidFill>
                            <a:srgbClr val="64748B"/>
                          </a:solidFill>
                          <a:latin typeface="Avenir Next"/>
                        </a:defRPr>
                      </a:pPr>
                      <a:r>
                        <a:t>the one BLAS and LAPACK: openblas provides both APIs. Payload rather than core: performance-sensitive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gnuplot</a:t>
                      </a:r>
                    </a:p>
                  </a:txBody>
                  <a:tcPr marL="109728" marR="73152" marT="13716" marB="13716" anchor="ctr">
                    <a:solidFill>
                      <a:srgbClr val="FFFFFF"/>
                    </a:solidFill>
                  </a:tcPr>
                </a:tc>
                <a:tc>
                  <a:txBody>
                    <a:bodyPr/>
                    <a:lstStyle/>
                    <a:p>
                      <a:pPr>
                        <a:defRPr sz="1100" b="0">
                          <a:solidFill>
                            <a:srgbClr val="334155"/>
                          </a:solidFill>
                          <a:latin typeface="Avenir Next"/>
                        </a:defRPr>
                      </a:pPr>
                      <a:r>
                        <a:t>6.0.0 · 5.4.10</a:t>
                      </a:r>
                    </a:p>
                  </a:txBody>
                  <a:tcPr marL="109728" marR="73152" marT="13716" marB="13716" anchor="ctr">
                    <a:solidFill>
                      <a:srgbClr val="FFFFFF"/>
                    </a:solidFill>
                  </a:tcPr>
                </a:tc>
                <a:tc>
                  <a:txBody>
                    <a:bodyPr/>
                    <a:lstStyle/>
                    <a:p>
                      <a:pPr>
                        <a:defRPr sz="1050" b="0">
                          <a:solidFill>
                            <a:srgbClr val="64748B"/>
                          </a:solidFill>
                          <a:latin typeface="Avenir Next"/>
                        </a:defRPr>
                      </a:pPr>
                      <a:r>
                        <a:t>needs the surface's compiler, so payload rather than core</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newest supported + immediate predecessor · pinned to spack-packages v2026.06.0 (Spack v1.1.1)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MPI and GPU lanes: built against the system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5125212"/>
        </p:xfrm>
        <a:graphic>
          <a:graphicData uri="http://schemas.openxmlformats.org/drawingml/2006/table">
            <a:tbl>
              <a:tblPr>
                <a:tableStyleId>{5C22544A-7EE6-4342-B048-85BDC9FD1C3A}</a:tableStyleId>
              </a:tblPr>
              <a:tblGrid>
                <a:gridCol w="1920240"/>
                <a:gridCol w="2286000"/>
                <a:gridCol w="6885432"/>
              </a:tblGrid>
              <a:tr h="269748">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563EB"/>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+parallel-netcdf, paired to hdf5 2.1.0 / 1.14.6</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MPI math and tools</a:t>
                      </a:r>
                    </a:p>
                  </a:txBody>
                  <a:tcPr marL="109728" marR="73152" marT="13716" marB="13716" anchor="ctr">
                    <a:solidFill>
                      <a:srgbClr val="2563EB"/>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the Serial lane carries its own ~mpi build</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netlib-scalapack</a:t>
                      </a:r>
                    </a:p>
                  </a:txBody>
                  <a:tcPr marL="109728" marR="73152" marT="13716" marB="13716" anchor="ctr">
                    <a:solidFill>
                      <a:srgbClr val="FFFFFF"/>
                    </a:solidFill>
                  </a:tcPr>
                </a:tc>
                <a:tc>
                  <a:txBody>
                    <a:bodyPr/>
                    <a:lstStyle/>
                    <a:p>
                      <a:pPr>
                        <a:defRPr sz="1100" b="0">
                          <a:solidFill>
                            <a:srgbClr val="334155"/>
                          </a:solidFill>
                          <a:latin typeface="Avenir Next"/>
                        </a:defRPr>
                      </a:pPr>
                      <a:r>
                        <a:t>2.2.3 · 2.2.2</a:t>
                      </a:r>
                    </a:p>
                  </a:txBody>
                  <a:tcPr marL="109728" marR="73152" marT="13716" marB="13716" anchor="ctr">
                    <a:solidFill>
                      <a:srgbClr val="FFFFFF"/>
                    </a:solidFill>
                  </a:tcPr>
                </a:tc>
                <a:tc>
                  <a:txBody>
                    <a:bodyPr/>
                    <a:lstStyle/>
                    <a:p>
                      <a:pPr>
                        <a:defRPr sz="1050" b="0">
                          <a:solidFill>
                            <a:srgbClr val="64748B"/>
                          </a:solidFill>
                          <a:latin typeface="Avenir Next"/>
                        </a:defRPr>
                      </a:pPr>
                      <a:r>
                        <a:t>distributed dense solvers; MPI by nature, no serial form</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one version, a tool users run</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dakota</a:t>
                      </a:r>
                    </a:p>
                  </a:txBody>
                  <a:tcPr marL="109728" marR="73152" marT="13716" marB="13716" anchor="ctr">
                    <a:solidFill>
                      <a:srgbClr val="FFFFFF"/>
                    </a:solidFill>
                  </a:tcPr>
                </a:tc>
                <a:tc>
                  <a:txBody>
                    <a:bodyPr/>
                    <a:lstStyle/>
                    <a:p>
                      <a:pPr>
                        <a:defRPr sz="1100" b="0">
                          <a:solidFill>
                            <a:srgbClr val="334155"/>
                          </a:solidFill>
                          <a:latin typeface="Avenir Next"/>
                        </a:defRPr>
                      </a:pPr>
                      <a:r>
                        <a:t>6.24.0 · 6.23.0</a:t>
                      </a:r>
                    </a:p>
                  </a:txBody>
                  <a:tcPr marL="109728" marR="73152" marT="13716" marB="13716" anchor="ctr">
                    <a:solidFill>
                      <a:srgbClr val="FFFFFF"/>
                    </a:solidFill>
                  </a:tcPr>
                </a:tc>
                <a:tc>
                  <a:txBody>
                    <a:bodyPr/>
                    <a:lstStyle/>
                    <a:p>
                      <a:pPr>
                        <a:defRPr sz="1050" b="0">
                          <a:solidFill>
                            <a:srgbClr val="64748B"/>
                          </a:solidFill>
                          <a:latin typeface="Avenir Next"/>
                        </a:defRPr>
                      </a:pPr>
                      <a:r>
                        <a:t>+mpi; heaviest build in the roster</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7C3AED"/>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+gpu_runtime: its own build, so it can see kernels as well as MPI</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kokkos</a:t>
                      </a:r>
                    </a:p>
                  </a:txBody>
                  <a:tcPr marL="109728" marR="73152" marT="13716" marB="13716" anchor="ctr">
                    <a:solidFill>
                      <a:srgbClr val="FFFFFF"/>
                    </a:solidFill>
                  </a:tcPr>
                </a:tc>
                <a:tc>
                  <a:txBody>
                    <a:bodyPr/>
                    <a:lstStyle/>
                    <a:p>
                      <a:pPr>
                        <a:defRPr sz="1100" b="0">
                          <a:solidFill>
                            <a:srgbClr val="334155"/>
                          </a:solidFill>
                          <a:latin typeface="Avenir Next"/>
                        </a:defRPr>
                      </a:pPr>
                      <a:r>
                        <a:t>5.1.1 · 5.1.0</a:t>
                      </a:r>
                    </a:p>
                  </a:txBody>
                  <a:tcPr marL="109728" marR="73152" marT="13716" marB="13716" anchor="ctr">
                    <a:solidFill>
                      <a:srgbClr val="FFFFFF"/>
                    </a:solidFill>
                  </a:tcPr>
                </a:tc>
                <a:tc>
                  <a:txBody>
                    <a:bodyPr/>
                    <a:lstStyle/>
                    <a:p>
                      <a:pPr>
                        <a:defRPr sz="1050" b="0">
                          <a:solidFill>
                            <a:srgbClr val="64748B"/>
                          </a:solidFill>
                          <a:latin typeface="Avenir Next"/>
                        </a:defRPr>
                      </a:pPr>
                      <a:r>
                        <a:t>+gpu → expands per lane: +rocm amdgpu_target=&lt;arch&gt; or +cuda cuda_arch=&lt;n&gt;</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Common compiler-dependent: the Serial-lane build, available here too</a:t>
                      </a:r>
                    </a:p>
                  </a:txBody>
                  <a:tcPr marL="109728" marR="73152" marT="13716" marB="13716" anchor="ctr">
                    <a:solidFill>
                      <a:srgbClr val="15803D"/>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common packages</a:t>
                      </a:r>
                    </a:p>
                  </a:txBody>
                  <a:tcPr marL="109728" marR="73152" marT="13716" marB="13716" anchor="ctr">
                    <a:solidFill>
                      <a:srgbClr val="FFFFFF"/>
                    </a:solidFill>
                  </a:tcPr>
                </a:tc>
                <a:tc>
                  <a:txBody>
                    <a:bodyPr/>
                    <a:lstStyle/>
                    <a:p>
                      <a:pPr>
                        <a:defRPr sz="1100" b="0">
                          <a:solidFill>
                            <a:srgbClr val="334155"/>
                          </a:solidFill>
                          <a:latin typeface="Avenir Next"/>
                        </a:defRPr>
                      </a:pPr>
                      <a:r>
                        <a:t>see Serial</a:t>
                      </a:r>
                    </a:p>
                  </a:txBody>
                  <a:tcPr marL="109728" marR="73152" marT="13716" marB="13716" anchor="ctr">
                    <a:solidFill>
                      <a:srgbClr val="FFFFFF"/>
                    </a:solidFill>
                  </a:tcPr>
                </a:tc>
                <a:tc>
                  <a:txBody>
                    <a:bodyPr/>
                    <a:lstStyle/>
                    <a:p>
                      <a:pPr>
                        <a:defRPr sz="1050" b="0">
                          <a:solidFill>
                            <a:srgbClr val="64748B"/>
                          </a:solidFill>
                          <a:latin typeface="Avenir Next"/>
                        </a:defRPr>
                      </a:pPr>
                      <a:r>
                        <a:t>openblas · gnuplot: the same modules through the shared root, nothing rebuilt</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475569"/>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externals</a:t>
                      </a:r>
                    </a:p>
                  </a:txBody>
                  <a:tcPr marL="109728" marR="73152" marT="13716" marB="13716" anchor="ctr">
                    <a:solidFill>
                      <a:srgbClr val="FFFFFF"/>
                    </a:solidFill>
                  </a:tcPr>
                </a:tc>
                <a:tc>
                  <a:txBody>
                    <a:bodyPr/>
                    <a:lstStyle/>
                    <a:p>
                      <a:pPr>
                        <a:defRPr sz="1100" b="0">
                          <a:solidFill>
                            <a:srgbClr val="334155"/>
                          </a:solidFill>
                          <a:latin typeface="Avenir Next"/>
                        </a:defRPr>
                      </a:pPr>
                      <a:r>
                        <a:t>system</a:t>
                      </a:r>
                    </a:p>
                  </a:txBody>
                  <a:tcPr marL="109728" marR="73152" marT="13716" marB="13716" anchor="ctr">
                    <a:solidFill>
                      <a:srgbClr val="FFFFFF"/>
                    </a:solidFill>
                  </a:tcPr>
                </a:tc>
                <a:tc>
                  <a:txBody>
                    <a:bodyPr/>
                    <a:lstStyle/>
                    <a:p>
                      <a:pPr>
                        <a:defRPr sz="1050" b="0">
                          <a:solidFill>
                            <a:srgbClr val="64748B"/>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newest supported + immediate predecessor · pinned to spack-packages v2026.06.0 (Spack v1.1.1)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
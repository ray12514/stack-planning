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are reachable from every lane.</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Two classes: non-MPI builds of MPI-capable packages, and common compiler-dependent packages that every lane can load.</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fftw~mpi  |  openblas · gnuplot</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Source: HPC Centers hardware inventory,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THE PLAN FROM HERE</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happens next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566928" cy="105156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1</a:t>
            </a:r>
          </a:p>
        </p:txBody>
      </p:sp>
      <p:sp>
        <p:nvSpPr>
          <p:cNvPr id="8" name="TextBox 7"/>
          <p:cNvSpPr txBox="1"/>
          <p:nvPr/>
        </p:nvSpPr>
        <p:spPr>
          <a:xfrm>
            <a:off x="1325880" y="1810512"/>
            <a:ext cx="10058400" cy="310896"/>
          </a:xfrm>
          <a:prstGeom prst="rect">
            <a:avLst/>
          </a:prstGeom>
          <a:noFill/>
        </p:spPr>
        <p:txBody>
          <a:bodyPr wrap="square" anchor="t">
            <a:spAutoFit/>
          </a:bodyPr>
          <a:lstStyle/>
          <a:p>
            <a:pPr algn="l">
              <a:defRPr sz="1550" b="1">
                <a:solidFill>
                  <a:srgbClr val="0F172A"/>
                </a:solidFill>
                <a:latin typeface="Avenir Next"/>
              </a:defRPr>
            </a:pPr>
            <a:r>
              <a:t>Build the pilot stack on the four systems</a:t>
            </a:r>
          </a:p>
        </p:txBody>
      </p:sp>
      <p:sp>
        <p:nvSpPr>
          <p:cNvPr id="9" name="TextBox 8"/>
          <p:cNvSpPr txBox="1"/>
          <p:nvPr/>
        </p:nvSpPr>
        <p:spPr>
          <a:xfrm>
            <a:off x="1325880" y="2176272"/>
            <a:ext cx="10058400" cy="420624"/>
          </a:xfrm>
          <a:prstGeom prst="rect">
            <a:avLst/>
          </a:prstGeom>
          <a:noFill/>
        </p:spPr>
        <p:txBody>
          <a:bodyPr wrap="square" anchor="t">
            <a:spAutoFit/>
          </a:bodyPr>
          <a:lstStyle/>
          <a:p>
            <a:pPr algn="l">
              <a:defRPr sz="1150" b="0">
                <a:solidFill>
                  <a:srgbClr val="64748B"/>
                </a:solidFill>
                <a:latin typeface="Avenir Next"/>
              </a:defRPr>
            </a:pPr>
            <a:r>
              <a:t>Probe each machine, render its lanes, concretize, install. The front door is the first real test of the naming: one compiler surface, then one lane, then a package.</a:t>
            </a:r>
          </a:p>
        </p:txBody>
      </p:sp>
      <p:sp>
        <p:nvSpPr>
          <p:cNvPr id="10" name="Rounded Rectangle 9"/>
          <p:cNvSpPr/>
          <p:nvPr/>
        </p:nvSpPr>
        <p:spPr>
          <a:xfrm>
            <a:off x="548640" y="2852928"/>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852928"/>
            <a:ext cx="566928" cy="1051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2</a:t>
            </a:r>
          </a:p>
        </p:txBody>
      </p:sp>
      <p:sp>
        <p:nvSpPr>
          <p:cNvPr id="12" name="TextBox 11"/>
          <p:cNvSpPr txBox="1"/>
          <p:nvPr/>
        </p:nvSpPr>
        <p:spPr>
          <a:xfrm>
            <a:off x="1325880" y="3017520"/>
            <a:ext cx="10058400" cy="310896"/>
          </a:xfrm>
          <a:prstGeom prst="rect">
            <a:avLst/>
          </a:prstGeom>
          <a:noFill/>
        </p:spPr>
        <p:txBody>
          <a:bodyPr wrap="square" anchor="t">
            <a:spAutoFit/>
          </a:bodyPr>
          <a:lstStyle/>
          <a:p>
            <a:pPr algn="l">
              <a:defRPr sz="1550" b="1">
                <a:solidFill>
                  <a:srgbClr val="0F172A"/>
                </a:solidFill>
                <a:latin typeface="Avenir Next"/>
              </a:defRPr>
            </a:pPr>
            <a:r>
              <a:t>Prove the module contract</a:t>
            </a:r>
          </a:p>
        </p:txBody>
      </p:sp>
      <p:sp>
        <p:nvSpPr>
          <p:cNvPr id="13" name="TextBox 12"/>
          <p:cNvSpPr txBox="1"/>
          <p:nvPr/>
        </p:nvSpPr>
        <p:spPr>
          <a:xfrm>
            <a:off x="1325880" y="3383280"/>
            <a:ext cx="10058400" cy="420624"/>
          </a:xfrm>
          <a:prstGeom prst="rect">
            <a:avLst/>
          </a:prstGeom>
          <a:noFill/>
        </p:spPr>
        <p:txBody>
          <a:bodyPr wrap="square" anchor="t">
            <a:spAutoFit/>
          </a:bodyPr>
          <a:lstStyle/>
          <a:p>
            <a:pPr algn="l">
              <a:defRPr sz="1150" b="0">
                <a:solidFill>
                  <a:srgbClr val="64748B"/>
                </a:solidFill>
                <a:latin typeface="Avenir Next"/>
              </a:defRPr>
            </a:pPr>
            <a:r>
              <a:t>Compatible chains load and incompatible mixes fail. Lane purity and version pairing are checked in the concretized lockfile, never assumed from the render.</a:t>
            </a:r>
          </a:p>
        </p:txBody>
      </p:sp>
      <p:sp>
        <p:nvSpPr>
          <p:cNvPr id="14" name="Rounded Rectangle 13"/>
          <p:cNvSpPr/>
          <p:nvPr/>
        </p:nvSpPr>
        <p:spPr>
          <a:xfrm>
            <a:off x="548640" y="4059936"/>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059936"/>
            <a:ext cx="566928" cy="105156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3</a:t>
            </a:r>
          </a:p>
        </p:txBody>
      </p:sp>
      <p:sp>
        <p:nvSpPr>
          <p:cNvPr id="16" name="TextBox 15"/>
          <p:cNvSpPr txBox="1"/>
          <p:nvPr/>
        </p:nvSpPr>
        <p:spPr>
          <a:xfrm>
            <a:off x="1325880" y="4224528"/>
            <a:ext cx="10058400" cy="310896"/>
          </a:xfrm>
          <a:prstGeom prst="rect">
            <a:avLst/>
          </a:prstGeom>
          <a:noFill/>
        </p:spPr>
        <p:txBody>
          <a:bodyPr wrap="square" anchor="t">
            <a:spAutoFit/>
          </a:bodyPr>
          <a:lstStyle/>
          <a:p>
            <a:pPr algn="l">
              <a:defRPr sz="1550" b="1">
                <a:solidFill>
                  <a:srgbClr val="0F172A"/>
                </a:solidFill>
                <a:latin typeface="Avenir Next"/>
              </a:defRPr>
            </a:pPr>
            <a:r>
              <a:t>Stand up the release process</a:t>
            </a:r>
          </a:p>
        </p:txBody>
      </p:sp>
      <p:sp>
        <p:nvSpPr>
          <p:cNvPr id="17" name="TextBox 16"/>
          <p:cNvSpPr txBox="1"/>
          <p:nvPr/>
        </p:nvSpPr>
        <p:spPr>
          <a:xfrm>
            <a:off x="1325880" y="4590288"/>
            <a:ext cx="10058400" cy="420624"/>
          </a:xfrm>
          <a:prstGeom prst="rect">
            <a:avLst/>
          </a:prstGeom>
          <a:noFill/>
        </p:spPr>
        <p:txBody>
          <a:bodyPr wrap="square" anchor="t">
            <a:spAutoFit/>
          </a:bodyPr>
          <a:lstStyle/>
          <a:p>
            <a:pPr algn="l">
              <a:defRPr sz="1150" b="0">
                <a:solidFill>
                  <a:srgbClr val="64748B"/>
                </a:solidFill>
                <a:latin typeface="Avenir Next"/>
              </a:defRPr>
            </a:pPr>
            <a:r>
              <a:t>Build caches, a lockfile per lane, and a release manifest, so a release can be rebuilt exactly, promoted deliberately, and rolled back by moving a pointer.</a:t>
            </a:r>
          </a:p>
        </p:txBody>
      </p:sp>
      <p:sp>
        <p:nvSpPr>
          <p:cNvPr id="18" name="Rounded Rectangle 17"/>
          <p:cNvSpPr/>
          <p:nvPr/>
        </p:nvSpPr>
        <p:spPr>
          <a:xfrm>
            <a:off x="548640" y="5266944"/>
            <a:ext cx="11091672" cy="1051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5266944"/>
            <a:ext cx="566928" cy="1051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900" b="1">
                <a:solidFill>
                  <a:srgbClr val="FFFFFF"/>
                </a:solidFill>
                <a:latin typeface="Avenir Next"/>
              </a:defRPr>
            </a:pPr>
            <a:r>
              <a:t>4</a:t>
            </a:r>
          </a:p>
        </p:txBody>
      </p:sp>
      <p:sp>
        <p:nvSpPr>
          <p:cNvPr id="20" name="TextBox 19"/>
          <p:cNvSpPr txBox="1"/>
          <p:nvPr/>
        </p:nvSpPr>
        <p:spPr>
          <a:xfrm>
            <a:off x="1325880" y="5431536"/>
            <a:ext cx="10058400" cy="310896"/>
          </a:xfrm>
          <a:prstGeom prst="rect">
            <a:avLst/>
          </a:prstGeom>
          <a:noFill/>
        </p:spPr>
        <p:txBody>
          <a:bodyPr wrap="square" anchor="t">
            <a:spAutoFit/>
          </a:bodyPr>
          <a:lstStyle/>
          <a:p>
            <a:pPr algn="l">
              <a:defRPr sz="1550" b="1">
                <a:solidFill>
                  <a:srgbClr val="0F172A"/>
                </a:solidFill>
                <a:latin typeface="Avenir Next"/>
              </a:defRPr>
            </a:pPr>
            <a:r>
              <a:t>Settle the open decisions</a:t>
            </a:r>
          </a:p>
        </p:txBody>
      </p:sp>
      <p:sp>
        <p:nvSpPr>
          <p:cNvPr id="21" name="TextBox 20"/>
          <p:cNvSpPr txBox="1"/>
          <p:nvPr/>
        </p:nvSpPr>
        <p:spPr>
          <a:xfrm>
            <a:off x="1325880" y="5797296"/>
            <a:ext cx="10058400" cy="420624"/>
          </a:xfrm>
          <a:prstGeom prst="rect">
            <a:avLst/>
          </a:prstGeom>
          <a:noFill/>
        </p:spPr>
        <p:txBody>
          <a:bodyPr wrap="square" anchor="t">
            <a:spAutoFit/>
          </a:bodyPr>
          <a:lstStyle/>
          <a:p>
            <a:pPr algn="l">
              <a:defRPr sz="1150" b="0">
                <a:solidFill>
                  <a:srgbClr val="64748B"/>
                </a:solidFill>
                <a:latin typeface="Avenir Next"/>
              </a:defRPr>
            </a:pPr>
            <a:r>
              <a:t>Vendor math libraries, compiler surfaces, the Serial tier, and when performance targeting turns on. These shape the roster before it is fixed for v1.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875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11680"/>
            <a:ext cx="10515600" cy="530352"/>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87552"/>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Which compiler surfaces does the pilot carry?</a:t>
            </a:r>
          </a:p>
        </p:txBody>
      </p:sp>
      <p:sp>
        <p:nvSpPr>
          <p:cNvPr id="13" name="TextBox 12"/>
          <p:cNvSpPr txBox="1"/>
          <p:nvPr/>
        </p:nvSpPr>
        <p:spPr>
          <a:xfrm>
            <a:off x="868680" y="3090672"/>
            <a:ext cx="10515600" cy="530352"/>
          </a:xfrm>
          <a:prstGeom prst="rect">
            <a:avLst/>
          </a:prstGeom>
          <a:noFill/>
        </p:spPr>
        <p:txBody>
          <a:bodyPr wrap="square" anchor="t">
            <a:spAutoFit/>
          </a:bodyPr>
          <a:lstStyle/>
          <a:p>
            <a:pPr algn="l">
              <a:defRPr sz="1100" b="0">
                <a:solidFill>
                  <a:srgbClr val="64748B"/>
                </a:solidFill>
                <a:latin typeface="Avenir Next"/>
              </a:defRPr>
            </a:pPr>
            <a:r>
              <a:t>The pilot carries two per system: the one the machine blesses as its baseline, plus GCC as the portable reference. CSEinit offers GCC and Intel today, so whether Intel is one of the two on the systems that have it is the open part.</a:t>
            </a:r>
          </a:p>
        </p:txBody>
      </p:sp>
      <p:sp>
        <p:nvSpPr>
          <p:cNvPr id="14" name="Rounded Rectangle 13"/>
          <p:cNvSpPr/>
          <p:nvPr/>
        </p:nvSpPr>
        <p:spPr>
          <a:xfrm>
            <a:off x="548640" y="3758183"/>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8755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69663"/>
            <a:ext cx="10515600" cy="530352"/>
          </a:xfrm>
          <a:prstGeom prst="rect">
            <a:avLst/>
          </a:prstGeom>
          <a:noFill/>
        </p:spPr>
        <p:txBody>
          <a:bodyPr wrap="square" anchor="t">
            <a:spAutoFit/>
          </a:bodyPr>
          <a:lstStyle/>
          <a:p>
            <a:pPr algn="l">
              <a:defRPr sz="1100" b="0">
                <a:solidFill>
                  <a:srgbClr val="64748B"/>
                </a:solidFill>
                <a:latin typeface="Avenir Next"/>
              </a:defRPr>
            </a:pPr>
            <a:r>
              <a:t>Serial exists so users who are not running parallel do not carry the MPI runtime: analysis and post-processing on a login node, small tools, anything linking HDF5 or NetCDF without wanting libmpi behind it. An MPI build on one rank does the same work, so dropping Serial would halve the build matrix and push the MPI runtime onto everyone.</a:t>
            </a:r>
          </a:p>
        </p:txBody>
      </p:sp>
      <p:sp>
        <p:nvSpPr>
          <p:cNvPr id="18" name="Rounded Rectangle 17"/>
          <p:cNvSpPr/>
          <p:nvPr/>
        </p:nvSpPr>
        <p:spPr>
          <a:xfrm>
            <a:off x="548640" y="4837176"/>
            <a:ext cx="11091672" cy="987552"/>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Performance targeting: baseline first, tuning after.</a:t>
            </a:r>
          </a:p>
        </p:txBody>
      </p:sp>
      <p:sp>
        <p:nvSpPr>
          <p:cNvPr id="21" name="TextBox 20"/>
          <p:cNvSpPr txBox="1"/>
          <p:nvPr/>
        </p:nvSpPr>
        <p:spPr>
          <a:xfrm>
            <a:off x="868680" y="5248656"/>
            <a:ext cx="10515600" cy="530352"/>
          </a:xfrm>
          <a:prstGeom prst="rect">
            <a:avLst/>
          </a:prstGeom>
          <a:noFill/>
        </p:spPr>
        <p:txBody>
          <a:bodyPr wrap="square" anchor="t">
            <a:spAutoFit/>
          </a:bodyPr>
          <a:lstStyle/>
          <a:p>
            <a:pPr algn="l">
              <a:defRPr sz="1100" b="0">
                <a:solidFill>
                  <a:srgbClr val="64748B"/>
                </a:solidFill>
                <a:latin typeface="Avenir Next"/>
              </a:defRPr>
            </a:pPr>
            <a:r>
              <a:t>The plan is to build every lane at the portable baseline, prove the model, then turn on per-lane tuning for Genoa, Milan, or Cascade Lake. Each target is a flag plus a full rebuild, so the open part is when, not whether.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Common compiler-dependent packages: loadable from every lane</a:t>
            </a:r>
          </a:p>
          <a:p>
            <a:pPr algn="ctr">
              <a:defRPr sz="1050" b="0">
                <a:solidFill>
                  <a:srgbClr val="FFFFFF"/>
                </a:solidFill>
                <a:latin typeface="Avenir Next"/>
              </a:defRPr>
            </a:pPr>
            <a:r>
              <a:t>openblas · gnuplot · one Serial-lane build, one install, shared module root</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22452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362102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Common compiler-dependent: built here once, available in every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 Payload rather than core: performance-sensitive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payload rather than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5212"/>
        </p:xfrm>
        <a:graphic>
          <a:graphicData uri="http://schemas.openxmlformats.org/drawingml/2006/table">
            <a:tbl>
              <a:tblPr>
                <a:tableStyleId>{5C22544A-7EE6-4342-B048-85BDC9FD1C3A}</a:tableStyleId>
              </a:tblPr>
              <a:tblGrid>
                <a:gridCol w="1920240"/>
                <a:gridCol w="2286000"/>
                <a:gridCol w="6885432"/>
              </a:tblGrid>
              <a:tr h="269748">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+gpu_runtime: its own build, so it can see kernels as well as 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+gpu → expands per lane: +rocm amdgpu_target=&lt;arch&gt; or +cuda cuda_arch=&lt;n&gt;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Common compiler-dependent: the Serial-lane build, available here too</a:t>
                      </a:r>
                    </a:p>
                  </a:txBody>
                  <a:tcPr marL="109728" marR="73152" marT="13716" marB="13716" anchor="ctr">
                    <a:solidFill>
                      <a:srgbClr val="15803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common packages</a:t>
                      </a:r>
                    </a:p>
                  </a:txBody>
                  <a:tcPr marL="109728" marR="73152" marT="13716" marB="13716" anchor="ctr">
                    <a:solidFill>
                      <a:srgbClr val="FFFFFF"/>
                    </a:solidFill>
                  </a:tcPr>
                </a:tc>
                <a:tc>
                  <a:txBody>
                    <a:bodyPr/>
                    <a:lstStyle/>
                    <a:p>
                      <a:pPr>
                        <a:defRPr sz="1100" b="0">
                          <a:solidFill>
                            <a:srgbClr val="334155"/>
                          </a:solidFill>
                          <a:latin typeface="Avenir Next"/>
                        </a:defRPr>
                      </a:pPr>
                      <a:r>
                        <a:t>see Serial</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the same modules through the shared root, nothing rebuilt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the newest supported release and its immediate predecessor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
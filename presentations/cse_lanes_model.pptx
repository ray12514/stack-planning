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517904"/>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9344"/>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7" name="TextBox 6"/>
          <p:cNvSpPr txBox="1"/>
          <p:nvPr/>
        </p:nvSpPr>
        <p:spPr>
          <a:xfrm>
            <a:off x="868680" y="1892807"/>
            <a:ext cx="10515600" cy="493776"/>
          </a:xfrm>
          <a:prstGeom prst="rect">
            <a:avLst/>
          </a:prstGeom>
          <a:noFill/>
        </p:spPr>
        <p:txBody>
          <a:bodyPr wrap="square" anchor="t">
            <a:spAutoFit/>
          </a:bodyPr>
          <a:lstStyle/>
          <a:p>
            <a:pPr algn="l">
              <a:defRPr sz="1050" b="0">
                <a:solidFill>
                  <a:srgbClr val="6E7B90"/>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8" name="Rounded Rectangle 7"/>
          <p:cNvSpPr/>
          <p:nvPr/>
        </p:nvSpPr>
        <p:spPr>
          <a:xfrm>
            <a:off x="548640" y="2487168"/>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78608"/>
            <a:ext cx="10515600" cy="274320"/>
          </a:xfrm>
          <a:prstGeom prst="rect">
            <a:avLst/>
          </a:prstGeom>
          <a:noFill/>
        </p:spPr>
        <p:txBody>
          <a:bodyPr wrap="square" anchor="t">
            <a:spAutoFit/>
          </a:bodyPr>
          <a:lstStyle/>
          <a:p>
            <a:pPr algn="l">
              <a:defRPr sz="1300" b="1">
                <a:solidFill>
                  <a:srgbClr val="117A72"/>
                </a:solidFill>
                <a:latin typeface="Avenir Next"/>
              </a:defRPr>
            </a:pPr>
            <a:r>
              <a:t>Which compiler surfaces does the pilot carry?</a:t>
            </a:r>
          </a:p>
        </p:txBody>
      </p:sp>
      <p:sp>
        <p:nvSpPr>
          <p:cNvPr id="10" name="TextBox 9"/>
          <p:cNvSpPr txBox="1"/>
          <p:nvPr/>
        </p:nvSpPr>
        <p:spPr>
          <a:xfrm>
            <a:off x="868680" y="2862072"/>
            <a:ext cx="10515600" cy="493776"/>
          </a:xfrm>
          <a:prstGeom prst="rect">
            <a:avLst/>
          </a:prstGeom>
          <a:noFill/>
        </p:spPr>
        <p:txBody>
          <a:bodyPr wrap="square" anchor="t">
            <a:spAutoFit/>
          </a:bodyPr>
          <a:lstStyle/>
          <a:p>
            <a:pPr algn="l">
              <a:defRPr sz="1050" b="0">
                <a:solidFill>
                  <a:srgbClr val="6E7B90"/>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1" name="Rounded Rectangle 10"/>
          <p:cNvSpPr/>
          <p:nvPr/>
        </p:nvSpPr>
        <p:spPr>
          <a:xfrm>
            <a:off x="548640" y="3456432"/>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47872"/>
            <a:ext cx="10515600" cy="274320"/>
          </a:xfrm>
          <a:prstGeom prst="rect">
            <a:avLst/>
          </a:prstGeom>
          <a:noFill/>
        </p:spPr>
        <p:txBody>
          <a:bodyPr wrap="square" anchor="t">
            <a:spAutoFit/>
          </a:bodyPr>
          <a:lstStyle/>
          <a:p>
            <a:pPr algn="l">
              <a:defRPr sz="1300" b="1">
                <a:solidFill>
                  <a:srgbClr val="BA740E"/>
                </a:solidFill>
                <a:latin typeface="Avenir Next"/>
              </a:defRPr>
            </a:pPr>
            <a:r>
              <a:t>Does the Serial lane stay?</a:t>
            </a:r>
          </a:p>
        </p:txBody>
      </p:sp>
      <p:sp>
        <p:nvSpPr>
          <p:cNvPr id="13" name="TextBox 12"/>
          <p:cNvSpPr txBox="1"/>
          <p:nvPr/>
        </p:nvSpPr>
        <p:spPr>
          <a:xfrm>
            <a:off x="868680" y="3831336"/>
            <a:ext cx="10515600" cy="493776"/>
          </a:xfrm>
          <a:prstGeom prst="rect">
            <a:avLst/>
          </a:prstGeom>
          <a:noFill/>
        </p:spPr>
        <p:txBody>
          <a:bodyPr wrap="square" anchor="t">
            <a:spAutoFit/>
          </a:bodyPr>
          <a:lstStyle/>
          <a:p>
            <a:pPr algn="l">
              <a:defRPr sz="1050" b="0">
                <a:solidFill>
                  <a:srgbClr val="6E7B90"/>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4" name="Rounded Rectangle 13"/>
          <p:cNvSpPr/>
          <p:nvPr/>
        </p:nvSpPr>
        <p:spPr>
          <a:xfrm>
            <a:off x="548640" y="4425696"/>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517136"/>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6" name="TextBox 15"/>
          <p:cNvSpPr txBox="1"/>
          <p:nvPr/>
        </p:nvSpPr>
        <p:spPr>
          <a:xfrm>
            <a:off x="868680" y="4800600"/>
            <a:ext cx="10515600" cy="493776"/>
          </a:xfrm>
          <a:prstGeom prst="rect">
            <a:avLst/>
          </a:prstGeom>
          <a:noFill/>
        </p:spPr>
        <p:txBody>
          <a:bodyPr wrap="square" anchor="t">
            <a:spAutoFit/>
          </a:bodyPr>
          <a:lstStyle/>
          <a:p>
            <a:pPr algn="l">
              <a:defRPr sz="1050" b="0">
                <a:solidFill>
                  <a:srgbClr val="6E7B90"/>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
        <p:nvSpPr>
          <p:cNvPr id="17" name="Rounded Rectangle 16"/>
          <p:cNvSpPr/>
          <p:nvPr/>
        </p:nvSpPr>
        <p:spPr>
          <a:xfrm>
            <a:off x="548640" y="5394960"/>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486400"/>
            <a:ext cx="10515600" cy="274320"/>
          </a:xfrm>
          <a:prstGeom prst="rect">
            <a:avLst/>
          </a:prstGeom>
          <a:noFill/>
        </p:spPr>
        <p:txBody>
          <a:bodyPr wrap="square" anchor="t">
            <a:spAutoFit/>
          </a:bodyPr>
          <a:lstStyle/>
          <a:p>
            <a:pPr algn="l">
              <a:defRPr sz="1300" b="1">
                <a:solidFill>
                  <a:srgbClr val="9A7614"/>
                </a:solidFill>
                <a:latin typeface="Avenir Next"/>
              </a:defRPr>
            </a:pPr>
            <a:r>
              <a:t>Consistency means the same functionality, not the same implementations.</a:t>
            </a:r>
          </a:p>
        </p:txBody>
      </p:sp>
      <p:sp>
        <p:nvSpPr>
          <p:cNvPr id="19" name="TextBox 18"/>
          <p:cNvSpPr txBox="1"/>
          <p:nvPr/>
        </p:nvSpPr>
        <p:spPr>
          <a:xfrm>
            <a:off x="868680" y="5769864"/>
            <a:ext cx="10515600" cy="493776"/>
          </a:xfrm>
          <a:prstGeom prst="rect">
            <a:avLst/>
          </a:prstGeom>
          <a:noFill/>
        </p:spPr>
        <p:txBody>
          <a:bodyPr wrap="square" anchor="t">
            <a:spAutoFit/>
          </a:bodyPr>
          <a:lstStyle/>
          <a:p>
            <a:pPr algn="l">
              <a:defRPr sz="1050" b="0">
                <a:solidFill>
                  <a:srgbClr val="6E7B90"/>
                </a:solidFill>
                <a:latin typeface="Avenir Next"/>
              </a:defRPr>
            </a:pPr>
            <a:r>
              <a:t>A user builds and runs the same way on every system: same front door, same rosters, same workflow, with each machine's native MPI and compiler underneath. The open part is the floor: which capabilities every system must provide, and whether one pinned CSE GCC anchors the compilers.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DISCUSSION · STARTER QUESTIONS FOR THE BUILD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If we start building: what has to be decided?</a:t>
            </a:r>
          </a:p>
        </p:txBody>
      </p:sp>
      <p:sp>
        <p:nvSpPr>
          <p:cNvPr id="5" name="Rounded Rectangle 4"/>
          <p:cNvSpPr/>
          <p:nvPr/>
        </p:nvSpPr>
        <p:spPr>
          <a:xfrm>
            <a:off x="548640" y="1517904"/>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9344"/>
            <a:ext cx="10515600" cy="274320"/>
          </a:xfrm>
          <a:prstGeom prst="rect">
            <a:avLst/>
          </a:prstGeom>
          <a:noFill/>
        </p:spPr>
        <p:txBody>
          <a:bodyPr wrap="square" anchor="t">
            <a:spAutoFit/>
          </a:bodyPr>
          <a:lstStyle/>
          <a:p>
            <a:pPr algn="l">
              <a:defRPr sz="1300" b="1">
                <a:solidFill>
                  <a:srgbClr val="117A72"/>
                </a:solidFill>
                <a:latin typeface="Avenir Next"/>
              </a:defRPr>
            </a:pPr>
            <a:r>
              <a:t>Which compiler anchors each system's stack?</a:t>
            </a:r>
          </a:p>
        </p:txBody>
      </p:sp>
      <p:sp>
        <p:nvSpPr>
          <p:cNvPr id="7" name="TextBox 6"/>
          <p:cNvSpPr txBox="1"/>
          <p:nvPr/>
        </p:nvSpPr>
        <p:spPr>
          <a:xfrm>
            <a:off x="868680" y="1892807"/>
            <a:ext cx="10515600" cy="493776"/>
          </a:xfrm>
          <a:prstGeom prst="rect">
            <a:avLst/>
          </a:prstGeom>
          <a:noFill/>
        </p:spPr>
        <p:txBody>
          <a:bodyPr wrap="square" anchor="t">
            <a:spAutoFit/>
          </a:bodyPr>
          <a:lstStyle/>
          <a:p>
            <a:pPr algn="l">
              <a:defRPr sz="1050" b="0">
                <a:solidFill>
                  <a:srgbClr val="6E7B90"/>
                </a:solidFill>
                <a:latin typeface="Avenir Next"/>
              </a:defRPr>
            </a:pPr>
            <a:r>
              <a:t>Every package on a system builds against this choice, so it comes first. The system's own compiler, one common version everywhere, or something else?</a:t>
            </a:r>
          </a:p>
        </p:txBody>
      </p:sp>
      <p:sp>
        <p:nvSpPr>
          <p:cNvPr id="8" name="Rounded Rectangle 7"/>
          <p:cNvSpPr/>
          <p:nvPr/>
        </p:nvSpPr>
        <p:spPr>
          <a:xfrm>
            <a:off x="548640" y="2487168"/>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78608"/>
            <a:ext cx="10515600" cy="274320"/>
          </a:xfrm>
          <a:prstGeom prst="rect">
            <a:avLst/>
          </a:prstGeom>
          <a:noFill/>
        </p:spPr>
        <p:txBody>
          <a:bodyPr wrap="square" anchor="t">
            <a:spAutoFit/>
          </a:bodyPr>
          <a:lstStyle/>
          <a:p>
            <a:pPr algn="l">
              <a:defRPr sz="1300" b="1">
                <a:solidFill>
                  <a:srgbClr val="2B62B8"/>
                </a:solidFill>
                <a:latin typeface="Avenir Next"/>
              </a:defRPr>
            </a:pPr>
            <a:r>
              <a:t>Which MPI pairs with it on each system?</a:t>
            </a:r>
          </a:p>
        </p:txBody>
      </p:sp>
      <p:sp>
        <p:nvSpPr>
          <p:cNvPr id="10" name="TextBox 9"/>
          <p:cNvSpPr txBox="1"/>
          <p:nvPr/>
        </p:nvSpPr>
        <p:spPr>
          <a:xfrm>
            <a:off x="868680" y="2862072"/>
            <a:ext cx="10515600" cy="493776"/>
          </a:xfrm>
          <a:prstGeom prst="rect">
            <a:avLst/>
          </a:prstGeom>
          <a:noFill/>
        </p:spPr>
        <p:txBody>
          <a:bodyPr wrap="square" anchor="t">
            <a:spAutoFit/>
          </a:bodyPr>
          <a:lstStyle/>
          <a:p>
            <a:pPr algn="l">
              <a:defRPr sz="1050" b="0">
                <a:solidFill>
                  <a:srgbClr val="6E7B90"/>
                </a:solidFill>
                <a:latin typeface="Avenir Next"/>
              </a:defRPr>
            </a:pPr>
            <a:r>
              <a:t>Whatever we pick has to work with each machine's fabric and job launcher. Do we take what each site provides, and what do we do where that answer is unclear?</a:t>
            </a:r>
          </a:p>
        </p:txBody>
      </p:sp>
      <p:sp>
        <p:nvSpPr>
          <p:cNvPr id="11" name="Rounded Rectangle 10"/>
          <p:cNvSpPr/>
          <p:nvPr/>
        </p:nvSpPr>
        <p:spPr>
          <a:xfrm>
            <a:off x="548640" y="3456432"/>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47872"/>
            <a:ext cx="10515600" cy="274320"/>
          </a:xfrm>
          <a:prstGeom prst="rect">
            <a:avLst/>
          </a:prstGeom>
          <a:noFill/>
        </p:spPr>
        <p:txBody>
          <a:bodyPr wrap="square" anchor="t">
            <a:spAutoFit/>
          </a:bodyPr>
          <a:lstStyle/>
          <a:p>
            <a:pPr algn="l">
              <a:defRPr sz="1300" b="1">
                <a:solidFill>
                  <a:srgbClr val="BA740E"/>
                </a:solidFill>
                <a:latin typeface="Avenir Next"/>
              </a:defRPr>
            </a:pPr>
            <a:r>
              <a:t>What CPU baseline do we build for?</a:t>
            </a:r>
          </a:p>
        </p:txBody>
      </p:sp>
      <p:sp>
        <p:nvSpPr>
          <p:cNvPr id="13" name="TextBox 12"/>
          <p:cNvSpPr txBox="1"/>
          <p:nvPr/>
        </p:nvSpPr>
        <p:spPr>
          <a:xfrm>
            <a:off x="868680" y="3831336"/>
            <a:ext cx="10515600" cy="493776"/>
          </a:xfrm>
          <a:prstGeom prst="rect">
            <a:avLst/>
          </a:prstGeom>
          <a:noFill/>
        </p:spPr>
        <p:txBody>
          <a:bodyPr wrap="square" anchor="t">
            <a:spAutoFit/>
          </a:bodyPr>
          <a:lstStyle/>
          <a:p>
            <a:pPr algn="l">
              <a:defRPr sz="1050" b="0">
                <a:solidFill>
                  <a:srgbClr val="6E7B90"/>
                </a:solidFill>
                <a:latin typeface="Avenir Next"/>
              </a:defRPr>
            </a:pPr>
            <a:r>
              <a:t>One portable target that runs on every pilot system, or per-system tuning from day one? This sets how many builds exist and where they can run.</a:t>
            </a:r>
          </a:p>
        </p:txBody>
      </p:sp>
      <p:sp>
        <p:nvSpPr>
          <p:cNvPr id="14" name="Rounded Rectangle 13"/>
          <p:cNvSpPr/>
          <p:nvPr/>
        </p:nvSpPr>
        <p:spPr>
          <a:xfrm>
            <a:off x="548640" y="4425696"/>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517136"/>
            <a:ext cx="10515600" cy="274320"/>
          </a:xfrm>
          <a:prstGeom prst="rect">
            <a:avLst/>
          </a:prstGeom>
          <a:noFill/>
        </p:spPr>
        <p:txBody>
          <a:bodyPr wrap="square" anchor="t">
            <a:spAutoFit/>
          </a:bodyPr>
          <a:lstStyle/>
          <a:p>
            <a:pPr algn="l">
              <a:defRPr sz="1300" b="1">
                <a:solidFill>
                  <a:srgbClr val="6D4EAA"/>
                </a:solidFill>
                <a:latin typeface="Avenir Next"/>
              </a:defRPr>
            </a:pPr>
            <a:r>
              <a:t>Where does the software live on each system?</a:t>
            </a:r>
          </a:p>
        </p:txBody>
      </p:sp>
      <p:sp>
        <p:nvSpPr>
          <p:cNvPr id="16" name="TextBox 15"/>
          <p:cNvSpPr txBox="1"/>
          <p:nvPr/>
        </p:nvSpPr>
        <p:spPr>
          <a:xfrm>
            <a:off x="868680" y="4800600"/>
            <a:ext cx="10515600" cy="493776"/>
          </a:xfrm>
          <a:prstGeom prst="rect">
            <a:avLst/>
          </a:prstGeom>
          <a:noFill/>
        </p:spPr>
        <p:txBody>
          <a:bodyPr wrap="square" anchor="t">
            <a:spAutoFit/>
          </a:bodyPr>
          <a:lstStyle/>
          <a:p>
            <a:pPr algn="l">
              <a:defRPr sz="1050" b="0">
                <a:solidFill>
                  <a:srgbClr val="6E7B90"/>
                </a:solidFill>
                <a:latin typeface="Avenir Next"/>
              </a:defRPr>
            </a:pPr>
            <a:r>
              <a:t>Install locations, and who owns them, per system. Nothing installs until someone can answer this for their machine.</a:t>
            </a:r>
          </a:p>
        </p:txBody>
      </p:sp>
      <p:sp>
        <p:nvSpPr>
          <p:cNvPr id="17" name="Rounded Rectangle 16"/>
          <p:cNvSpPr/>
          <p:nvPr/>
        </p:nvSpPr>
        <p:spPr>
          <a:xfrm>
            <a:off x="548640" y="5394960"/>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486400"/>
            <a:ext cx="10515600" cy="274320"/>
          </a:xfrm>
          <a:prstGeom prst="rect">
            <a:avLst/>
          </a:prstGeom>
          <a:noFill/>
        </p:spPr>
        <p:txBody>
          <a:bodyPr wrap="square" anchor="t">
            <a:spAutoFit/>
          </a:bodyPr>
          <a:lstStyle/>
          <a:p>
            <a:pPr algn="l">
              <a:defRPr sz="1300" b="1">
                <a:solidFill>
                  <a:srgbClr val="9A7614"/>
                </a:solidFill>
                <a:latin typeface="Avenir Next"/>
              </a:defRPr>
            </a:pPr>
            <a:r>
              <a:t>What has to pass before a build counts as done?</a:t>
            </a:r>
          </a:p>
        </p:txBody>
      </p:sp>
      <p:sp>
        <p:nvSpPr>
          <p:cNvPr id="19" name="TextBox 18"/>
          <p:cNvSpPr txBox="1"/>
          <p:nvPr/>
        </p:nvSpPr>
        <p:spPr>
          <a:xfrm>
            <a:off x="868680" y="5769864"/>
            <a:ext cx="10515600" cy="493776"/>
          </a:xfrm>
          <a:prstGeom prst="rect">
            <a:avLst/>
          </a:prstGeom>
          <a:noFill/>
        </p:spPr>
        <p:txBody>
          <a:bodyPr wrap="square" anchor="t">
            <a:spAutoFit/>
          </a:bodyPr>
          <a:lstStyle/>
          <a:p>
            <a:pPr algn="l">
              <a:defRPr sz="1050" b="0">
                <a:solidFill>
                  <a:srgbClr val="6E7B90"/>
                </a:solidFill>
                <a:latin typeface="Avenir Next"/>
              </a:defRPr>
            </a:pPr>
            <a:r>
              <a:t>A shared finish line, agreed before the first build starts: what compiles, what runs, and what we can rebuild from scratch.</a:t>
            </a:r>
          </a:p>
        </p:txBody>
      </p:sp>
      <p:sp>
        <p:nvSpPr>
          <p:cNvPr id="20" name="Rounded Rectangle 19"/>
          <p:cNvSpPr/>
          <p:nvPr/>
        </p:nvSpPr>
        <p:spPr>
          <a:xfrm>
            <a:off x="548640" y="6382512"/>
            <a:ext cx="11091672"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16243D"/>
                </a:solidFill>
                <a:latin typeface="Avenir Next"/>
              </a:defRPr>
            </a:pPr>
            <a:r>
              <a:t>And just as useful: which of these can wait until after the first builds?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
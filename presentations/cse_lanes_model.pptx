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1097280"/>
          </a:xfrm>
          <a:prstGeom prst="rect">
            <a:avLst/>
          </a:prstGeom>
          <a:noFill/>
        </p:spPr>
        <p:txBody>
          <a:bodyPr wrap="square" anchor="t">
            <a:spAutoFit/>
          </a:bodyPr>
          <a:lstStyle/>
          <a:p>
            <a:pPr algn="l">
              <a:defRPr sz="4600" b="1">
                <a:solidFill>
                  <a:srgbClr val="0F172A"/>
                </a:solidFill>
                <a:latin typeface="Avenir Next"/>
              </a:defRPr>
            </a:pPr>
            <a:r>
              <a:t>The CSE Software Stack</a:t>
            </a:r>
          </a:p>
        </p:txBody>
      </p:sp>
      <p:sp>
        <p:nvSpPr>
          <p:cNvPr id="5" name="Rectangle 4"/>
          <p:cNvSpPr/>
          <p:nvPr/>
        </p:nvSpPr>
        <p:spPr>
          <a:xfrm>
            <a:off x="868680" y="3063240"/>
            <a:ext cx="2194560" cy="5486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291840"/>
            <a:ext cx="10515600" cy="1280160"/>
          </a:xfrm>
          <a:prstGeom prst="rect">
            <a:avLst/>
          </a:prstGeom>
          <a:noFill/>
        </p:spPr>
        <p:txBody>
          <a:bodyPr wrap="square" anchor="t">
            <a:spAutoFit/>
          </a:bodyPr>
          <a:lstStyle/>
          <a:p>
            <a:pPr algn="l">
              <a:defRPr sz="2200" b="0">
                <a:solidFill>
                  <a:srgbClr val="334155"/>
                </a:solidFill>
                <a:latin typeface="Avenir Next"/>
              </a:defRPr>
            </a:pPr>
            <a:r>
              <a:t>One clean build surface per compiler, MPI, and GPU: the lanes model</a:t>
            </a:r>
          </a:p>
          <a:p>
            <a:pPr algn="l">
              <a:defRPr sz="1500" b="0">
                <a:solidFill>
                  <a:srgbClr val="64748B"/>
                </a:solidFill>
                <a:latin typeface="Avenir Next"/>
              </a:defRPr>
            </a:pPr>
            <a:r>
              <a:t>How we got here, what the community runs, and where we're going</a:t>
            </a:r>
          </a:p>
        </p:txBody>
      </p:sp>
      <p:sp>
        <p:nvSpPr>
          <p:cNvPr id="7" name="TextBox 6"/>
          <p:cNvSpPr txBox="1"/>
          <p:nvPr/>
        </p:nvSpPr>
        <p:spPr>
          <a:xfrm>
            <a:off x="822960" y="6355080"/>
            <a:ext cx="10515600" cy="457200"/>
          </a:xfrm>
          <a:prstGeom prst="rect">
            <a:avLst/>
          </a:prstGeom>
          <a:noFill/>
        </p:spPr>
        <p:txBody>
          <a:bodyPr wrap="square" anchor="t">
            <a:spAutoFit/>
          </a:bodyPr>
          <a:lstStyle/>
          <a:p>
            <a:pPr algn="l">
              <a:defRPr sz="1200" b="0">
                <a:solidFill>
                  <a:srgbClr val="64748B"/>
                </a:solidFill>
                <a:latin typeface="Avenir Next"/>
              </a:defRPr>
            </a:pPr>
            <a:r>
              <a:t>July 2026  ·  working draft</a:t>
            </a:r>
          </a:p>
        </p:txBody>
      </p:sp>
      <p:sp>
        <p:nvSpPr>
          <p:cNvPr id="8" name="Rounded Rectangle 7"/>
          <p:cNvSpPr/>
          <p:nvPr/>
        </p:nvSpPr>
        <p:spPr>
          <a:xfrm>
            <a:off x="8138160" y="2148840"/>
            <a:ext cx="685800" cy="6858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006840" y="2148840"/>
            <a:ext cx="685800" cy="6858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875520" y="2148840"/>
            <a:ext cx="685800" cy="68580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744200" y="2148840"/>
            <a:ext cx="685800" cy="6858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WHERE WE ARE · WHERE WE'RE GOING</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From one flat surface to lanes</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00200"/>
            <a:ext cx="5349240" cy="47091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57200"/>
          </a:xfrm>
          <a:prstGeom prst="rect">
            <a:avLst/>
          </a:prstGeom>
          <a:noFill/>
        </p:spPr>
        <p:txBody>
          <a:bodyPr wrap="square" anchor="t">
            <a:spAutoFit/>
          </a:bodyPr>
          <a:lstStyle/>
          <a:p>
            <a:pPr algn="l">
              <a:defRPr sz="1700" b="1">
                <a:solidFill>
                  <a:srgbClr val="0F172A"/>
                </a:solidFill>
                <a:latin typeface="Avenir Next"/>
              </a:defRPr>
            </a:pPr>
            <a:r>
              <a:t>Today: CSEinit</a:t>
            </a:r>
          </a:p>
        </p:txBody>
      </p:sp>
      <p:sp>
        <p:nvSpPr>
          <p:cNvPr id="8" name="TextBox 7"/>
          <p:cNvSpPr txBox="1"/>
          <p:nvPr/>
        </p:nvSpPr>
        <p:spPr>
          <a:xfrm>
            <a:off x="777240" y="2212848"/>
            <a:ext cx="4937760" cy="365760"/>
          </a:xfrm>
          <a:prstGeom prst="rect">
            <a:avLst/>
          </a:prstGeom>
          <a:noFill/>
        </p:spPr>
        <p:txBody>
          <a:bodyPr wrap="square" anchor="t">
            <a:spAutoFit/>
          </a:bodyPr>
          <a:lstStyle/>
          <a:p>
            <a:pPr algn="l">
              <a:defRPr sz="1250" b="0">
                <a:solidFill>
                  <a:srgbClr val="64748B"/>
                </a:solidFill>
                <a:latin typeface="Avenir Next"/>
              </a:defRPr>
            </a:pPr>
            <a:r>
              <a:t>GCC- and Intel-backed flavors · standard / noloads · extends MODULEPATH</a:t>
            </a:r>
          </a:p>
        </p:txBody>
      </p:sp>
      <p:sp>
        <p:nvSpPr>
          <p:cNvPr id="9" name="Rounded Rectangle 8"/>
          <p:cNvSpPr/>
          <p:nvPr/>
        </p:nvSpPr>
        <p:spPr>
          <a:xfrm>
            <a:off x="822960" y="274320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hdf5/1.14.6</a:t>
            </a:r>
          </a:p>
        </p:txBody>
      </p:sp>
      <p:sp>
        <p:nvSpPr>
          <p:cNvPr id="10" name="Rounded Rectangle 9"/>
          <p:cNvSpPr/>
          <p:nvPr/>
        </p:nvSpPr>
        <p:spPr>
          <a:xfrm>
            <a:off x="2450592" y="274320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hdf5/1.10</a:t>
            </a:r>
          </a:p>
        </p:txBody>
      </p:sp>
      <p:sp>
        <p:nvSpPr>
          <p:cNvPr id="11" name="Rounded Rectangle 10"/>
          <p:cNvSpPr/>
          <p:nvPr/>
        </p:nvSpPr>
        <p:spPr>
          <a:xfrm>
            <a:off x="4078224" y="274320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openmpi</a:t>
            </a:r>
          </a:p>
        </p:txBody>
      </p:sp>
      <p:sp>
        <p:nvSpPr>
          <p:cNvPr id="12" name="Rounded Rectangle 11"/>
          <p:cNvSpPr/>
          <p:nvPr/>
        </p:nvSpPr>
        <p:spPr>
          <a:xfrm>
            <a:off x="822960" y="325526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boost</a:t>
            </a:r>
          </a:p>
        </p:txBody>
      </p:sp>
      <p:sp>
        <p:nvSpPr>
          <p:cNvPr id="13" name="Rounded Rectangle 12"/>
          <p:cNvSpPr/>
          <p:nvPr/>
        </p:nvSpPr>
        <p:spPr>
          <a:xfrm>
            <a:off x="2450592" y="325526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netcdf</a:t>
            </a:r>
          </a:p>
        </p:txBody>
      </p:sp>
      <p:sp>
        <p:nvSpPr>
          <p:cNvPr id="14" name="Rounded Rectangle 13"/>
          <p:cNvSpPr/>
          <p:nvPr/>
        </p:nvSpPr>
        <p:spPr>
          <a:xfrm>
            <a:off x="4078224" y="325526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fftw</a:t>
            </a:r>
          </a:p>
        </p:txBody>
      </p:sp>
      <p:sp>
        <p:nvSpPr>
          <p:cNvPr id="15" name="Rounded Rectangle 14"/>
          <p:cNvSpPr/>
          <p:nvPr/>
        </p:nvSpPr>
        <p:spPr>
          <a:xfrm>
            <a:off x="822960" y="3767328"/>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python</a:t>
            </a:r>
          </a:p>
        </p:txBody>
      </p:sp>
      <p:sp>
        <p:nvSpPr>
          <p:cNvPr id="16" name="Rounded Rectangle 15"/>
          <p:cNvSpPr/>
          <p:nvPr/>
        </p:nvSpPr>
        <p:spPr>
          <a:xfrm>
            <a:off x="2450592" y="3767328"/>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mkl</a:t>
            </a:r>
          </a:p>
        </p:txBody>
      </p:sp>
      <p:sp>
        <p:nvSpPr>
          <p:cNvPr id="17" name="Rounded Rectangle 16"/>
          <p:cNvSpPr/>
          <p:nvPr/>
        </p:nvSpPr>
        <p:spPr>
          <a:xfrm>
            <a:off x="4078224" y="3767328"/>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gsl</a:t>
            </a:r>
          </a:p>
        </p:txBody>
      </p:sp>
      <p:sp>
        <p:nvSpPr>
          <p:cNvPr id="18" name="Rounded Rectangle 17"/>
          <p:cNvSpPr/>
          <p:nvPr/>
        </p:nvSpPr>
        <p:spPr>
          <a:xfrm>
            <a:off x="822960" y="4279392"/>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tau</a:t>
            </a:r>
          </a:p>
        </p:txBody>
      </p:sp>
      <p:sp>
        <p:nvSpPr>
          <p:cNvPr id="19" name="Rounded Rectangle 18"/>
          <p:cNvSpPr/>
          <p:nvPr/>
        </p:nvSpPr>
        <p:spPr>
          <a:xfrm>
            <a:off x="2450592" y="4279392"/>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cmake</a:t>
            </a:r>
          </a:p>
        </p:txBody>
      </p:sp>
      <p:sp>
        <p:nvSpPr>
          <p:cNvPr id="20" name="Rounded Rectangle 19"/>
          <p:cNvSpPr/>
          <p:nvPr/>
        </p:nvSpPr>
        <p:spPr>
          <a:xfrm>
            <a:off x="4078224" y="4279392"/>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openblas</a:t>
            </a:r>
          </a:p>
        </p:txBody>
      </p:sp>
      <p:sp>
        <p:nvSpPr>
          <p:cNvPr id="21" name="TextBox 20"/>
          <p:cNvSpPr txBox="1"/>
          <p:nvPr/>
        </p:nvSpPr>
        <p:spPr>
          <a:xfrm>
            <a:off x="777240" y="4983480"/>
            <a:ext cx="4937760" cy="1188720"/>
          </a:xfrm>
          <a:prstGeom prst="rect">
            <a:avLst/>
          </a:prstGeom>
          <a:noFill/>
        </p:spPr>
        <p:txBody>
          <a:bodyPr wrap="square" anchor="t">
            <a:spAutoFit/>
          </a:bodyPr>
          <a:lstStyle/>
          <a:p>
            <a:pPr algn="l">
              <a:defRPr sz="1350" b="1">
                <a:solidFill>
                  <a:srgbClr val="D97706"/>
                </a:solidFill>
                <a:latin typeface="Avenir Next"/>
              </a:defRPr>
            </a:pPr>
            <a:r>
              <a:t>Everything visible at once.</a:t>
            </a:r>
          </a:p>
          <a:p>
            <a:pPr algn="l">
              <a:defRPr sz="1250" b="0">
                <a:solidFill>
                  <a:srgbClr val="64748B"/>
                </a:solidFill>
                <a:latin typeface="Avenir Next"/>
              </a:defRPr>
            </a:pPr>
            <a:r>
              <a:t>Conflicts avoided by convention · MPI/GPU surfaces not isolated ·</a:t>
            </a:r>
          </a:p>
          <a:p>
            <a:pPr algn="l">
              <a:defRPr sz="1250" b="0">
                <a:solidFill>
                  <a:srgbClr val="64748B"/>
                </a:solidFill>
                <a:latin typeface="Avenir Next"/>
              </a:defRPr>
            </a:pPr>
            <a:r>
              <a:t>hand-curated per system; upgrades mean rebuilding everything</a:t>
            </a:r>
          </a:p>
        </p:txBody>
      </p:sp>
      <p:sp>
        <p:nvSpPr>
          <p:cNvPr id="22" name="Rounded Rectangle 21"/>
          <p:cNvSpPr/>
          <p:nvPr/>
        </p:nvSpPr>
        <p:spPr>
          <a:xfrm>
            <a:off x="6263640" y="1600200"/>
            <a:ext cx="5349240" cy="47091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783080"/>
            <a:ext cx="4937760" cy="457200"/>
          </a:xfrm>
          <a:prstGeom prst="rect">
            <a:avLst/>
          </a:prstGeom>
          <a:noFill/>
        </p:spPr>
        <p:txBody>
          <a:bodyPr wrap="square" anchor="t">
            <a:spAutoFit/>
          </a:bodyPr>
          <a:lstStyle/>
          <a:p>
            <a:pPr algn="l">
              <a:defRPr sz="1700" b="1">
                <a:solidFill>
                  <a:srgbClr val="0F172A"/>
                </a:solidFill>
                <a:latin typeface="Avenir Next"/>
              </a:defRPr>
            </a:pPr>
            <a:r>
              <a:t>The lanes model</a:t>
            </a:r>
          </a:p>
        </p:txBody>
      </p:sp>
      <p:sp>
        <p:nvSpPr>
          <p:cNvPr id="24" name="Rounded Rectangle 23"/>
          <p:cNvSpPr/>
          <p:nvPr/>
        </p:nvSpPr>
        <p:spPr>
          <a:xfrm>
            <a:off x="6766560" y="2331720"/>
            <a:ext cx="4343400" cy="45720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300" b="1">
                <a:solidFill>
                  <a:srgbClr val="0F172A"/>
                </a:solidFill>
                <a:latin typeface="Avenir Next"/>
              </a:defRPr>
            </a:pPr>
            <a:r>
              <a:t>module load cse/GCC</a:t>
            </a:r>
          </a:p>
        </p:txBody>
      </p:sp>
      <p:cxnSp>
        <p:nvCxnSpPr>
          <p:cNvPr id="25" name="Connector 24"/>
          <p:cNvCxnSpPr/>
          <p:nvPr/>
        </p:nvCxnSpPr>
        <p:spPr>
          <a:xfrm>
            <a:off x="8938260" y="2788920"/>
            <a:ext cx="0" cy="274320"/>
          </a:xfrm>
          <a:prstGeom prst="line">
            <a:avLst/>
          </a:prstGeom>
          <a:ln w="28575">
            <a:solidFill>
              <a:srgbClr val="0D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766560" y="3063240"/>
            <a:ext cx="2103120" cy="56692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50" b="1">
                <a:solidFill>
                  <a:srgbClr val="FFFFFF"/>
                </a:solidFill>
                <a:latin typeface="Avenir Next"/>
              </a:defRPr>
            </a:pPr>
            <a:r>
              <a:t>Core (automatic)</a:t>
            </a:r>
          </a:p>
        </p:txBody>
      </p:sp>
      <p:sp>
        <p:nvSpPr>
          <p:cNvPr id="27" name="Rounded Rectangle 26"/>
          <p:cNvSpPr/>
          <p:nvPr/>
        </p:nvSpPr>
        <p:spPr>
          <a:xfrm>
            <a:off x="9006840" y="3063240"/>
            <a:ext cx="2103120" cy="566928"/>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50" b="1">
                <a:solidFill>
                  <a:srgbClr val="FFFFFF"/>
                </a:solidFill>
                <a:latin typeface="Avenir Next"/>
              </a:defRPr>
            </a:pPr>
            <a:r>
              <a:t>Foundation (on the path)</a:t>
            </a:r>
          </a:p>
        </p:txBody>
      </p:sp>
      <p:cxnSp>
        <p:nvCxnSpPr>
          <p:cNvPr id="28" name="Connector 27"/>
          <p:cNvCxnSpPr/>
          <p:nvPr/>
        </p:nvCxnSpPr>
        <p:spPr>
          <a:xfrm>
            <a:off x="8938260" y="3630168"/>
            <a:ext cx="0" cy="274319"/>
          </a:xfrm>
          <a:prstGeom prst="line">
            <a:avLst/>
          </a:prstGeom>
          <a:ln w="28575">
            <a:solidFill>
              <a:srgbClr val="0D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766560" y="3904487"/>
            <a:ext cx="4480560" cy="320040"/>
          </a:xfrm>
          <a:prstGeom prst="rect">
            <a:avLst/>
          </a:prstGeom>
          <a:noFill/>
        </p:spPr>
        <p:txBody>
          <a:bodyPr wrap="square" anchor="t">
            <a:spAutoFit/>
          </a:bodyPr>
          <a:lstStyle/>
          <a:p>
            <a:pPr algn="ctr">
              <a:defRPr sz="1150" b="1">
                <a:solidFill>
                  <a:srgbClr val="64748B"/>
                </a:solidFill>
                <a:latin typeface="Avenir Next"/>
              </a:defRPr>
            </a:pPr>
            <a:r>
              <a:t>CHOOSE EXACTLY ONE</a:t>
            </a:r>
          </a:p>
        </p:txBody>
      </p:sp>
      <p:sp>
        <p:nvSpPr>
          <p:cNvPr id="30" name="Rounded Rectangle 29"/>
          <p:cNvSpPr/>
          <p:nvPr/>
        </p:nvSpPr>
        <p:spPr>
          <a:xfrm>
            <a:off x="6766560" y="4224528"/>
            <a:ext cx="1371600" cy="54864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50" b="1">
                <a:solidFill>
                  <a:srgbClr val="FFFFFF"/>
                </a:solidFill>
                <a:latin typeface="Avenir Next"/>
              </a:defRPr>
            </a:pPr>
            <a:r>
              <a:t>Serial</a:t>
            </a:r>
          </a:p>
        </p:txBody>
      </p:sp>
      <p:sp>
        <p:nvSpPr>
          <p:cNvPr id="31" name="Rounded Rectangle 30"/>
          <p:cNvSpPr/>
          <p:nvPr/>
        </p:nvSpPr>
        <p:spPr>
          <a:xfrm>
            <a:off x="8229600" y="4224528"/>
            <a:ext cx="1371600" cy="54864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50" b="1">
                <a:solidFill>
                  <a:srgbClr val="FFFFFF"/>
                </a:solidFill>
                <a:latin typeface="Avenir Next"/>
              </a:defRPr>
            </a:pPr>
            <a:r>
              <a:t>MPI</a:t>
            </a:r>
          </a:p>
        </p:txBody>
      </p:sp>
      <p:sp>
        <p:nvSpPr>
          <p:cNvPr id="32" name="Rounded Rectangle 31"/>
          <p:cNvSpPr/>
          <p:nvPr/>
        </p:nvSpPr>
        <p:spPr>
          <a:xfrm>
            <a:off x="9692640" y="4224528"/>
            <a:ext cx="1417320" cy="54864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50" b="1">
                <a:solidFill>
                  <a:srgbClr val="FFFFFF"/>
                </a:solidFill>
                <a:latin typeface="Avenir Next"/>
              </a:defRPr>
            </a:pPr>
            <a:r>
              <a:t>GPU</a:t>
            </a:r>
          </a:p>
        </p:txBody>
      </p:sp>
      <p:sp>
        <p:nvSpPr>
          <p:cNvPr id="33" name="TextBox 32"/>
          <p:cNvSpPr txBox="1"/>
          <p:nvPr/>
        </p:nvSpPr>
        <p:spPr>
          <a:xfrm>
            <a:off x="6492240" y="4983480"/>
            <a:ext cx="4937760" cy="1188720"/>
          </a:xfrm>
          <a:prstGeom prst="rect">
            <a:avLst/>
          </a:prstGeom>
          <a:noFill/>
        </p:spPr>
        <p:txBody>
          <a:bodyPr wrap="square" anchor="t">
            <a:spAutoFit/>
          </a:bodyPr>
          <a:lstStyle/>
          <a:p>
            <a:pPr algn="l">
              <a:defRPr sz="1350" b="1">
                <a:solidFill>
                  <a:srgbClr val="0D9488"/>
                </a:solidFill>
                <a:latin typeface="Avenir Next"/>
              </a:defRPr>
            </a:pPr>
            <a:r>
              <a:t>You see exactly one lane.</a:t>
            </a:r>
          </a:p>
          <a:p>
            <a:pPr algn="l">
              <a:defRPr sz="1250" b="0">
                <a:solidFill>
                  <a:srgbClr val="64748B"/>
                </a:solidFill>
                <a:latin typeface="Avenir Next"/>
              </a:defRPr>
            </a:pPr>
            <a:r>
              <a:t>GPU is a complete MPI-capable lane when the selected toolchain supports it ·</a:t>
            </a:r>
          </a:p>
          <a:p>
            <a:pPr algn="l">
              <a:defRPr sz="1250" b="0">
                <a:solidFill>
                  <a:srgbClr val="64748B"/>
                </a:solidFill>
                <a:latin typeface="Avenir Next"/>
              </a:defRPr>
            </a:pPr>
            <a:r>
              <a:t>package modules prevent incompatible version mixes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VALIDATION · PRODUCTION PRIOR ART</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The shape everyone converges on</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00200"/>
            <a:ext cx="3611880" cy="35661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36118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3200400" cy="502920"/>
          </a:xfrm>
          <a:prstGeom prst="rect">
            <a:avLst/>
          </a:prstGeom>
          <a:noFill/>
        </p:spPr>
        <p:txBody>
          <a:bodyPr wrap="square" anchor="t">
            <a:spAutoFit/>
          </a:bodyPr>
          <a:lstStyle/>
          <a:p>
            <a:pPr algn="l">
              <a:defRPr sz="1450" b="1">
                <a:solidFill>
                  <a:srgbClr val="0F172A"/>
                </a:solidFill>
                <a:latin typeface="Avenir Next"/>
              </a:defRPr>
            </a:pPr>
            <a:r>
              <a:t>NASA JSC  ·  Flight Sciences Lab</a:t>
            </a:r>
          </a:p>
        </p:txBody>
      </p:sp>
      <p:sp>
        <p:nvSpPr>
          <p:cNvPr id="9" name="TextBox 8"/>
          <p:cNvSpPr txBox="1"/>
          <p:nvPr/>
        </p:nvSpPr>
        <p:spPr>
          <a:xfrm>
            <a:off x="777240" y="2395728"/>
            <a:ext cx="3200400" cy="685800"/>
          </a:xfrm>
          <a:prstGeom prst="rect">
            <a:avLst/>
          </a:prstGeom>
          <a:noFill/>
        </p:spPr>
        <p:txBody>
          <a:bodyPr wrap="square" anchor="t">
            <a:spAutoFit/>
          </a:bodyPr>
          <a:lstStyle/>
          <a:p>
            <a:pPr algn="l">
              <a:defRPr sz="1600" b="1">
                <a:solidFill>
                  <a:srgbClr val="2563EB"/>
                </a:solidFill>
                <a:latin typeface="Avenir Next"/>
              </a:defRPr>
            </a:pPr>
            <a:r>
              <a:t>1,000+ packages · 4 compiler suites · 3 MPIs</a:t>
            </a:r>
          </a:p>
        </p:txBody>
      </p:sp>
      <p:sp>
        <p:nvSpPr>
          <p:cNvPr id="10" name="TextBox 9"/>
          <p:cNvSpPr txBox="1"/>
          <p:nvPr/>
        </p:nvSpPr>
        <p:spPr>
          <a:xfrm>
            <a:off x="777240" y="3246120"/>
            <a:ext cx="3200400" cy="1828800"/>
          </a:xfrm>
          <a:prstGeom prst="rect">
            <a:avLst/>
          </a:prstGeom>
          <a:noFill/>
        </p:spPr>
        <p:txBody>
          <a:bodyPr wrap="square" anchor="t">
            <a:spAutoFit/>
          </a:bodyPr>
          <a:lstStyle/>
          <a:p>
            <a:pPr algn="l">
              <a:defRPr sz="1250" b="0">
                <a:solidFill>
                  <a:srgbClr val="334155"/>
                </a:solidFill>
                <a:latin typeface="Avenir Next"/>
              </a:defRPr>
            </a:pPr>
            <a:r>
              <a:t>Lmod hierarchy: Core → Compiler → MPI</a:t>
            </a:r>
          </a:p>
          <a:p>
            <a:pPr algn="l">
              <a:defRPr sz="1250" b="0">
                <a:solidFill>
                  <a:srgbClr val="334155"/>
                </a:solidFill>
                <a:latin typeface="Avenir Next"/>
              </a:defRPr>
            </a:pPr>
            <a:r>
              <a:t>compiler_mixing: false keeps lanes isolated</a:t>
            </a:r>
          </a:p>
          <a:p>
            <a:pPr algn="l">
              <a:defRPr sz="1250" b="0">
                <a:solidFill>
                  <a:srgbClr val="334155"/>
                </a:solidFill>
                <a:latin typeface="Avenir Next"/>
              </a:defRPr>
            </a:pPr>
            <a:r>
              <a:t>“Users never run a spack command.”</a:t>
            </a:r>
          </a:p>
        </p:txBody>
      </p:sp>
      <p:sp>
        <p:nvSpPr>
          <p:cNvPr id="11" name="Rounded Rectangle 10"/>
          <p:cNvSpPr/>
          <p:nvPr/>
        </p:nvSpPr>
        <p:spPr>
          <a:xfrm>
            <a:off x="4370831" y="1600200"/>
            <a:ext cx="3611880" cy="35661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1" y="1600200"/>
            <a:ext cx="36118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1" y="1828800"/>
            <a:ext cx="3200400" cy="502920"/>
          </a:xfrm>
          <a:prstGeom prst="rect">
            <a:avLst/>
          </a:prstGeom>
          <a:noFill/>
        </p:spPr>
        <p:txBody>
          <a:bodyPr wrap="square" anchor="t">
            <a:spAutoFit/>
          </a:bodyPr>
          <a:lstStyle/>
          <a:p>
            <a:pPr algn="l">
              <a:defRPr sz="1450" b="1">
                <a:solidFill>
                  <a:srgbClr val="0F172A"/>
                </a:solidFill>
                <a:latin typeface="Avenir Next"/>
              </a:defRPr>
            </a:pPr>
            <a:r>
              <a:t>ALCF  ·  Polaris Spack PE</a:t>
            </a:r>
          </a:p>
        </p:txBody>
      </p:sp>
      <p:sp>
        <p:nvSpPr>
          <p:cNvPr id="14" name="TextBox 13"/>
          <p:cNvSpPr txBox="1"/>
          <p:nvPr/>
        </p:nvSpPr>
        <p:spPr>
          <a:xfrm>
            <a:off x="4599431" y="2395728"/>
            <a:ext cx="3200400" cy="685800"/>
          </a:xfrm>
          <a:prstGeom prst="rect">
            <a:avLst/>
          </a:prstGeom>
          <a:noFill/>
        </p:spPr>
        <p:txBody>
          <a:bodyPr wrap="square" anchor="t">
            <a:spAutoFit/>
          </a:bodyPr>
          <a:lstStyle/>
          <a:p>
            <a:pPr algn="l">
              <a:defRPr sz="1600" b="1">
                <a:solidFill>
                  <a:srgbClr val="7C3AED"/>
                </a:solidFill>
                <a:latin typeface="Avenir Next"/>
              </a:defRPr>
            </a:pPr>
            <a:r>
              <a:t>spack-pe-base + spack-pe-gnu</a:t>
            </a:r>
          </a:p>
        </p:txBody>
      </p:sp>
      <p:sp>
        <p:nvSpPr>
          <p:cNvPr id="15" name="TextBox 14"/>
          <p:cNvSpPr txBox="1"/>
          <p:nvPr/>
        </p:nvSpPr>
        <p:spPr>
          <a:xfrm>
            <a:off x="4599431" y="3246120"/>
            <a:ext cx="3200400" cy="1828800"/>
          </a:xfrm>
          <a:prstGeom prst="rect">
            <a:avLst/>
          </a:prstGeom>
          <a:noFill/>
        </p:spPr>
        <p:txBody>
          <a:bodyPr wrap="square" anchor="t">
            <a:spAutoFit/>
          </a:bodyPr>
          <a:lstStyle/>
          <a:p>
            <a:pPr algn="l">
              <a:defRPr sz="1250" b="0">
                <a:solidFill>
                  <a:srgbClr val="334155"/>
                </a:solidFill>
                <a:latin typeface="Avenir Next"/>
              </a:defRPr>
            </a:pPr>
            <a:r>
              <a:t>Base built once with system GCC, PE-agnostic</a:t>
            </a:r>
          </a:p>
          <a:p>
            <a:pPr algn="l">
              <a:defRPr sz="1250" b="0">
                <a:solidFill>
                  <a:srgbClr val="334155"/>
                </a:solidFill>
                <a:latin typeface="Avenir Next"/>
              </a:defRPr>
            </a:pPr>
            <a:r>
              <a:t>Meta-module gates MODULEPATH</a:t>
            </a:r>
          </a:p>
          <a:p>
            <a:pPr algn="l">
              <a:defRPr sz="1250" b="0">
                <a:solidFill>
                  <a:srgbClr val="334155"/>
                </a:solidFill>
                <a:latin typeface="Avenir Next"/>
              </a:defRPr>
            </a:pPr>
            <a:r>
              <a:t>Packages appear only after the stack loads</a:t>
            </a:r>
          </a:p>
        </p:txBody>
      </p:sp>
      <p:sp>
        <p:nvSpPr>
          <p:cNvPr id="16" name="Rounded Rectangle 15"/>
          <p:cNvSpPr/>
          <p:nvPr/>
        </p:nvSpPr>
        <p:spPr>
          <a:xfrm>
            <a:off x="8193023" y="1600200"/>
            <a:ext cx="3611880" cy="35661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93023" y="1600200"/>
            <a:ext cx="3611880"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21624" y="1828800"/>
            <a:ext cx="3200400" cy="502920"/>
          </a:xfrm>
          <a:prstGeom prst="rect">
            <a:avLst/>
          </a:prstGeom>
          <a:noFill/>
        </p:spPr>
        <p:txBody>
          <a:bodyPr wrap="square" anchor="t">
            <a:spAutoFit/>
          </a:bodyPr>
          <a:lstStyle/>
          <a:p>
            <a:pPr algn="l">
              <a:defRPr sz="1450" b="1">
                <a:solidFill>
                  <a:srgbClr val="0F172A"/>
                </a:solidFill>
                <a:latin typeface="Avenir Next"/>
              </a:defRPr>
            </a:pPr>
            <a:r>
              <a:t>Spack project  ·  E4S / HPSF</a:t>
            </a:r>
          </a:p>
        </p:txBody>
      </p:sp>
      <p:sp>
        <p:nvSpPr>
          <p:cNvPr id="19" name="TextBox 18"/>
          <p:cNvSpPr txBox="1"/>
          <p:nvPr/>
        </p:nvSpPr>
        <p:spPr>
          <a:xfrm>
            <a:off x="8421624" y="2395728"/>
            <a:ext cx="3200400" cy="685800"/>
          </a:xfrm>
          <a:prstGeom prst="rect">
            <a:avLst/>
          </a:prstGeom>
          <a:noFill/>
        </p:spPr>
        <p:txBody>
          <a:bodyPr wrap="square" anchor="t">
            <a:spAutoFit/>
          </a:bodyPr>
          <a:lstStyle/>
          <a:p>
            <a:pPr algn="l">
              <a:defRPr sz="1600" b="1">
                <a:solidFill>
                  <a:srgbClr val="0D9488"/>
                </a:solidFill>
                <a:latin typeface="Avenir Next"/>
              </a:defRPr>
            </a:pPr>
            <a:r>
              <a:t>Incremental concretization</a:t>
            </a:r>
          </a:p>
        </p:txBody>
      </p:sp>
      <p:sp>
        <p:nvSpPr>
          <p:cNvPr id="20" name="TextBox 19"/>
          <p:cNvSpPr txBox="1"/>
          <p:nvPr/>
        </p:nvSpPr>
        <p:spPr>
          <a:xfrm>
            <a:off x="8421624" y="3246120"/>
            <a:ext cx="3200400" cy="1828800"/>
          </a:xfrm>
          <a:prstGeom prst="rect">
            <a:avLst/>
          </a:prstGeom>
          <a:noFill/>
        </p:spPr>
        <p:txBody>
          <a:bodyPr wrap="square" anchor="t">
            <a:spAutoFit/>
          </a:bodyPr>
          <a:lstStyle/>
          <a:p>
            <a:pPr algn="l">
              <a:defRPr sz="1250" b="0">
                <a:solidFill>
                  <a:srgbClr val="334155"/>
                </a:solidFill>
                <a:latin typeface="Avenir Next"/>
              </a:defRPr>
            </a:pPr>
            <a:r>
              <a:t>Foundation → GPU/MPI/Python → integrations</a:t>
            </a:r>
          </a:p>
          <a:p>
            <a:pPr algn="l">
              <a:defRPr sz="1250" b="0">
                <a:solidFill>
                  <a:srgbClr val="334155"/>
                </a:solidFill>
                <a:latin typeface="Avenir Next"/>
              </a:defRPr>
            </a:pPr>
            <a:r>
              <a:t>Flat 270-spec environments hang the solver</a:t>
            </a:r>
          </a:p>
          <a:p>
            <a:pPr algn="l">
              <a:defRPr sz="1250" b="0">
                <a:solidFill>
                  <a:srgbClr val="334155"/>
                </a:solidFill>
                <a:latin typeface="Avenir Next"/>
              </a:defRPr>
            </a:pPr>
            <a:r>
              <a:t>Build caches are load-bearing, not optional</a:t>
            </a:r>
          </a:p>
        </p:txBody>
      </p:sp>
      <p:sp>
        <p:nvSpPr>
          <p:cNvPr id="21" name="Rounded Rectangle 20"/>
          <p:cNvSpPr/>
          <p:nvPr/>
        </p:nvSpPr>
        <p:spPr>
          <a:xfrm>
            <a:off x="548640" y="5486400"/>
            <a:ext cx="11091672" cy="56692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400" b="1">
                <a:solidFill>
                  <a:srgbClr val="0F172A"/>
                </a:solidFill>
                <a:latin typeface="Avenir Next"/>
              </a:defRPr>
            </a:pPr>
            <a:r>
              <a:t>Base built once  →  isolated per-compiler/MPI fan-out  →  modules are the user contract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SCHEMATIC · GENERATED, NOT HAND-CURATED</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How a stack is built</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2057400" cy="960120"/>
          </a:xfrm>
          <a:prstGeom prst="roundRect">
            <a:avLst/>
          </a:prstGeom>
          <a:solidFill>
            <a:srgbClr val="F1F5F9"/>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0F172A"/>
                </a:solidFill>
                <a:latin typeface="Avenir Next"/>
              </a:defRPr>
            </a:pPr>
            <a:r>
              <a:t>PROBE</a:t>
            </a:r>
          </a:p>
          <a:p>
            <a:pPr algn="ctr">
              <a:defRPr sz="1100" b="0">
                <a:solidFill>
                  <a:srgbClr val="64748B"/>
                </a:solidFill>
                <a:latin typeface="Avenir Next"/>
              </a:defRPr>
            </a:pPr>
            <a:r>
              <a:t>record the system's</a:t>
            </a:r>
          </a:p>
          <a:p>
            <a:pPr algn="ctr">
              <a:defRPr sz="1100" b="0">
                <a:solidFill>
                  <a:srgbClr val="64748B"/>
                </a:solidFill>
                <a:latin typeface="Avenir Next"/>
              </a:defRPr>
            </a:pPr>
            <a:r>
              <a:t>facts, once</a:t>
            </a:r>
          </a:p>
        </p:txBody>
      </p:sp>
      <p:cxnSp>
        <p:nvCxnSpPr>
          <p:cNvPr id="7" name="Connector 6"/>
          <p:cNvCxnSpPr/>
          <p:nvPr/>
        </p:nvCxnSpPr>
        <p:spPr>
          <a:xfrm>
            <a:off x="2624328" y="2121408"/>
            <a:ext cx="210312" cy="0"/>
          </a:xfrm>
          <a:prstGeom prst="line">
            <a:avLst/>
          </a:prstGeom>
          <a:ln w="28575">
            <a:solidFill>
              <a:srgbClr val="0D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52928" y="1645920"/>
            <a:ext cx="2057400" cy="960120"/>
          </a:xfrm>
          <a:prstGeom prst="roundRect">
            <a:avLst/>
          </a:prstGeom>
          <a:solidFill>
            <a:srgbClr val="F1F5F9"/>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0F172A"/>
                </a:solidFill>
                <a:latin typeface="Avenir Next"/>
              </a:defRPr>
            </a:pPr>
            <a:r>
              <a:t>POLICY</a:t>
            </a:r>
          </a:p>
          <a:p>
            <a:pPr algn="ctr">
              <a:defRPr sz="1100" b="0">
                <a:solidFill>
                  <a:srgbClr val="64748B"/>
                </a:solidFill>
                <a:latin typeface="Avenir Next"/>
              </a:defRPr>
            </a:pPr>
            <a:r>
              <a:t>one small site</a:t>
            </a:r>
          </a:p>
          <a:p>
            <a:pPr algn="ctr">
              <a:defRPr sz="1100" b="0">
                <a:solidFill>
                  <a:srgbClr val="64748B"/>
                </a:solidFill>
                <a:latin typeface="Avenir Next"/>
              </a:defRPr>
            </a:pPr>
            <a:r>
              <a:t>defaults file</a:t>
            </a:r>
          </a:p>
        </p:txBody>
      </p:sp>
      <p:cxnSp>
        <p:nvCxnSpPr>
          <p:cNvPr id="9" name="Connector 8"/>
          <p:cNvCxnSpPr/>
          <p:nvPr/>
        </p:nvCxnSpPr>
        <p:spPr>
          <a:xfrm>
            <a:off x="4928616" y="2121408"/>
            <a:ext cx="210312" cy="0"/>
          </a:xfrm>
          <a:prstGeom prst="line">
            <a:avLst/>
          </a:prstGeom>
          <a:ln w="28575">
            <a:solidFill>
              <a:srgbClr val="0D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57216" y="1645920"/>
            <a:ext cx="2057400" cy="960120"/>
          </a:xfrm>
          <a:prstGeom prst="roundRect">
            <a:avLst/>
          </a:prstGeom>
          <a:solidFill>
            <a:srgbClr val="F1F5F9"/>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0F172A"/>
                </a:solidFill>
                <a:latin typeface="Avenir Next"/>
              </a:defRPr>
            </a:pPr>
            <a:r>
              <a:t>RENDER</a:t>
            </a:r>
          </a:p>
          <a:p>
            <a:pPr algn="ctr">
              <a:defRPr sz="1100" b="0">
                <a:solidFill>
                  <a:srgbClr val="64748B"/>
                </a:solidFill>
                <a:latin typeface="Avenir Next"/>
              </a:defRPr>
            </a:pPr>
            <a:r>
              <a:t>derive every lane's</a:t>
            </a:r>
          </a:p>
          <a:p>
            <a:pPr algn="ctr">
              <a:defRPr sz="1100" b="0">
                <a:solidFill>
                  <a:srgbClr val="64748B"/>
                </a:solidFill>
                <a:latin typeface="Avenir Next"/>
              </a:defRPr>
            </a:pPr>
            <a:r>
              <a:t>build input</a:t>
            </a:r>
          </a:p>
        </p:txBody>
      </p:sp>
      <p:cxnSp>
        <p:nvCxnSpPr>
          <p:cNvPr id="11" name="Connector 10"/>
          <p:cNvCxnSpPr/>
          <p:nvPr/>
        </p:nvCxnSpPr>
        <p:spPr>
          <a:xfrm>
            <a:off x="7232904" y="2121408"/>
            <a:ext cx="210312" cy="0"/>
          </a:xfrm>
          <a:prstGeom prst="line">
            <a:avLst/>
          </a:prstGeom>
          <a:ln w="28575">
            <a:solidFill>
              <a:srgbClr val="0D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61504" y="1645920"/>
            <a:ext cx="2057400" cy="960120"/>
          </a:xfrm>
          <a:prstGeom prst="roundRect">
            <a:avLst/>
          </a:prstGeom>
          <a:solidFill>
            <a:srgbClr val="F1F5F9"/>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0F172A"/>
                </a:solidFill>
                <a:latin typeface="Avenir Next"/>
              </a:defRPr>
            </a:pPr>
            <a:r>
              <a:t>BUILD</a:t>
            </a:r>
          </a:p>
          <a:p>
            <a:pPr algn="ctr">
              <a:defRPr sz="1100" b="0">
                <a:solidFill>
                  <a:srgbClr val="64748B"/>
                </a:solidFill>
                <a:latin typeface="Avenir Next"/>
              </a:defRPr>
            </a:pPr>
            <a:r>
              <a:t>Spack · lanes build</a:t>
            </a:r>
          </a:p>
          <a:p>
            <a:pPr algn="ctr">
              <a:defRPr sz="1100" b="0">
                <a:solidFill>
                  <a:srgbClr val="64748B"/>
                </a:solidFill>
                <a:latin typeface="Avenir Next"/>
              </a:defRPr>
            </a:pPr>
            <a:r>
              <a:t>in parallel</a:t>
            </a:r>
          </a:p>
        </p:txBody>
      </p:sp>
      <p:cxnSp>
        <p:nvCxnSpPr>
          <p:cNvPr id="13" name="Connector 12"/>
          <p:cNvCxnSpPr/>
          <p:nvPr/>
        </p:nvCxnSpPr>
        <p:spPr>
          <a:xfrm>
            <a:off x="9537192" y="2121408"/>
            <a:ext cx="210312" cy="0"/>
          </a:xfrm>
          <a:prstGeom prst="line">
            <a:avLst/>
          </a:prstGeom>
          <a:ln w="28575">
            <a:solidFill>
              <a:srgbClr val="0D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765792" y="1645920"/>
            <a:ext cx="2057400" cy="960120"/>
          </a:xfrm>
          <a:prstGeom prst="roundRect">
            <a:avLst/>
          </a:prstGeom>
          <a:solidFill>
            <a:srgbClr val="F1F5F9"/>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0F172A"/>
                </a:solidFill>
                <a:latin typeface="Avenir Next"/>
              </a:defRPr>
            </a:pPr>
            <a:r>
              <a:t>PUBLISH</a:t>
            </a:r>
          </a:p>
          <a:p>
            <a:pPr algn="ctr">
              <a:defRPr sz="1100" b="0">
                <a:solidFill>
                  <a:srgbClr val="64748B"/>
                </a:solidFill>
                <a:latin typeface="Avenir Next"/>
              </a:defRPr>
            </a:pPr>
            <a:r>
              <a:t>modules · views</a:t>
            </a:r>
          </a:p>
          <a:p>
            <a:pPr algn="ctr">
              <a:defRPr sz="1100" b="0">
                <a:solidFill>
                  <a:srgbClr val="64748B"/>
                </a:solidFill>
                <a:latin typeface="Avenir Next"/>
              </a:defRPr>
            </a:pPr>
            <a:r>
              <a:t>build caches</a:t>
            </a:r>
          </a:p>
        </p:txBody>
      </p:sp>
      <p:sp>
        <p:nvSpPr>
          <p:cNvPr id="15" name="Rounded Rectangle 14"/>
          <p:cNvSpPr/>
          <p:nvPr/>
        </p:nvSpPr>
        <p:spPr>
          <a:xfrm>
            <a:off x="2148840" y="3108960"/>
            <a:ext cx="7863840" cy="685800"/>
          </a:xfrm>
          <a:prstGeom prst="roundRect">
            <a:avLst/>
          </a:prstGeom>
          <a:solidFill>
            <a:srgbClr val="FFFFFF"/>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450" b="1">
                <a:solidFill>
                  <a:srgbClr val="0F172A"/>
                </a:solidFill>
                <a:latin typeface="Avenir Next"/>
              </a:defRPr>
            </a:pPr>
            <a:r>
              <a:t>Core + Foundation: built once per compiler surface, portable target</a:t>
            </a:r>
          </a:p>
          <a:p>
            <a:pPr algn="ctr">
              <a:defRPr sz="1150" b="0">
                <a:solidFill>
                  <a:srgbClr val="64748B"/>
                </a:solidFill>
                <a:latin typeface="Avenir Next"/>
              </a:defRPr>
            </a:pPr>
            <a:r>
              <a:t>cmake · python · miniforge   |   zlib · xz · zstd (single pinned version)</a:t>
            </a:r>
          </a:p>
        </p:txBody>
      </p:sp>
      <p:cxnSp>
        <p:nvCxnSpPr>
          <p:cNvPr id="16" name="Connector 15"/>
          <p:cNvCxnSpPr/>
          <p:nvPr/>
        </p:nvCxnSpPr>
        <p:spPr>
          <a:xfrm flipH="1">
            <a:off x="2880360" y="3794760"/>
            <a:ext cx="3200400" cy="548640"/>
          </a:xfrm>
          <a:prstGeom prst="line">
            <a:avLst/>
          </a:prstGeom>
          <a:ln w="28575">
            <a:solidFill>
              <a:srgbClr val="D9770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71600" y="4343400"/>
            <a:ext cx="3017520" cy="8686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450" b="1">
                <a:solidFill>
                  <a:srgbClr val="FFFFFF"/>
                </a:solidFill>
                <a:latin typeface="Avenir Next"/>
              </a:defRPr>
            </a:pPr>
            <a:r>
              <a:t>Serial</a:t>
            </a:r>
          </a:p>
          <a:p>
            <a:pPr algn="ctr">
              <a:defRPr sz="1100" b="0">
                <a:solidFill>
                  <a:srgbClr val="FFFFFF"/>
                </a:solidFill>
                <a:latin typeface="Avenir Next"/>
              </a:defRPr>
            </a:pPr>
            <a:r>
              <a:t>non-MPI hdf5 · fftw · boost, plus common BLAS/LAPACK</a:t>
            </a:r>
          </a:p>
        </p:txBody>
      </p:sp>
      <p:cxnSp>
        <p:nvCxnSpPr>
          <p:cNvPr id="18" name="Connector 17"/>
          <p:cNvCxnSpPr/>
          <p:nvPr/>
        </p:nvCxnSpPr>
        <p:spPr>
          <a:xfrm>
            <a:off x="6080760" y="3794760"/>
            <a:ext cx="91440" cy="548640"/>
          </a:xfrm>
          <a:prstGeom prst="line">
            <a:avLst/>
          </a:prstGeom>
          <a:ln w="28575">
            <a:solidFill>
              <a:srgbClr val="2563E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663440" y="4343400"/>
            <a:ext cx="3017520" cy="86868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450" b="1">
                <a:solidFill>
                  <a:srgbClr val="FFFFFF"/>
                </a:solidFill>
                <a:latin typeface="Avenir Next"/>
              </a:defRPr>
            </a:pPr>
            <a:r>
              <a:t>MPI</a:t>
            </a:r>
          </a:p>
          <a:p>
            <a:pPr algn="ctr">
              <a:defRPr sz="1100" b="0">
                <a:solidFill>
                  <a:srgbClr val="FFFFFF"/>
                </a:solidFill>
                <a:latin typeface="Avenir Next"/>
              </a:defRPr>
            </a:pPr>
            <a:r>
              <a:t>Cray MPICH · hdf5+mpi · fftw+mpi · tau · dakota</a:t>
            </a:r>
          </a:p>
        </p:txBody>
      </p:sp>
      <p:cxnSp>
        <p:nvCxnSpPr>
          <p:cNvPr id="20" name="Connector 19"/>
          <p:cNvCxnSpPr/>
          <p:nvPr/>
        </p:nvCxnSpPr>
        <p:spPr>
          <a:xfrm>
            <a:off x="6080760" y="3794760"/>
            <a:ext cx="3383280" cy="548640"/>
          </a:xfrm>
          <a:prstGeom prst="line">
            <a:avLst/>
          </a:prstGeom>
          <a:ln w="28575">
            <a:solidFill>
              <a:srgbClr val="7C3AE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955279" y="4343400"/>
            <a:ext cx="301752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450" b="1">
                <a:solidFill>
                  <a:srgbClr val="FFFFFF"/>
                </a:solidFill>
                <a:latin typeface="Avenir Next"/>
              </a:defRPr>
            </a:pPr>
            <a:r>
              <a:t>GPU</a:t>
            </a:r>
          </a:p>
          <a:p>
            <a:pPr algn="ctr">
              <a:defRPr sz="1100" b="0">
                <a:solidFill>
                  <a:srgbClr val="FFFFFF"/>
                </a:solidFill>
                <a:latin typeface="Avenir Next"/>
              </a:defRPr>
            </a:pPr>
            <a:r>
              <a:t>the MPI roster plus kokkos · rocm/cuda arch from the probe</a:t>
            </a:r>
          </a:p>
        </p:txBody>
      </p:sp>
      <p:sp>
        <p:nvSpPr>
          <p:cNvPr id="22" name="TextBox 21"/>
          <p:cNvSpPr txBox="1"/>
          <p:nvPr/>
        </p:nvSpPr>
        <p:spPr>
          <a:xfrm>
            <a:off x="548640" y="5623560"/>
            <a:ext cx="11064240" cy="822960"/>
          </a:xfrm>
          <a:prstGeom prst="rect">
            <a:avLst/>
          </a:prstGeom>
          <a:noFill/>
        </p:spPr>
        <p:txBody>
          <a:bodyPr wrap="square" anchor="t">
            <a:spAutoFit/>
          </a:bodyPr>
          <a:lstStyle/>
          <a:p>
            <a:pPr algn="l">
              <a:defRPr sz="1400" b="1">
                <a:solidFill>
                  <a:srgbClr val="0D9488"/>
                </a:solidFill>
                <a:latin typeface="Avenir Next"/>
              </a:defRPr>
            </a:pPr>
            <a:r>
              <a:t>A new system is a probe and a render, not months of curation.</a:t>
            </a:r>
          </a:p>
          <a:p>
            <a:pPr algn="l">
              <a:defRPr sz="1250" b="0">
                <a:solidFill>
                  <a:srgbClr val="64748B"/>
                </a:solidFill>
                <a:latin typeface="Avenir Next"/>
              </a:defRPr>
            </a:pPr>
            <a:r>
              <a:t>The same pipeline produced a Cray EX (MI300A · ROCm) stack and an NVIDIA A100 Linux stack, unchanged.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SCHEMATIC · THE FRONT DOOR</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What a user experiences</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09390" y="1645920"/>
            <a:ext cx="4572000" cy="566928"/>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600" b="1">
                <a:solidFill>
                  <a:srgbClr val="0F172A"/>
                </a:solidFill>
                <a:latin typeface="Avenir Next"/>
              </a:defRPr>
            </a:pPr>
            <a:r>
              <a:t>$ module load cse/GCC</a:t>
            </a:r>
          </a:p>
        </p:txBody>
      </p:sp>
      <p:cxnSp>
        <p:nvCxnSpPr>
          <p:cNvPr id="7" name="Connector 6"/>
          <p:cNvCxnSpPr/>
          <p:nvPr/>
        </p:nvCxnSpPr>
        <p:spPr>
          <a:xfrm>
            <a:off x="6095390" y="2212848"/>
            <a:ext cx="0" cy="365760"/>
          </a:xfrm>
          <a:prstGeom prst="line">
            <a:avLst/>
          </a:prstGeom>
          <a:ln w="28575">
            <a:solidFill>
              <a:srgbClr val="0D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63470" y="2578608"/>
            <a:ext cx="3749039" cy="9144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450" b="1">
                <a:solidFill>
                  <a:srgbClr val="FFFFFF"/>
                </a:solidFill>
                <a:latin typeface="Avenir Next"/>
              </a:defRPr>
            </a:pPr>
            <a:r>
              <a:t>Core: loads automatically</a:t>
            </a:r>
          </a:p>
          <a:p>
            <a:pPr algn="ctr">
              <a:defRPr sz="1150" b="0">
                <a:solidFill>
                  <a:srgbClr val="FFFFFF"/>
                </a:solidFill>
                <a:latin typeface="Avenir Next"/>
              </a:defRPr>
            </a:pPr>
            <a:r>
              <a:t>cmake · python · miniforge · gsl</a:t>
            </a:r>
          </a:p>
        </p:txBody>
      </p:sp>
      <p:sp>
        <p:nvSpPr>
          <p:cNvPr id="9" name="Rounded Rectangle 8"/>
          <p:cNvSpPr/>
          <p:nvPr/>
        </p:nvSpPr>
        <p:spPr>
          <a:xfrm>
            <a:off x="6278270" y="2578608"/>
            <a:ext cx="3749039" cy="9144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450" b="1">
                <a:solidFill>
                  <a:srgbClr val="FFFFFF"/>
                </a:solidFill>
                <a:latin typeface="Avenir Next"/>
              </a:defRPr>
            </a:pPr>
            <a:r>
              <a:t>Foundation: on your paths automatically</a:t>
            </a:r>
          </a:p>
          <a:p>
            <a:pPr algn="ctr">
              <a:defRPr sz="1150" b="0">
                <a:solidFill>
                  <a:srgbClr val="FFFFFF"/>
                </a:solidFill>
                <a:latin typeface="Avenir Next"/>
              </a:defRPr>
            </a:pPr>
            <a:r>
              <a:t>zlib · xz · zstd · one pinned version</a:t>
            </a:r>
          </a:p>
        </p:txBody>
      </p:sp>
      <p:cxnSp>
        <p:nvCxnSpPr>
          <p:cNvPr id="10" name="Connector 9"/>
          <p:cNvCxnSpPr/>
          <p:nvPr/>
        </p:nvCxnSpPr>
        <p:spPr>
          <a:xfrm>
            <a:off x="6095390" y="3493008"/>
            <a:ext cx="0" cy="457200"/>
          </a:xfrm>
          <a:prstGeom prst="line">
            <a:avLst/>
          </a:prstGeom>
          <a:ln w="28575">
            <a:solidFill>
              <a:srgbClr val="0D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09390" y="3950208"/>
            <a:ext cx="4572000" cy="347472"/>
          </a:xfrm>
          <a:prstGeom prst="rect">
            <a:avLst/>
          </a:prstGeom>
          <a:noFill/>
        </p:spPr>
        <p:txBody>
          <a:bodyPr wrap="square" anchor="t">
            <a:spAutoFit/>
          </a:bodyPr>
          <a:lstStyle/>
          <a:p>
            <a:pPr algn="ctr">
              <a:defRPr sz="1250" b="1">
                <a:solidFill>
                  <a:srgbClr val="64748B"/>
                </a:solidFill>
                <a:latin typeface="Avenir Next"/>
              </a:defRPr>
            </a:pPr>
            <a:r>
              <a:t>CHOOSE EXACTLY ONE LANE</a:t>
            </a:r>
          </a:p>
        </p:txBody>
      </p:sp>
      <p:sp>
        <p:nvSpPr>
          <p:cNvPr id="12" name="Rounded Rectangle 11"/>
          <p:cNvSpPr/>
          <p:nvPr/>
        </p:nvSpPr>
        <p:spPr>
          <a:xfrm>
            <a:off x="685800" y="4343400"/>
            <a:ext cx="3474720" cy="9144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FFFFFF"/>
                </a:solidFill>
                <a:latin typeface="Avenir Next"/>
              </a:defRPr>
            </a:pPr>
            <a:r>
              <a:t>Serial</a:t>
            </a:r>
          </a:p>
          <a:p>
            <a:pPr algn="ctr">
              <a:defRPr sz="1150" b="0">
                <a:solidFill>
                  <a:srgbClr val="FFFFFF"/>
                </a:solidFill>
                <a:latin typeface="Avenir Next"/>
              </a:defRPr>
            </a:pPr>
            <a:r>
              <a:t>non-MPI hdf5 · fftw · boost, plus openblas · gnuplot</a:t>
            </a:r>
          </a:p>
        </p:txBody>
      </p:sp>
      <p:sp>
        <p:nvSpPr>
          <p:cNvPr id="13" name="Rounded Rectangle 12"/>
          <p:cNvSpPr/>
          <p:nvPr/>
        </p:nvSpPr>
        <p:spPr>
          <a:xfrm>
            <a:off x="4343400" y="4343400"/>
            <a:ext cx="3474720" cy="91440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FFFFFF"/>
                </a:solidFill>
                <a:latin typeface="Avenir Next"/>
              </a:defRPr>
            </a:pPr>
            <a:r>
              <a:t>MPI</a:t>
            </a:r>
          </a:p>
          <a:p>
            <a:pPr algn="ctr">
              <a:defRPr sz="1150" b="0">
                <a:solidFill>
                  <a:srgbClr val="FFFFFF"/>
                </a:solidFill>
                <a:latin typeface="Avenir Next"/>
              </a:defRPr>
            </a:pPr>
            <a:r>
              <a:t>Cray MPICH · hdf5+mpi · fftw+mpi · boost+mpi · tau</a:t>
            </a:r>
          </a:p>
        </p:txBody>
      </p:sp>
      <p:sp>
        <p:nvSpPr>
          <p:cNvPr id="14" name="Rounded Rectangle 13"/>
          <p:cNvSpPr/>
          <p:nvPr/>
        </p:nvSpPr>
        <p:spPr>
          <a:xfrm>
            <a:off x="8001000" y="4343400"/>
            <a:ext cx="3474720" cy="9144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FFFFFF"/>
                </a:solidFill>
                <a:latin typeface="Avenir Next"/>
              </a:defRPr>
            </a:pPr>
            <a:r>
              <a:t>GPU</a:t>
            </a:r>
          </a:p>
          <a:p>
            <a:pPr algn="ctr">
              <a:defRPr sz="1150" b="0">
                <a:solidFill>
                  <a:srgbClr val="FFFFFF"/>
                </a:solidFill>
                <a:latin typeface="Avenir Next"/>
              </a:defRPr>
            </a:pPr>
            <a:r>
              <a:t>the MPI roster plus kokkos +rocm gfx942</a:t>
            </a:r>
          </a:p>
        </p:txBody>
      </p:sp>
      <p:sp>
        <p:nvSpPr>
          <p:cNvPr id="15" name="Rounded Rectangle 14"/>
          <p:cNvSpPr/>
          <p:nvPr/>
        </p:nvSpPr>
        <p:spPr>
          <a:xfrm>
            <a:off x="685800" y="5577840"/>
            <a:ext cx="10835640" cy="77724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350" b="1">
                <a:solidFill>
                  <a:srgbClr val="0F172A"/>
                </a:solidFill>
                <a:latin typeface="Avenir Next"/>
              </a:defRPr>
            </a:pPr>
            <a:r>
              <a:t>Only the chosen lane is visible; common packages (BLAS/LAPACK, gnuplot) are reachable from every lane.</a:t>
            </a:r>
          </a:p>
          <a:p>
            <a:pPr algn="ctr">
              <a:defRPr sz="1200" b="0">
                <a:solidFill>
                  <a:srgbClr val="64748B"/>
                </a:solidFill>
                <a:latin typeface="Avenir Next"/>
              </a:defRPr>
            </a:pPr>
            <a:r>
              <a:t>Clean module names stay; module metadata blocks incompatible HDF5/NetCDF-style version mixes.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NAMES CARRY FACTS, NOT CONTENTS</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Lane vocabulary</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2743200" cy="32461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2743200" cy="6858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55648"/>
            <a:ext cx="2468880" cy="502920"/>
          </a:xfrm>
          <a:prstGeom prst="rect">
            <a:avLst/>
          </a:prstGeom>
          <a:noFill/>
        </p:spPr>
        <p:txBody>
          <a:bodyPr wrap="square" anchor="t">
            <a:spAutoFit/>
          </a:bodyPr>
          <a:lstStyle/>
          <a:p>
            <a:pPr algn="ctr">
              <a:defRPr sz="1700" b="1">
                <a:solidFill>
                  <a:srgbClr val="FFFFFF"/>
                </a:solidFill>
                <a:latin typeface="Avenir Next"/>
              </a:defRPr>
            </a:pPr>
            <a:r>
              <a:t>Core</a:t>
            </a:r>
          </a:p>
        </p:txBody>
      </p:sp>
      <p:sp>
        <p:nvSpPr>
          <p:cNvPr id="9" name="TextBox 8"/>
          <p:cNvSpPr txBox="1"/>
          <p:nvPr/>
        </p:nvSpPr>
        <p:spPr>
          <a:xfrm>
            <a:off x="749808" y="2514600"/>
            <a:ext cx="2377440" cy="1554480"/>
          </a:xfrm>
          <a:prstGeom prst="rect">
            <a:avLst/>
          </a:prstGeom>
          <a:noFill/>
        </p:spPr>
        <p:txBody>
          <a:bodyPr wrap="square" anchor="t">
            <a:spAutoFit/>
          </a:bodyPr>
          <a:lstStyle/>
          <a:p>
            <a:pPr algn="l">
              <a:defRPr sz="1250" b="0">
                <a:solidFill>
                  <a:srgbClr val="334155"/>
                </a:solidFill>
                <a:latin typeface="Avenir Next"/>
              </a:defRPr>
            </a:pPr>
            <a:r>
              <a:t>Compiler-agnostic building blocks and tools. They load with the surface, before any lane is chosen.</a:t>
            </a:r>
          </a:p>
        </p:txBody>
      </p:sp>
      <p:sp>
        <p:nvSpPr>
          <p:cNvPr id="10" name="TextBox 9"/>
          <p:cNvSpPr txBox="1"/>
          <p:nvPr/>
        </p:nvSpPr>
        <p:spPr>
          <a:xfrm>
            <a:off x="749808" y="4160520"/>
            <a:ext cx="2377440" cy="640080"/>
          </a:xfrm>
          <a:prstGeom prst="rect">
            <a:avLst/>
          </a:prstGeom>
          <a:noFill/>
        </p:spPr>
        <p:txBody>
          <a:bodyPr wrap="square" anchor="t">
            <a:spAutoFit/>
          </a:bodyPr>
          <a:lstStyle/>
          <a:p>
            <a:pPr algn="l">
              <a:defRPr sz="1150" b="0">
                <a:solidFill>
                  <a:srgbClr val="64748B"/>
                </a:solidFill>
                <a:latin typeface="Avenir Next"/>
              </a:defRPr>
            </a:pPr>
            <a:r>
              <a:t>cmake · python · miniforge · gsl · sqlite</a:t>
            </a:r>
          </a:p>
        </p:txBody>
      </p:sp>
      <p:sp>
        <p:nvSpPr>
          <p:cNvPr id="11" name="Rounded Rectangle 10"/>
          <p:cNvSpPr/>
          <p:nvPr/>
        </p:nvSpPr>
        <p:spPr>
          <a:xfrm>
            <a:off x="3493008" y="1645920"/>
            <a:ext cx="2743200" cy="32461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93008" y="1645920"/>
            <a:ext cx="2743200" cy="6858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1755648"/>
            <a:ext cx="2468880" cy="502920"/>
          </a:xfrm>
          <a:prstGeom prst="rect">
            <a:avLst/>
          </a:prstGeom>
          <a:noFill/>
        </p:spPr>
        <p:txBody>
          <a:bodyPr wrap="square" anchor="t">
            <a:spAutoFit/>
          </a:bodyPr>
          <a:lstStyle/>
          <a:p>
            <a:pPr algn="ctr">
              <a:defRPr sz="1700" b="1">
                <a:solidFill>
                  <a:srgbClr val="FFFFFF"/>
                </a:solidFill>
                <a:latin typeface="Avenir Next"/>
              </a:defRPr>
            </a:pPr>
            <a:r>
              <a:t>Serial</a:t>
            </a:r>
          </a:p>
        </p:txBody>
      </p:sp>
      <p:sp>
        <p:nvSpPr>
          <p:cNvPr id="14" name="TextBox 13"/>
          <p:cNvSpPr txBox="1"/>
          <p:nvPr/>
        </p:nvSpPr>
        <p:spPr>
          <a:xfrm>
            <a:off x="3694176" y="2514600"/>
            <a:ext cx="2377440" cy="1554480"/>
          </a:xfrm>
          <a:prstGeom prst="rect">
            <a:avLst/>
          </a:prstGeom>
          <a:noFill/>
        </p:spPr>
        <p:txBody>
          <a:bodyPr wrap="square" anchor="t">
            <a:spAutoFit/>
          </a:bodyPr>
          <a:lstStyle/>
          <a:p>
            <a:pPr algn="l">
              <a:defRPr sz="1250" b="0">
                <a:solidFill>
                  <a:srgbClr val="334155"/>
                </a:solidFill>
                <a:latin typeface="Avenir Next"/>
              </a:defRPr>
            </a:pPr>
            <a:r>
              <a:t>Two classes: non-MPI builds of MPI-capable packages, and common compiler-dependent packages that every lane can load.</a:t>
            </a:r>
          </a:p>
        </p:txBody>
      </p:sp>
      <p:sp>
        <p:nvSpPr>
          <p:cNvPr id="15" name="TextBox 14"/>
          <p:cNvSpPr txBox="1"/>
          <p:nvPr/>
        </p:nvSpPr>
        <p:spPr>
          <a:xfrm>
            <a:off x="3694176" y="4160520"/>
            <a:ext cx="2377440" cy="640080"/>
          </a:xfrm>
          <a:prstGeom prst="rect">
            <a:avLst/>
          </a:prstGeom>
          <a:noFill/>
        </p:spPr>
        <p:txBody>
          <a:bodyPr wrap="square" anchor="t">
            <a:spAutoFit/>
          </a:bodyPr>
          <a:lstStyle/>
          <a:p>
            <a:pPr algn="l">
              <a:defRPr sz="1150" b="0">
                <a:solidFill>
                  <a:srgbClr val="64748B"/>
                </a:solidFill>
                <a:latin typeface="Avenir Next"/>
              </a:defRPr>
            </a:pPr>
            <a:r>
              <a:t>hdf5~mpi · fftw~mpi  |  openblas · gnuplot</a:t>
            </a:r>
          </a:p>
        </p:txBody>
      </p:sp>
      <p:sp>
        <p:nvSpPr>
          <p:cNvPr id="16" name="Rounded Rectangle 15"/>
          <p:cNvSpPr/>
          <p:nvPr/>
        </p:nvSpPr>
        <p:spPr>
          <a:xfrm>
            <a:off x="6437376" y="1645920"/>
            <a:ext cx="2743200" cy="32461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37376" y="1645920"/>
            <a:ext cx="2743200" cy="68580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4536" y="1755648"/>
            <a:ext cx="2468880" cy="502920"/>
          </a:xfrm>
          <a:prstGeom prst="rect">
            <a:avLst/>
          </a:prstGeom>
          <a:noFill/>
        </p:spPr>
        <p:txBody>
          <a:bodyPr wrap="square" anchor="t">
            <a:spAutoFit/>
          </a:bodyPr>
          <a:lstStyle/>
          <a:p>
            <a:pPr algn="ctr">
              <a:defRPr sz="1700" b="1">
                <a:solidFill>
                  <a:srgbClr val="FFFFFF"/>
                </a:solidFill>
                <a:latin typeface="Avenir Next"/>
              </a:defRPr>
            </a:pPr>
            <a:r>
              <a:t>MPI</a:t>
            </a:r>
          </a:p>
        </p:txBody>
      </p:sp>
      <p:sp>
        <p:nvSpPr>
          <p:cNvPr id="19" name="TextBox 18"/>
          <p:cNvSpPr txBox="1"/>
          <p:nvPr/>
        </p:nvSpPr>
        <p:spPr>
          <a:xfrm>
            <a:off x="6638544" y="2514600"/>
            <a:ext cx="2377440" cy="1554480"/>
          </a:xfrm>
          <a:prstGeom prst="rect">
            <a:avLst/>
          </a:prstGeom>
          <a:noFill/>
        </p:spPr>
        <p:txBody>
          <a:bodyPr wrap="square" anchor="t">
            <a:spAutoFit/>
          </a:bodyPr>
          <a:lstStyle/>
          <a:p>
            <a:pPr algn="l">
              <a:defRPr sz="1250" b="0">
                <a:solidFill>
                  <a:srgbClr val="334155"/>
                </a:solidFill>
                <a:latin typeface="Avenir Next"/>
              </a:defRPr>
            </a:pPr>
            <a:r>
              <a:t>Built against the system MPI. Qualified only when the system offers more than one.</a:t>
            </a:r>
          </a:p>
        </p:txBody>
      </p:sp>
      <p:sp>
        <p:nvSpPr>
          <p:cNvPr id="20" name="TextBox 19"/>
          <p:cNvSpPr txBox="1"/>
          <p:nvPr/>
        </p:nvSpPr>
        <p:spPr>
          <a:xfrm>
            <a:off x="6638544" y="4160520"/>
            <a:ext cx="2377440" cy="640080"/>
          </a:xfrm>
          <a:prstGeom prst="rect">
            <a:avLst/>
          </a:prstGeom>
          <a:noFill/>
        </p:spPr>
        <p:txBody>
          <a:bodyPr wrap="square" anchor="t">
            <a:spAutoFit/>
          </a:bodyPr>
          <a:lstStyle/>
          <a:p>
            <a:pPr algn="l">
              <a:defRPr sz="1150" b="0">
                <a:solidFill>
                  <a:srgbClr val="64748B"/>
                </a:solidFill>
                <a:latin typeface="Avenir Next"/>
              </a:defRPr>
            </a:pPr>
            <a:r>
              <a:t>MPI  ·  or MPI-openmpi / MPI-mpich</a:t>
            </a:r>
          </a:p>
        </p:txBody>
      </p:sp>
      <p:sp>
        <p:nvSpPr>
          <p:cNvPr id="21" name="Rounded Rectangle 20"/>
          <p:cNvSpPr/>
          <p:nvPr/>
        </p:nvSpPr>
        <p:spPr>
          <a:xfrm>
            <a:off x="9381744" y="1645920"/>
            <a:ext cx="2743200" cy="32461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81744" y="1645920"/>
            <a:ext cx="2743200" cy="6858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18904" y="1755648"/>
            <a:ext cx="2468880" cy="502920"/>
          </a:xfrm>
          <a:prstGeom prst="rect">
            <a:avLst/>
          </a:prstGeom>
          <a:noFill/>
        </p:spPr>
        <p:txBody>
          <a:bodyPr wrap="square" anchor="t">
            <a:spAutoFit/>
          </a:bodyPr>
          <a:lstStyle/>
          <a:p>
            <a:pPr algn="ctr">
              <a:defRPr sz="1700" b="1">
                <a:solidFill>
                  <a:srgbClr val="FFFFFF"/>
                </a:solidFill>
                <a:latin typeface="Avenir Next"/>
              </a:defRPr>
            </a:pPr>
            <a:r>
              <a:t>GPU</a:t>
            </a:r>
          </a:p>
        </p:txBody>
      </p:sp>
      <p:sp>
        <p:nvSpPr>
          <p:cNvPr id="24" name="TextBox 23"/>
          <p:cNvSpPr txBox="1"/>
          <p:nvPr/>
        </p:nvSpPr>
        <p:spPr>
          <a:xfrm>
            <a:off x="9582912" y="2514600"/>
            <a:ext cx="2377440" cy="1554480"/>
          </a:xfrm>
          <a:prstGeom prst="rect">
            <a:avLst/>
          </a:prstGeom>
          <a:noFill/>
        </p:spPr>
        <p:txBody>
          <a:bodyPr wrap="square" anchor="t">
            <a:spAutoFit/>
          </a:bodyPr>
          <a:lstStyle/>
          <a:p>
            <a:pPr algn="l">
              <a:defRPr sz="1250" b="0">
                <a:solidFill>
                  <a:srgbClr val="334155"/>
                </a:solidFill>
                <a:latin typeface="Avenir Next"/>
              </a:defRPr>
            </a:pPr>
            <a:r>
              <a:t>Carries the full MPI roster plus the GPU payload. Load GPU instead of MPI, not in addition to it.</a:t>
            </a:r>
          </a:p>
        </p:txBody>
      </p:sp>
      <p:sp>
        <p:nvSpPr>
          <p:cNvPr id="25" name="TextBox 24"/>
          <p:cNvSpPr txBox="1"/>
          <p:nvPr/>
        </p:nvSpPr>
        <p:spPr>
          <a:xfrm>
            <a:off x="9582912" y="4160520"/>
            <a:ext cx="2377440" cy="640080"/>
          </a:xfrm>
          <a:prstGeom prst="rect">
            <a:avLst/>
          </a:prstGeom>
          <a:noFill/>
        </p:spPr>
        <p:txBody>
          <a:bodyPr wrap="square" anchor="t">
            <a:spAutoFit/>
          </a:bodyPr>
          <a:lstStyle/>
          <a:p>
            <a:pPr algn="l">
              <a:defRPr sz="1150" b="0">
                <a:solidFill>
                  <a:srgbClr val="64748B"/>
                </a:solidFill>
                <a:latin typeface="Avenir Next"/>
              </a:defRPr>
            </a:pPr>
            <a:r>
              <a:t>GPU  ·  or GPU-gfx90a / GPU-gfx942</a:t>
            </a:r>
          </a:p>
        </p:txBody>
      </p:sp>
      <p:sp>
        <p:nvSpPr>
          <p:cNvPr id="26" name="Rounded Rectangle 25"/>
          <p:cNvSpPr/>
          <p:nvPr/>
        </p:nvSpPr>
        <p:spPr>
          <a:xfrm>
            <a:off x="548640" y="5257800"/>
            <a:ext cx="11091672" cy="56692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400" b="1">
                <a:solidFill>
                  <a:srgbClr val="0F172A"/>
                </a:solidFill>
                <a:latin typeface="Avenir Next"/>
              </a:defRPr>
            </a:pPr>
            <a:r>
              <a:t>Modules: cse/&lt;Compiler&gt;/&lt;Lane&gt;. Short names for users; dependency compatibility is enforced by module metadata.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TWO COMPILER SURFACES · FOUR-SYSTEM VALIDATION</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Pilot scope</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5394960" cy="26517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10512"/>
            <a:ext cx="4937760" cy="457200"/>
          </a:xfrm>
          <a:prstGeom prst="rect">
            <a:avLst/>
          </a:prstGeom>
          <a:noFill/>
        </p:spPr>
        <p:txBody>
          <a:bodyPr wrap="square" anchor="t">
            <a:spAutoFit/>
          </a:bodyPr>
          <a:lstStyle/>
          <a:p>
            <a:pPr algn="l">
              <a:defRPr sz="1600" b="1">
                <a:solidFill>
                  <a:srgbClr val="0F172A"/>
                </a:solidFill>
                <a:latin typeface="Avenir Next"/>
              </a:defRPr>
            </a:pPr>
            <a:r>
              <a:t>cse/&lt;SystemDefault&gt;</a:t>
            </a:r>
          </a:p>
        </p:txBody>
      </p:sp>
      <p:sp>
        <p:nvSpPr>
          <p:cNvPr id="8" name="TextBox 7"/>
          <p:cNvSpPr txBox="1"/>
          <p:nvPr/>
        </p:nvSpPr>
        <p:spPr>
          <a:xfrm>
            <a:off x="777240" y="2286000"/>
            <a:ext cx="4937760" cy="365760"/>
          </a:xfrm>
          <a:prstGeom prst="rect">
            <a:avLst/>
          </a:prstGeom>
          <a:noFill/>
        </p:spPr>
        <p:txBody>
          <a:bodyPr wrap="square" anchor="t">
            <a:spAutoFit/>
          </a:bodyPr>
          <a:lstStyle/>
          <a:p>
            <a:pPr algn="l">
              <a:defRPr sz="1200" b="0">
                <a:solidFill>
                  <a:srgbClr val="64748B"/>
                </a:solidFill>
                <a:latin typeface="Avenir Next"/>
              </a:defRPr>
            </a:pPr>
            <a:r>
              <a:t>whatever the machine blesses as its baseline</a:t>
            </a:r>
          </a:p>
        </p:txBody>
      </p:sp>
      <p:sp>
        <p:nvSpPr>
          <p:cNvPr id="9" name="Rounded Rectangle 8"/>
          <p:cNvSpPr/>
          <p:nvPr/>
        </p:nvSpPr>
        <p:spPr>
          <a:xfrm>
            <a:off x="822959" y="2743200"/>
            <a:ext cx="23317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Core (automatic)</a:t>
            </a:r>
          </a:p>
        </p:txBody>
      </p:sp>
      <p:sp>
        <p:nvSpPr>
          <p:cNvPr id="10" name="Rounded Rectangle 9"/>
          <p:cNvSpPr/>
          <p:nvPr/>
        </p:nvSpPr>
        <p:spPr>
          <a:xfrm>
            <a:off x="3291840" y="2743200"/>
            <a:ext cx="2331720" cy="50292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Foundation (on the path)</a:t>
            </a:r>
          </a:p>
        </p:txBody>
      </p:sp>
      <p:sp>
        <p:nvSpPr>
          <p:cNvPr id="11" name="Rounded Rectangle 10"/>
          <p:cNvSpPr/>
          <p:nvPr/>
        </p:nvSpPr>
        <p:spPr>
          <a:xfrm>
            <a:off x="822959" y="3401568"/>
            <a:ext cx="1508760" cy="566928"/>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Serial</a:t>
            </a:r>
          </a:p>
        </p:txBody>
      </p:sp>
      <p:sp>
        <p:nvSpPr>
          <p:cNvPr id="12" name="Rounded Rectangle 11"/>
          <p:cNvSpPr/>
          <p:nvPr/>
        </p:nvSpPr>
        <p:spPr>
          <a:xfrm>
            <a:off x="2468880" y="3401568"/>
            <a:ext cx="1508760" cy="56692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MPI</a:t>
            </a:r>
          </a:p>
        </p:txBody>
      </p:sp>
      <p:sp>
        <p:nvSpPr>
          <p:cNvPr id="13" name="Rounded Rectangle 12"/>
          <p:cNvSpPr/>
          <p:nvPr/>
        </p:nvSpPr>
        <p:spPr>
          <a:xfrm>
            <a:off x="4114800" y="3401568"/>
            <a:ext cx="1508760" cy="56692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GPU</a:t>
            </a:r>
          </a:p>
        </p:txBody>
      </p:sp>
      <p:sp>
        <p:nvSpPr>
          <p:cNvPr id="14" name="Rounded Rectangle 13"/>
          <p:cNvSpPr/>
          <p:nvPr/>
        </p:nvSpPr>
        <p:spPr>
          <a:xfrm>
            <a:off x="6263640" y="1645920"/>
            <a:ext cx="5394960" cy="26517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810512"/>
            <a:ext cx="4937760" cy="457200"/>
          </a:xfrm>
          <a:prstGeom prst="rect">
            <a:avLst/>
          </a:prstGeom>
          <a:noFill/>
        </p:spPr>
        <p:txBody>
          <a:bodyPr wrap="square" anchor="t">
            <a:spAutoFit/>
          </a:bodyPr>
          <a:lstStyle/>
          <a:p>
            <a:pPr algn="l">
              <a:defRPr sz="1600" b="1">
                <a:solidFill>
                  <a:srgbClr val="0F172A"/>
                </a:solidFill>
                <a:latin typeface="Avenir Next"/>
              </a:defRPr>
            </a:pPr>
            <a:r>
              <a:t>cse/GCC</a:t>
            </a:r>
          </a:p>
        </p:txBody>
      </p:sp>
      <p:sp>
        <p:nvSpPr>
          <p:cNvPr id="16" name="TextBox 15"/>
          <p:cNvSpPr txBox="1"/>
          <p:nvPr/>
        </p:nvSpPr>
        <p:spPr>
          <a:xfrm>
            <a:off x="6492240" y="2286000"/>
            <a:ext cx="4937760" cy="365760"/>
          </a:xfrm>
          <a:prstGeom prst="rect">
            <a:avLst/>
          </a:prstGeom>
          <a:noFill/>
        </p:spPr>
        <p:txBody>
          <a:bodyPr wrap="square" anchor="t">
            <a:spAutoFit/>
          </a:bodyPr>
          <a:lstStyle/>
          <a:p>
            <a:pPr algn="l">
              <a:defRPr sz="1200" b="0">
                <a:solidFill>
                  <a:srgbClr val="64748B"/>
                </a:solidFill>
                <a:latin typeface="Avenir Next"/>
              </a:defRPr>
            </a:pPr>
            <a:r>
              <a:t>the portable reference surface</a:t>
            </a:r>
          </a:p>
        </p:txBody>
      </p:sp>
      <p:sp>
        <p:nvSpPr>
          <p:cNvPr id="17" name="Rounded Rectangle 16"/>
          <p:cNvSpPr/>
          <p:nvPr/>
        </p:nvSpPr>
        <p:spPr>
          <a:xfrm>
            <a:off x="6537959" y="2743200"/>
            <a:ext cx="23317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Core (automatic)</a:t>
            </a:r>
          </a:p>
        </p:txBody>
      </p:sp>
      <p:sp>
        <p:nvSpPr>
          <p:cNvPr id="18" name="Rounded Rectangle 17"/>
          <p:cNvSpPr/>
          <p:nvPr/>
        </p:nvSpPr>
        <p:spPr>
          <a:xfrm>
            <a:off x="9006840" y="2743200"/>
            <a:ext cx="2331720" cy="50292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Foundation (on the path)</a:t>
            </a:r>
          </a:p>
        </p:txBody>
      </p:sp>
      <p:sp>
        <p:nvSpPr>
          <p:cNvPr id="19" name="Rounded Rectangle 18"/>
          <p:cNvSpPr/>
          <p:nvPr/>
        </p:nvSpPr>
        <p:spPr>
          <a:xfrm>
            <a:off x="6537959" y="3401568"/>
            <a:ext cx="1508760" cy="566928"/>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Serial</a:t>
            </a:r>
          </a:p>
        </p:txBody>
      </p:sp>
      <p:sp>
        <p:nvSpPr>
          <p:cNvPr id="20" name="Rounded Rectangle 19"/>
          <p:cNvSpPr/>
          <p:nvPr/>
        </p:nvSpPr>
        <p:spPr>
          <a:xfrm>
            <a:off x="8183879" y="3401568"/>
            <a:ext cx="1508760" cy="56692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MPI</a:t>
            </a:r>
          </a:p>
        </p:txBody>
      </p:sp>
      <p:sp>
        <p:nvSpPr>
          <p:cNvPr id="21" name="Rounded Rectangle 20"/>
          <p:cNvSpPr/>
          <p:nvPr/>
        </p:nvSpPr>
        <p:spPr>
          <a:xfrm>
            <a:off x="9829800" y="3401568"/>
            <a:ext cx="1508760" cy="56692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1">
                <a:solidFill>
                  <a:srgbClr val="FFFFFF"/>
                </a:solidFill>
                <a:latin typeface="Avenir Next"/>
              </a:defRPr>
            </a:pPr>
            <a:r>
              <a:t>GPU</a:t>
            </a:r>
          </a:p>
        </p:txBody>
      </p:sp>
      <p:sp>
        <p:nvSpPr>
          <p:cNvPr id="22" name="TextBox 21"/>
          <p:cNvSpPr txBox="1"/>
          <p:nvPr/>
        </p:nvSpPr>
        <p:spPr>
          <a:xfrm>
            <a:off x="548640" y="4526280"/>
            <a:ext cx="10972800" cy="365760"/>
          </a:xfrm>
          <a:prstGeom prst="rect">
            <a:avLst/>
          </a:prstGeom>
          <a:noFill/>
        </p:spPr>
        <p:txBody>
          <a:bodyPr wrap="square" anchor="t">
            <a:spAutoFit/>
          </a:bodyPr>
          <a:lstStyle/>
          <a:p>
            <a:pPr algn="l">
              <a:defRPr sz="1300" b="1">
                <a:solidFill>
                  <a:srgbClr val="0F172A"/>
                </a:solidFill>
                <a:latin typeface="Avenir Next"/>
              </a:defRPr>
            </a:pPr>
            <a:r>
              <a:t>Representative roster: newest two supported releases</a:t>
            </a:r>
          </a:p>
        </p:txBody>
      </p:sp>
      <p:sp>
        <p:nvSpPr>
          <p:cNvPr id="23" name="Rounded Rectangle 22"/>
          <p:cNvSpPr/>
          <p:nvPr/>
        </p:nvSpPr>
        <p:spPr>
          <a:xfrm>
            <a:off x="548640" y="493776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HDF5</a:t>
            </a:r>
          </a:p>
        </p:txBody>
      </p:sp>
      <p:sp>
        <p:nvSpPr>
          <p:cNvPr id="24" name="Rounded Rectangle 23"/>
          <p:cNvSpPr/>
          <p:nvPr/>
        </p:nvSpPr>
        <p:spPr>
          <a:xfrm>
            <a:off x="2176272" y="493776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NetCDF-C</a:t>
            </a:r>
          </a:p>
        </p:txBody>
      </p:sp>
      <p:sp>
        <p:nvSpPr>
          <p:cNvPr id="25" name="Rounded Rectangle 24"/>
          <p:cNvSpPr/>
          <p:nvPr/>
        </p:nvSpPr>
        <p:spPr>
          <a:xfrm>
            <a:off x="3803904" y="493776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NetCDF-Fortran</a:t>
            </a:r>
          </a:p>
        </p:txBody>
      </p:sp>
      <p:sp>
        <p:nvSpPr>
          <p:cNvPr id="26" name="Rounded Rectangle 25"/>
          <p:cNvSpPr/>
          <p:nvPr/>
        </p:nvSpPr>
        <p:spPr>
          <a:xfrm>
            <a:off x="5431536" y="493776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NetCDF-C++</a:t>
            </a:r>
          </a:p>
        </p:txBody>
      </p:sp>
      <p:sp>
        <p:nvSpPr>
          <p:cNvPr id="27" name="Rounded Rectangle 26"/>
          <p:cNvSpPr/>
          <p:nvPr/>
        </p:nvSpPr>
        <p:spPr>
          <a:xfrm>
            <a:off x="7059168" y="493776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FFTW</a:t>
            </a:r>
          </a:p>
        </p:txBody>
      </p:sp>
      <p:sp>
        <p:nvSpPr>
          <p:cNvPr id="28" name="Rounded Rectangle 27"/>
          <p:cNvSpPr/>
          <p:nvPr/>
        </p:nvSpPr>
        <p:spPr>
          <a:xfrm>
            <a:off x="8686800" y="493776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OpenBLAS</a:t>
            </a:r>
          </a:p>
        </p:txBody>
      </p:sp>
      <p:sp>
        <p:nvSpPr>
          <p:cNvPr id="29" name="Rounded Rectangle 28"/>
          <p:cNvSpPr/>
          <p:nvPr/>
        </p:nvSpPr>
        <p:spPr>
          <a:xfrm>
            <a:off x="10314432" y="4937760"/>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Boost</a:t>
            </a:r>
          </a:p>
        </p:txBody>
      </p:sp>
      <p:sp>
        <p:nvSpPr>
          <p:cNvPr id="30" name="Rounded Rectangle 29"/>
          <p:cNvSpPr/>
          <p:nvPr/>
        </p:nvSpPr>
        <p:spPr>
          <a:xfrm>
            <a:off x="548640" y="544982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GSL</a:t>
            </a:r>
          </a:p>
        </p:txBody>
      </p:sp>
      <p:sp>
        <p:nvSpPr>
          <p:cNvPr id="31" name="Rounded Rectangle 30"/>
          <p:cNvSpPr/>
          <p:nvPr/>
        </p:nvSpPr>
        <p:spPr>
          <a:xfrm>
            <a:off x="2176272" y="544982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TAU</a:t>
            </a:r>
          </a:p>
        </p:txBody>
      </p:sp>
      <p:sp>
        <p:nvSpPr>
          <p:cNvPr id="32" name="Rounded Rectangle 31"/>
          <p:cNvSpPr/>
          <p:nvPr/>
        </p:nvSpPr>
        <p:spPr>
          <a:xfrm>
            <a:off x="3803904" y="544982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Dakota</a:t>
            </a:r>
          </a:p>
        </p:txBody>
      </p:sp>
      <p:sp>
        <p:nvSpPr>
          <p:cNvPr id="33" name="Rounded Rectangle 32"/>
          <p:cNvSpPr/>
          <p:nvPr/>
        </p:nvSpPr>
        <p:spPr>
          <a:xfrm>
            <a:off x="5431536" y="544982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Kokkos</a:t>
            </a:r>
          </a:p>
        </p:txBody>
      </p:sp>
      <p:sp>
        <p:nvSpPr>
          <p:cNvPr id="34" name="Rounded Rectangle 33"/>
          <p:cNvSpPr/>
          <p:nvPr/>
        </p:nvSpPr>
        <p:spPr>
          <a:xfrm>
            <a:off x="7059168" y="544982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Gnuplot</a:t>
            </a:r>
          </a:p>
        </p:txBody>
      </p:sp>
      <p:sp>
        <p:nvSpPr>
          <p:cNvPr id="35" name="Rounded Rectangle 34"/>
          <p:cNvSpPr/>
          <p:nvPr/>
        </p:nvSpPr>
        <p:spPr>
          <a:xfrm>
            <a:off x="8686800" y="544982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Python</a:t>
            </a:r>
          </a:p>
        </p:txBody>
      </p:sp>
      <p:sp>
        <p:nvSpPr>
          <p:cNvPr id="36" name="Rounded Rectangle 35"/>
          <p:cNvSpPr/>
          <p:nvPr/>
        </p:nvSpPr>
        <p:spPr>
          <a:xfrm>
            <a:off x="10314432" y="5449824"/>
            <a:ext cx="1481328" cy="384048"/>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00" b="0">
                <a:solidFill>
                  <a:srgbClr val="334155"/>
                </a:solidFill>
                <a:latin typeface="Avenir Next"/>
              </a:defRPr>
            </a:pPr>
            <a:r>
              <a:t>Miniforge</a:t>
            </a:r>
          </a:p>
        </p:txBody>
      </p:sp>
      <p:sp>
        <p:nvSpPr>
          <p:cNvPr id="37" name="TextBox 36"/>
          <p:cNvSpPr txBox="1"/>
          <p:nvPr/>
        </p:nvSpPr>
        <p:spPr>
          <a:xfrm>
            <a:off x="548640" y="6080760"/>
            <a:ext cx="11064240" cy="457200"/>
          </a:xfrm>
          <a:prstGeom prst="rect">
            <a:avLst/>
          </a:prstGeom>
          <a:noFill/>
        </p:spPr>
        <p:txBody>
          <a:bodyPr wrap="square" anchor="t">
            <a:spAutoFit/>
          </a:bodyPr>
          <a:lstStyle/>
          <a:p>
            <a:pPr algn="l">
              <a:defRPr sz="1200" b="0">
                <a:solidFill>
                  <a:srgbClr val="64748B"/>
                </a:solidFill>
                <a:latin typeface="Avenir Next"/>
              </a:defRPr>
            </a:pPr>
            <a:r>
              <a:t>Newest-two policy: clean package names · compatible chains load · incompatible mixes fail clearly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TEST MATRIX · BREADTH BY DESIGN</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Four systems will prove the pilot</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27632"/>
            <a:ext cx="5394960" cy="178308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27632"/>
            <a:ext cx="109728"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73936"/>
            <a:ext cx="1920240" cy="365760"/>
          </a:xfrm>
          <a:prstGeom prst="rect">
            <a:avLst/>
          </a:prstGeom>
          <a:noFill/>
        </p:spPr>
        <p:txBody>
          <a:bodyPr wrap="square" anchor="t">
            <a:spAutoFit/>
          </a:bodyPr>
          <a:lstStyle/>
          <a:p>
            <a:pPr algn="l">
              <a:defRPr sz="1700" b="1">
                <a:solidFill>
                  <a:srgbClr val="0F172A"/>
                </a:solidFill>
                <a:latin typeface="Avenir Next"/>
              </a:defRPr>
            </a:pPr>
            <a:r>
              <a:t>Blueback</a:t>
            </a:r>
          </a:p>
        </p:txBody>
      </p:sp>
      <p:sp>
        <p:nvSpPr>
          <p:cNvPr id="9" name="TextBox 8"/>
          <p:cNvSpPr txBox="1"/>
          <p:nvPr/>
        </p:nvSpPr>
        <p:spPr>
          <a:xfrm>
            <a:off x="2697480" y="1801368"/>
            <a:ext cx="2971800" cy="320040"/>
          </a:xfrm>
          <a:prstGeom prst="rect">
            <a:avLst/>
          </a:prstGeom>
          <a:noFill/>
        </p:spPr>
        <p:txBody>
          <a:bodyPr wrap="square" anchor="t">
            <a:spAutoFit/>
          </a:bodyPr>
          <a:lstStyle/>
          <a:p>
            <a:pPr algn="r">
              <a:defRPr sz="1150" b="1">
                <a:solidFill>
                  <a:srgbClr val="7C3AED"/>
                </a:solidFill>
                <a:latin typeface="Avenir Next"/>
              </a:defRPr>
            </a:pPr>
            <a:r>
              <a:t>CRAY PE · AMD APU</a:t>
            </a:r>
          </a:p>
        </p:txBody>
      </p:sp>
      <p:sp>
        <p:nvSpPr>
          <p:cNvPr id="10" name="TextBox 9"/>
          <p:cNvSpPr txBox="1"/>
          <p:nvPr/>
        </p:nvSpPr>
        <p:spPr>
          <a:xfrm>
            <a:off x="822959" y="2221992"/>
            <a:ext cx="4846320" cy="292608"/>
          </a:xfrm>
          <a:prstGeom prst="rect">
            <a:avLst/>
          </a:prstGeom>
          <a:noFill/>
        </p:spPr>
        <p:txBody>
          <a:bodyPr wrap="square" anchor="t">
            <a:spAutoFit/>
          </a:bodyPr>
          <a:lstStyle/>
          <a:p>
            <a:pPr algn="l">
              <a:defRPr sz="1250" b="1">
                <a:solidFill>
                  <a:srgbClr val="334155"/>
                </a:solidFill>
                <a:latin typeface="Avenir Next"/>
              </a:defRPr>
            </a:pPr>
            <a:r>
              <a:t>NAVY · HPE Cray EX4000 · SLES</a:t>
            </a:r>
          </a:p>
        </p:txBody>
      </p:sp>
      <p:sp>
        <p:nvSpPr>
          <p:cNvPr id="11" name="TextBox 10"/>
          <p:cNvSpPr txBox="1"/>
          <p:nvPr/>
        </p:nvSpPr>
        <p:spPr>
          <a:xfrm>
            <a:off x="822959" y="2578608"/>
            <a:ext cx="4846320" cy="274320"/>
          </a:xfrm>
          <a:prstGeom prst="rect">
            <a:avLst/>
          </a:prstGeom>
          <a:noFill/>
        </p:spPr>
        <p:txBody>
          <a:bodyPr wrap="square" anchor="t">
            <a:spAutoFit/>
          </a:bodyPr>
          <a:lstStyle/>
          <a:p>
            <a:pPr algn="l">
              <a:defRPr sz="1200" b="0">
                <a:solidFill>
                  <a:srgbClr val="64748B"/>
                </a:solidFill>
                <a:latin typeface="Avenir Next"/>
              </a:defRPr>
            </a:pPr>
            <a:r>
              <a:t>Standard: AMD EPYC 9654 Genoa, 192 cores</a:t>
            </a:r>
          </a:p>
        </p:txBody>
      </p:sp>
      <p:sp>
        <p:nvSpPr>
          <p:cNvPr id="12" name="TextBox 11"/>
          <p:cNvSpPr txBox="1"/>
          <p:nvPr/>
        </p:nvSpPr>
        <p:spPr>
          <a:xfrm>
            <a:off x="822959" y="2907791"/>
            <a:ext cx="4846320" cy="274320"/>
          </a:xfrm>
          <a:prstGeom prst="rect">
            <a:avLst/>
          </a:prstGeom>
          <a:noFill/>
        </p:spPr>
        <p:txBody>
          <a:bodyPr wrap="square" anchor="t">
            <a:spAutoFit/>
          </a:bodyPr>
          <a:lstStyle/>
          <a:p>
            <a:pPr algn="l">
              <a:defRPr sz="1200" b="0">
                <a:solidFill>
                  <a:srgbClr val="64748B"/>
                </a:solidFill>
                <a:latin typeface="Avenir Next"/>
              </a:defRPr>
            </a:pPr>
            <a:r>
              <a:t>AI/ML: AMD Instinct MI300A APU, 96 cores + 4 × MI300A</a:t>
            </a:r>
          </a:p>
        </p:txBody>
      </p:sp>
      <p:sp>
        <p:nvSpPr>
          <p:cNvPr id="13" name="Rounded Rectangle 12"/>
          <p:cNvSpPr/>
          <p:nvPr/>
        </p:nvSpPr>
        <p:spPr>
          <a:xfrm>
            <a:off x="6263640" y="1627632"/>
            <a:ext cx="5394960" cy="178308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627632"/>
            <a:ext cx="109728" cy="17830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1773936"/>
            <a:ext cx="1920240" cy="365760"/>
          </a:xfrm>
          <a:prstGeom prst="rect">
            <a:avLst/>
          </a:prstGeom>
          <a:noFill/>
        </p:spPr>
        <p:txBody>
          <a:bodyPr wrap="square" anchor="t">
            <a:spAutoFit/>
          </a:bodyPr>
          <a:lstStyle/>
          <a:p>
            <a:pPr algn="l">
              <a:defRPr sz="1700" b="1">
                <a:solidFill>
                  <a:srgbClr val="0F172A"/>
                </a:solidFill>
                <a:latin typeface="Avenir Next"/>
              </a:defRPr>
            </a:pPr>
            <a:r>
              <a:t>Fran</a:t>
            </a:r>
          </a:p>
        </p:txBody>
      </p:sp>
      <p:sp>
        <p:nvSpPr>
          <p:cNvPr id="16" name="TextBox 15"/>
          <p:cNvSpPr txBox="1"/>
          <p:nvPr/>
        </p:nvSpPr>
        <p:spPr>
          <a:xfrm>
            <a:off x="8412480" y="1801368"/>
            <a:ext cx="2971800" cy="320040"/>
          </a:xfrm>
          <a:prstGeom prst="rect">
            <a:avLst/>
          </a:prstGeom>
          <a:noFill/>
        </p:spPr>
        <p:txBody>
          <a:bodyPr wrap="square" anchor="t">
            <a:spAutoFit/>
          </a:bodyPr>
          <a:lstStyle/>
          <a:p>
            <a:pPr algn="r">
              <a:defRPr sz="1150" b="1">
                <a:solidFill>
                  <a:srgbClr val="2563EB"/>
                </a:solidFill>
                <a:latin typeface="Avenir Next"/>
              </a:defRPr>
            </a:pPr>
            <a:r>
              <a:t>SECOND CRAY SITE · NEWEST NVIDIA</a:t>
            </a:r>
          </a:p>
        </p:txBody>
      </p:sp>
      <p:sp>
        <p:nvSpPr>
          <p:cNvPr id="17" name="TextBox 16"/>
          <p:cNvSpPr txBox="1"/>
          <p:nvPr/>
        </p:nvSpPr>
        <p:spPr>
          <a:xfrm>
            <a:off x="6537959" y="2221992"/>
            <a:ext cx="4846320" cy="292608"/>
          </a:xfrm>
          <a:prstGeom prst="rect">
            <a:avLst/>
          </a:prstGeom>
          <a:noFill/>
        </p:spPr>
        <p:txBody>
          <a:bodyPr wrap="square" anchor="t">
            <a:spAutoFit/>
          </a:bodyPr>
          <a:lstStyle/>
          <a:p>
            <a:pPr algn="l">
              <a:defRPr sz="1250" b="1">
                <a:solidFill>
                  <a:srgbClr val="334155"/>
                </a:solidFill>
                <a:latin typeface="Avenir Next"/>
              </a:defRPr>
            </a:pPr>
            <a:r>
              <a:t>ARL · HPE Cray EX4000 · RHEL 9</a:t>
            </a:r>
          </a:p>
        </p:txBody>
      </p:sp>
      <p:sp>
        <p:nvSpPr>
          <p:cNvPr id="18" name="TextBox 17"/>
          <p:cNvSpPr txBox="1"/>
          <p:nvPr/>
        </p:nvSpPr>
        <p:spPr>
          <a:xfrm>
            <a:off x="6537959" y="2578608"/>
            <a:ext cx="4846320" cy="274320"/>
          </a:xfrm>
          <a:prstGeom prst="rect">
            <a:avLst/>
          </a:prstGeom>
          <a:noFill/>
        </p:spPr>
        <p:txBody>
          <a:bodyPr wrap="square" anchor="t">
            <a:spAutoFit/>
          </a:bodyPr>
          <a:lstStyle/>
          <a:p>
            <a:pPr algn="l">
              <a:defRPr sz="1200" b="0">
                <a:solidFill>
                  <a:srgbClr val="64748B"/>
                </a:solidFill>
                <a:latin typeface="Avenir Next"/>
              </a:defRPr>
            </a:pPr>
            <a:r>
              <a:t>Standard: AMD EPYC Genoa, 192 cores</a:t>
            </a:r>
          </a:p>
        </p:txBody>
      </p:sp>
      <p:sp>
        <p:nvSpPr>
          <p:cNvPr id="19" name="TextBox 18"/>
          <p:cNvSpPr txBox="1"/>
          <p:nvPr/>
        </p:nvSpPr>
        <p:spPr>
          <a:xfrm>
            <a:off x="6537959" y="2907791"/>
            <a:ext cx="4846320" cy="274320"/>
          </a:xfrm>
          <a:prstGeom prst="rect">
            <a:avLst/>
          </a:prstGeom>
          <a:noFill/>
        </p:spPr>
        <p:txBody>
          <a:bodyPr wrap="square" anchor="t">
            <a:spAutoFit/>
          </a:bodyPr>
          <a:lstStyle/>
          <a:p>
            <a:pPr algn="l">
              <a:defRPr sz="1200" b="0">
                <a:solidFill>
                  <a:srgbClr val="64748B"/>
                </a:solidFill>
                <a:latin typeface="Avenir Next"/>
              </a:defRPr>
            </a:pPr>
            <a:r>
              <a:t>AI/ML: NVIDIA H200</a:t>
            </a:r>
          </a:p>
        </p:txBody>
      </p:sp>
      <p:sp>
        <p:nvSpPr>
          <p:cNvPr id="20" name="Rounded Rectangle 19"/>
          <p:cNvSpPr/>
          <p:nvPr/>
        </p:nvSpPr>
        <p:spPr>
          <a:xfrm>
            <a:off x="548640" y="3685032"/>
            <a:ext cx="5394960" cy="178308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685032"/>
            <a:ext cx="109728" cy="1783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3831336"/>
            <a:ext cx="1920240" cy="365760"/>
          </a:xfrm>
          <a:prstGeom prst="rect">
            <a:avLst/>
          </a:prstGeom>
          <a:noFill/>
        </p:spPr>
        <p:txBody>
          <a:bodyPr wrap="square" anchor="t">
            <a:spAutoFit/>
          </a:bodyPr>
          <a:lstStyle/>
          <a:p>
            <a:pPr algn="l">
              <a:defRPr sz="1700" b="1">
                <a:solidFill>
                  <a:srgbClr val="0F172A"/>
                </a:solidFill>
                <a:latin typeface="Avenir Next"/>
              </a:defRPr>
            </a:pPr>
            <a:r>
              <a:t>Raider</a:t>
            </a:r>
          </a:p>
        </p:txBody>
      </p:sp>
      <p:sp>
        <p:nvSpPr>
          <p:cNvPr id="23" name="TextBox 22"/>
          <p:cNvSpPr txBox="1"/>
          <p:nvPr/>
        </p:nvSpPr>
        <p:spPr>
          <a:xfrm>
            <a:off x="2697480" y="3858768"/>
            <a:ext cx="2971800" cy="320040"/>
          </a:xfrm>
          <a:prstGeom prst="rect">
            <a:avLst/>
          </a:prstGeom>
          <a:noFill/>
        </p:spPr>
        <p:txBody>
          <a:bodyPr wrap="square" anchor="t">
            <a:spAutoFit/>
          </a:bodyPr>
          <a:lstStyle/>
          <a:p>
            <a:pPr algn="r">
              <a:defRPr sz="1150" b="1">
                <a:solidFill>
                  <a:srgbClr val="0D9488"/>
                </a:solidFill>
                <a:latin typeface="Avenir Next"/>
              </a:defRPr>
            </a:pPr>
            <a:r>
              <a:t>GENERIC LINUX · CUDA</a:t>
            </a:r>
          </a:p>
        </p:txBody>
      </p:sp>
      <p:sp>
        <p:nvSpPr>
          <p:cNvPr id="24" name="TextBox 23"/>
          <p:cNvSpPr txBox="1"/>
          <p:nvPr/>
        </p:nvSpPr>
        <p:spPr>
          <a:xfrm>
            <a:off x="822959" y="4279392"/>
            <a:ext cx="4846320" cy="292608"/>
          </a:xfrm>
          <a:prstGeom prst="rect">
            <a:avLst/>
          </a:prstGeom>
          <a:noFill/>
        </p:spPr>
        <p:txBody>
          <a:bodyPr wrap="square" anchor="t">
            <a:spAutoFit/>
          </a:bodyPr>
          <a:lstStyle/>
          <a:p>
            <a:pPr algn="l">
              <a:defRPr sz="1250" b="1">
                <a:solidFill>
                  <a:srgbClr val="334155"/>
                </a:solidFill>
                <a:latin typeface="Avenir Next"/>
              </a:defRPr>
            </a:pPr>
            <a:r>
              <a:t>AFRL · Penguin TrueHPC · RHEL 8</a:t>
            </a:r>
          </a:p>
        </p:txBody>
      </p:sp>
      <p:sp>
        <p:nvSpPr>
          <p:cNvPr id="25" name="TextBox 24"/>
          <p:cNvSpPr txBox="1"/>
          <p:nvPr/>
        </p:nvSpPr>
        <p:spPr>
          <a:xfrm>
            <a:off x="822959" y="4636008"/>
            <a:ext cx="4846320" cy="274320"/>
          </a:xfrm>
          <a:prstGeom prst="rect">
            <a:avLst/>
          </a:prstGeom>
          <a:noFill/>
        </p:spPr>
        <p:txBody>
          <a:bodyPr wrap="square" anchor="t">
            <a:spAutoFit/>
          </a:bodyPr>
          <a:lstStyle/>
          <a:p>
            <a:pPr algn="l">
              <a:defRPr sz="1200" b="0">
                <a:solidFill>
                  <a:srgbClr val="64748B"/>
                </a:solidFill>
                <a:latin typeface="Avenir Next"/>
              </a:defRPr>
            </a:pPr>
            <a:r>
              <a:t>Standard: AMD EPYC 7713 Milan, 128 cores</a:t>
            </a:r>
          </a:p>
        </p:txBody>
      </p:sp>
      <p:sp>
        <p:nvSpPr>
          <p:cNvPr id="26" name="TextBox 25"/>
          <p:cNvSpPr txBox="1"/>
          <p:nvPr/>
        </p:nvSpPr>
        <p:spPr>
          <a:xfrm>
            <a:off x="822959" y="4965192"/>
            <a:ext cx="4846320" cy="274320"/>
          </a:xfrm>
          <a:prstGeom prst="rect">
            <a:avLst/>
          </a:prstGeom>
          <a:noFill/>
        </p:spPr>
        <p:txBody>
          <a:bodyPr wrap="square" anchor="t">
            <a:spAutoFit/>
          </a:bodyPr>
          <a:lstStyle/>
          <a:p>
            <a:pPr algn="l">
              <a:defRPr sz="1200" b="0">
                <a:solidFill>
                  <a:srgbClr val="64748B"/>
                </a:solidFill>
                <a:latin typeface="Avenir Next"/>
              </a:defRPr>
            </a:pPr>
            <a:r>
              <a:t>AI/ML: same CPU + 4 × NVIDIA A100 SXM4</a:t>
            </a:r>
          </a:p>
        </p:txBody>
      </p:sp>
      <p:sp>
        <p:nvSpPr>
          <p:cNvPr id="27" name="Rounded Rectangle 26"/>
          <p:cNvSpPr/>
          <p:nvPr/>
        </p:nvSpPr>
        <p:spPr>
          <a:xfrm>
            <a:off x="6263640" y="3685032"/>
            <a:ext cx="5394960" cy="178308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63640" y="3685032"/>
            <a:ext cx="109728" cy="17830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59" y="3831336"/>
            <a:ext cx="1920240" cy="365760"/>
          </a:xfrm>
          <a:prstGeom prst="rect">
            <a:avLst/>
          </a:prstGeom>
          <a:noFill/>
        </p:spPr>
        <p:txBody>
          <a:bodyPr wrap="square" anchor="t">
            <a:spAutoFit/>
          </a:bodyPr>
          <a:lstStyle/>
          <a:p>
            <a:pPr algn="l">
              <a:defRPr sz="1700" b="1">
                <a:solidFill>
                  <a:srgbClr val="0F172A"/>
                </a:solidFill>
                <a:latin typeface="Avenir Next"/>
              </a:defRPr>
            </a:pPr>
            <a:r>
              <a:t>Wheat</a:t>
            </a:r>
          </a:p>
        </p:txBody>
      </p:sp>
      <p:sp>
        <p:nvSpPr>
          <p:cNvPr id="30" name="TextBox 29"/>
          <p:cNvSpPr txBox="1"/>
          <p:nvPr/>
        </p:nvSpPr>
        <p:spPr>
          <a:xfrm>
            <a:off x="8412480" y="3858768"/>
            <a:ext cx="2971800" cy="320040"/>
          </a:xfrm>
          <a:prstGeom prst="rect">
            <a:avLst/>
          </a:prstGeom>
          <a:noFill/>
        </p:spPr>
        <p:txBody>
          <a:bodyPr wrap="square" anchor="t">
            <a:spAutoFit/>
          </a:bodyPr>
          <a:lstStyle/>
          <a:p>
            <a:pPr algn="r">
              <a:defRPr sz="1150" b="1">
                <a:solidFill>
                  <a:srgbClr val="D97706"/>
                </a:solidFill>
                <a:latin typeface="Avenir Next"/>
              </a:defRPr>
            </a:pPr>
            <a:r>
              <a:t>INTEL CPU · COMPOSABLE GPU</a:t>
            </a:r>
          </a:p>
        </p:txBody>
      </p:sp>
      <p:sp>
        <p:nvSpPr>
          <p:cNvPr id="31" name="TextBox 30"/>
          <p:cNvSpPr txBox="1"/>
          <p:nvPr/>
        </p:nvSpPr>
        <p:spPr>
          <a:xfrm>
            <a:off x="6537959" y="4279392"/>
            <a:ext cx="4846320" cy="292608"/>
          </a:xfrm>
          <a:prstGeom prst="rect">
            <a:avLst/>
          </a:prstGeom>
          <a:noFill/>
        </p:spPr>
        <p:txBody>
          <a:bodyPr wrap="square" anchor="t">
            <a:spAutoFit/>
          </a:bodyPr>
          <a:lstStyle/>
          <a:p>
            <a:pPr algn="l">
              <a:defRPr sz="1250" b="1">
                <a:solidFill>
                  <a:srgbClr val="334155"/>
                </a:solidFill>
                <a:latin typeface="Avenir Next"/>
              </a:defRPr>
            </a:pPr>
            <a:r>
              <a:t>ERDC · Liqid composable · RHEL 8</a:t>
            </a:r>
          </a:p>
        </p:txBody>
      </p:sp>
      <p:sp>
        <p:nvSpPr>
          <p:cNvPr id="32" name="TextBox 31"/>
          <p:cNvSpPr txBox="1"/>
          <p:nvPr/>
        </p:nvSpPr>
        <p:spPr>
          <a:xfrm>
            <a:off x="6537959" y="4636008"/>
            <a:ext cx="4846320" cy="274320"/>
          </a:xfrm>
          <a:prstGeom prst="rect">
            <a:avLst/>
          </a:prstGeom>
          <a:noFill/>
        </p:spPr>
        <p:txBody>
          <a:bodyPr wrap="square" anchor="t">
            <a:spAutoFit/>
          </a:bodyPr>
          <a:lstStyle/>
          <a:p>
            <a:pPr algn="l">
              <a:defRPr sz="1200" b="0">
                <a:solidFill>
                  <a:srgbClr val="64748B"/>
                </a:solidFill>
                <a:latin typeface="Avenir Next"/>
              </a:defRPr>
            </a:pPr>
            <a:r>
              <a:t>Standard: Intel Xeon 9242 Cascade Lake, 92 cores</a:t>
            </a:r>
          </a:p>
        </p:txBody>
      </p:sp>
      <p:sp>
        <p:nvSpPr>
          <p:cNvPr id="33" name="TextBox 32"/>
          <p:cNvSpPr txBox="1"/>
          <p:nvPr/>
        </p:nvSpPr>
        <p:spPr>
          <a:xfrm>
            <a:off x="6537959" y="4965192"/>
            <a:ext cx="4846320" cy="274320"/>
          </a:xfrm>
          <a:prstGeom prst="rect">
            <a:avLst/>
          </a:prstGeom>
          <a:noFill/>
        </p:spPr>
        <p:txBody>
          <a:bodyPr wrap="square" anchor="t">
            <a:spAutoFit/>
          </a:bodyPr>
          <a:lstStyle/>
          <a:p>
            <a:pPr algn="l">
              <a:defRPr sz="1200" b="0">
                <a:solidFill>
                  <a:srgbClr val="64748B"/>
                </a:solidFill>
                <a:latin typeface="Avenir Next"/>
              </a:defRPr>
            </a:pPr>
            <a:r>
              <a:t>AI/ML: same CPU + 4 or 6 × NVIDIA A100</a:t>
            </a:r>
          </a:p>
        </p:txBody>
      </p:sp>
      <p:sp>
        <p:nvSpPr>
          <p:cNvPr id="34" name="Rounded Rectangle 33"/>
          <p:cNvSpPr/>
          <p:nvPr/>
        </p:nvSpPr>
        <p:spPr>
          <a:xfrm>
            <a:off x="548640" y="5806440"/>
            <a:ext cx="11091672" cy="530352"/>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300" b="1">
                <a:solidFill>
                  <a:srgbClr val="0F172A"/>
                </a:solidFill>
                <a:latin typeface="Avenir Next"/>
              </a:defRPr>
            </a:pPr>
            <a:r>
              <a:t>Coverage: SLES + RHEL 8 + RHEL 9 · AMD + Intel CPUs · AMD MI300A + NVIDIA H200 and A100</a:t>
            </a:r>
          </a:p>
        </p:txBody>
      </p:sp>
      <p:sp>
        <p:nvSpPr>
          <p:cNvPr id="35" name="TextBox 34"/>
          <p:cNvSpPr txBox="1"/>
          <p:nvPr/>
        </p:nvSpPr>
        <p:spPr>
          <a:xfrm>
            <a:off x="548640" y="6419088"/>
            <a:ext cx="11064240" cy="219456"/>
          </a:xfrm>
          <a:prstGeom prst="rect">
            <a:avLst/>
          </a:prstGeom>
          <a:noFill/>
        </p:spPr>
        <p:txBody>
          <a:bodyPr wrap="square" anchor="t">
            <a:spAutoFit/>
          </a:bodyPr>
          <a:lstStyle/>
          <a:p>
            <a:pPr algn="r">
              <a:defRPr sz="950" b="0">
                <a:solidFill>
                  <a:srgbClr val="64748B"/>
                </a:solidFill>
                <a:latin typeface="Avenir Next"/>
              </a:defRPr>
            </a:pPr>
            <a:r>
              <a:t>Source: HPC Centers hardware inventory, July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THE PLAN FROM HERE</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What happens next</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11091672"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45920"/>
            <a:ext cx="566928" cy="105156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900" b="1">
                <a:solidFill>
                  <a:srgbClr val="FFFFFF"/>
                </a:solidFill>
                <a:latin typeface="Avenir Next"/>
              </a:defRPr>
            </a:pPr>
            <a:r>
              <a:t>1</a:t>
            </a:r>
          </a:p>
        </p:txBody>
      </p:sp>
      <p:sp>
        <p:nvSpPr>
          <p:cNvPr id="8" name="TextBox 7"/>
          <p:cNvSpPr txBox="1"/>
          <p:nvPr/>
        </p:nvSpPr>
        <p:spPr>
          <a:xfrm>
            <a:off x="1325880" y="1810512"/>
            <a:ext cx="10058400" cy="310896"/>
          </a:xfrm>
          <a:prstGeom prst="rect">
            <a:avLst/>
          </a:prstGeom>
          <a:noFill/>
        </p:spPr>
        <p:txBody>
          <a:bodyPr wrap="square" anchor="t">
            <a:spAutoFit/>
          </a:bodyPr>
          <a:lstStyle/>
          <a:p>
            <a:pPr algn="l">
              <a:defRPr sz="1550" b="1">
                <a:solidFill>
                  <a:srgbClr val="0F172A"/>
                </a:solidFill>
                <a:latin typeface="Avenir Next"/>
              </a:defRPr>
            </a:pPr>
            <a:r>
              <a:t>Build the pilot stack on the four systems</a:t>
            </a:r>
          </a:p>
        </p:txBody>
      </p:sp>
      <p:sp>
        <p:nvSpPr>
          <p:cNvPr id="9" name="TextBox 8"/>
          <p:cNvSpPr txBox="1"/>
          <p:nvPr/>
        </p:nvSpPr>
        <p:spPr>
          <a:xfrm>
            <a:off x="1325880" y="2176272"/>
            <a:ext cx="10058400" cy="420624"/>
          </a:xfrm>
          <a:prstGeom prst="rect">
            <a:avLst/>
          </a:prstGeom>
          <a:noFill/>
        </p:spPr>
        <p:txBody>
          <a:bodyPr wrap="square" anchor="t">
            <a:spAutoFit/>
          </a:bodyPr>
          <a:lstStyle/>
          <a:p>
            <a:pPr algn="l">
              <a:defRPr sz="1150" b="0">
                <a:solidFill>
                  <a:srgbClr val="64748B"/>
                </a:solidFill>
                <a:latin typeface="Avenir Next"/>
              </a:defRPr>
            </a:pPr>
            <a:r>
              <a:t>Probe each machine, render its lanes, concretize, install. The front door is the first real test of the naming: one compiler surface, then one lane, then a package.</a:t>
            </a:r>
          </a:p>
        </p:txBody>
      </p:sp>
      <p:sp>
        <p:nvSpPr>
          <p:cNvPr id="10" name="Rounded Rectangle 9"/>
          <p:cNvSpPr/>
          <p:nvPr/>
        </p:nvSpPr>
        <p:spPr>
          <a:xfrm>
            <a:off x="548640" y="2852928"/>
            <a:ext cx="11091672"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852928"/>
            <a:ext cx="566928" cy="105156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900" b="1">
                <a:solidFill>
                  <a:srgbClr val="FFFFFF"/>
                </a:solidFill>
                <a:latin typeface="Avenir Next"/>
              </a:defRPr>
            </a:pPr>
            <a:r>
              <a:t>2</a:t>
            </a:r>
          </a:p>
        </p:txBody>
      </p:sp>
      <p:sp>
        <p:nvSpPr>
          <p:cNvPr id="12" name="TextBox 11"/>
          <p:cNvSpPr txBox="1"/>
          <p:nvPr/>
        </p:nvSpPr>
        <p:spPr>
          <a:xfrm>
            <a:off x="1325880" y="3017520"/>
            <a:ext cx="10058400" cy="310896"/>
          </a:xfrm>
          <a:prstGeom prst="rect">
            <a:avLst/>
          </a:prstGeom>
          <a:noFill/>
        </p:spPr>
        <p:txBody>
          <a:bodyPr wrap="square" anchor="t">
            <a:spAutoFit/>
          </a:bodyPr>
          <a:lstStyle/>
          <a:p>
            <a:pPr algn="l">
              <a:defRPr sz="1550" b="1">
                <a:solidFill>
                  <a:srgbClr val="0F172A"/>
                </a:solidFill>
                <a:latin typeface="Avenir Next"/>
              </a:defRPr>
            </a:pPr>
            <a:r>
              <a:t>Prove the module contract</a:t>
            </a:r>
          </a:p>
        </p:txBody>
      </p:sp>
      <p:sp>
        <p:nvSpPr>
          <p:cNvPr id="13" name="TextBox 12"/>
          <p:cNvSpPr txBox="1"/>
          <p:nvPr/>
        </p:nvSpPr>
        <p:spPr>
          <a:xfrm>
            <a:off x="1325880" y="3383280"/>
            <a:ext cx="10058400" cy="420624"/>
          </a:xfrm>
          <a:prstGeom prst="rect">
            <a:avLst/>
          </a:prstGeom>
          <a:noFill/>
        </p:spPr>
        <p:txBody>
          <a:bodyPr wrap="square" anchor="t">
            <a:spAutoFit/>
          </a:bodyPr>
          <a:lstStyle/>
          <a:p>
            <a:pPr algn="l">
              <a:defRPr sz="1150" b="0">
                <a:solidFill>
                  <a:srgbClr val="64748B"/>
                </a:solidFill>
                <a:latin typeface="Avenir Next"/>
              </a:defRPr>
            </a:pPr>
            <a:r>
              <a:t>Compatible chains load and incompatible mixes fail. Lane purity and version pairing are checked in the concretized lockfile, never assumed from the render.</a:t>
            </a:r>
          </a:p>
        </p:txBody>
      </p:sp>
      <p:sp>
        <p:nvSpPr>
          <p:cNvPr id="14" name="Rounded Rectangle 13"/>
          <p:cNvSpPr/>
          <p:nvPr/>
        </p:nvSpPr>
        <p:spPr>
          <a:xfrm>
            <a:off x="548640" y="4059936"/>
            <a:ext cx="11091672"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4059936"/>
            <a:ext cx="566928" cy="105156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900" b="1">
                <a:solidFill>
                  <a:srgbClr val="FFFFFF"/>
                </a:solidFill>
                <a:latin typeface="Avenir Next"/>
              </a:defRPr>
            </a:pPr>
            <a:r>
              <a:t>3</a:t>
            </a:r>
          </a:p>
        </p:txBody>
      </p:sp>
      <p:sp>
        <p:nvSpPr>
          <p:cNvPr id="16" name="TextBox 15"/>
          <p:cNvSpPr txBox="1"/>
          <p:nvPr/>
        </p:nvSpPr>
        <p:spPr>
          <a:xfrm>
            <a:off x="1325880" y="4224528"/>
            <a:ext cx="10058400" cy="310896"/>
          </a:xfrm>
          <a:prstGeom prst="rect">
            <a:avLst/>
          </a:prstGeom>
          <a:noFill/>
        </p:spPr>
        <p:txBody>
          <a:bodyPr wrap="square" anchor="t">
            <a:spAutoFit/>
          </a:bodyPr>
          <a:lstStyle/>
          <a:p>
            <a:pPr algn="l">
              <a:defRPr sz="1550" b="1">
                <a:solidFill>
                  <a:srgbClr val="0F172A"/>
                </a:solidFill>
                <a:latin typeface="Avenir Next"/>
              </a:defRPr>
            </a:pPr>
            <a:r>
              <a:t>Stand up the release process</a:t>
            </a:r>
          </a:p>
        </p:txBody>
      </p:sp>
      <p:sp>
        <p:nvSpPr>
          <p:cNvPr id="17" name="TextBox 16"/>
          <p:cNvSpPr txBox="1"/>
          <p:nvPr/>
        </p:nvSpPr>
        <p:spPr>
          <a:xfrm>
            <a:off x="1325880" y="4590288"/>
            <a:ext cx="10058400" cy="420624"/>
          </a:xfrm>
          <a:prstGeom prst="rect">
            <a:avLst/>
          </a:prstGeom>
          <a:noFill/>
        </p:spPr>
        <p:txBody>
          <a:bodyPr wrap="square" anchor="t">
            <a:spAutoFit/>
          </a:bodyPr>
          <a:lstStyle/>
          <a:p>
            <a:pPr algn="l">
              <a:defRPr sz="1150" b="0">
                <a:solidFill>
                  <a:srgbClr val="64748B"/>
                </a:solidFill>
                <a:latin typeface="Avenir Next"/>
              </a:defRPr>
            </a:pPr>
            <a:r>
              <a:t>Build caches, a lockfile per lane, and a release manifest, so a release can be rebuilt exactly, promoted deliberately, and rolled back by moving a pointer.</a:t>
            </a:r>
          </a:p>
        </p:txBody>
      </p:sp>
      <p:sp>
        <p:nvSpPr>
          <p:cNvPr id="18" name="Rounded Rectangle 17"/>
          <p:cNvSpPr/>
          <p:nvPr/>
        </p:nvSpPr>
        <p:spPr>
          <a:xfrm>
            <a:off x="548640" y="5266944"/>
            <a:ext cx="11091672"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5266944"/>
            <a:ext cx="566928" cy="105156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900" b="1">
                <a:solidFill>
                  <a:srgbClr val="FFFFFF"/>
                </a:solidFill>
                <a:latin typeface="Avenir Next"/>
              </a:defRPr>
            </a:pPr>
            <a:r>
              <a:t>4</a:t>
            </a:r>
          </a:p>
        </p:txBody>
      </p:sp>
      <p:sp>
        <p:nvSpPr>
          <p:cNvPr id="20" name="TextBox 19"/>
          <p:cNvSpPr txBox="1"/>
          <p:nvPr/>
        </p:nvSpPr>
        <p:spPr>
          <a:xfrm>
            <a:off x="1325880" y="5431536"/>
            <a:ext cx="10058400" cy="310896"/>
          </a:xfrm>
          <a:prstGeom prst="rect">
            <a:avLst/>
          </a:prstGeom>
          <a:noFill/>
        </p:spPr>
        <p:txBody>
          <a:bodyPr wrap="square" anchor="t">
            <a:spAutoFit/>
          </a:bodyPr>
          <a:lstStyle/>
          <a:p>
            <a:pPr algn="l">
              <a:defRPr sz="1550" b="1">
                <a:solidFill>
                  <a:srgbClr val="0F172A"/>
                </a:solidFill>
                <a:latin typeface="Avenir Next"/>
              </a:defRPr>
            </a:pPr>
            <a:r>
              <a:t>Settle the open decisions</a:t>
            </a:r>
          </a:p>
        </p:txBody>
      </p:sp>
      <p:sp>
        <p:nvSpPr>
          <p:cNvPr id="21" name="TextBox 20"/>
          <p:cNvSpPr txBox="1"/>
          <p:nvPr/>
        </p:nvSpPr>
        <p:spPr>
          <a:xfrm>
            <a:off x="1325880" y="5797296"/>
            <a:ext cx="10058400" cy="420624"/>
          </a:xfrm>
          <a:prstGeom prst="rect">
            <a:avLst/>
          </a:prstGeom>
          <a:noFill/>
        </p:spPr>
        <p:txBody>
          <a:bodyPr wrap="square" anchor="t">
            <a:spAutoFit/>
          </a:bodyPr>
          <a:lstStyle/>
          <a:p>
            <a:pPr algn="l">
              <a:defRPr sz="1150" b="0">
                <a:solidFill>
                  <a:srgbClr val="64748B"/>
                </a:solidFill>
                <a:latin typeface="Avenir Next"/>
              </a:defRPr>
            </a:pPr>
            <a:r>
              <a:t>Vendor math libraries, compiler surfaces, the Serial tier, and when performance targeting turns on. These shape the roster before it is fixed for v1.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DECISIONS WE NEED · NOT SETTLED YET</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Open questions for the team</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00200"/>
            <a:ext cx="11091672" cy="987552"/>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91440" cy="98755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28216"/>
            <a:ext cx="10515600" cy="274320"/>
          </a:xfrm>
          <a:prstGeom prst="rect">
            <a:avLst/>
          </a:prstGeom>
          <a:noFill/>
        </p:spPr>
        <p:txBody>
          <a:bodyPr wrap="square" anchor="t">
            <a:spAutoFit/>
          </a:bodyPr>
          <a:lstStyle/>
          <a:p>
            <a:pPr algn="l">
              <a:defRPr sz="1350" b="1">
                <a:solidFill>
                  <a:srgbClr val="0F172A"/>
                </a:solidFill>
                <a:latin typeface="Avenir Next"/>
              </a:defRPr>
            </a:pPr>
            <a:r>
              <a:t>Do we offer the vendor's math libraries as well as OpenBLAS?</a:t>
            </a:r>
          </a:p>
        </p:txBody>
      </p:sp>
      <p:sp>
        <p:nvSpPr>
          <p:cNvPr id="9" name="TextBox 8"/>
          <p:cNvSpPr txBox="1"/>
          <p:nvPr/>
        </p:nvSpPr>
        <p:spPr>
          <a:xfrm>
            <a:off x="868680" y="2011680"/>
            <a:ext cx="10515600" cy="530352"/>
          </a:xfrm>
          <a:prstGeom prst="rect">
            <a:avLst/>
          </a:prstGeom>
          <a:noFill/>
        </p:spPr>
        <p:txBody>
          <a:bodyPr wrap="square" anchor="t">
            <a:spAutoFit/>
          </a:bodyPr>
          <a:lstStyle/>
          <a:p>
            <a:pPr algn="l">
              <a:defRPr sz="1100" b="0">
                <a:solidFill>
                  <a:srgbClr val="64748B"/>
                </a:solidFill>
                <a:latin typeface="Avenir Next"/>
              </a:defRPr>
            </a:pPr>
            <a:r>
              <a:t>OpenBLAS is now the one BLAS and LAPACK, so users get the same library on every system. Cray LibSci is already on the path on Blueback and Fran, and Intel systems would expect MKL. Both are registered rather than built, so this is policy per system, not build cost.</a:t>
            </a:r>
          </a:p>
        </p:txBody>
      </p:sp>
      <p:sp>
        <p:nvSpPr>
          <p:cNvPr id="10" name="Rounded Rectangle 9"/>
          <p:cNvSpPr/>
          <p:nvPr/>
        </p:nvSpPr>
        <p:spPr>
          <a:xfrm>
            <a:off x="548640" y="2679191"/>
            <a:ext cx="11091672" cy="987552"/>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679191"/>
            <a:ext cx="91440" cy="98755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07208"/>
            <a:ext cx="10515600" cy="274320"/>
          </a:xfrm>
          <a:prstGeom prst="rect">
            <a:avLst/>
          </a:prstGeom>
          <a:noFill/>
        </p:spPr>
        <p:txBody>
          <a:bodyPr wrap="square" anchor="t">
            <a:spAutoFit/>
          </a:bodyPr>
          <a:lstStyle/>
          <a:p>
            <a:pPr algn="l">
              <a:defRPr sz="1350" b="1">
                <a:solidFill>
                  <a:srgbClr val="0F172A"/>
                </a:solidFill>
                <a:latin typeface="Avenir Next"/>
              </a:defRPr>
            </a:pPr>
            <a:r>
              <a:t>Which compiler surfaces does the pilot carry?</a:t>
            </a:r>
          </a:p>
        </p:txBody>
      </p:sp>
      <p:sp>
        <p:nvSpPr>
          <p:cNvPr id="13" name="TextBox 12"/>
          <p:cNvSpPr txBox="1"/>
          <p:nvPr/>
        </p:nvSpPr>
        <p:spPr>
          <a:xfrm>
            <a:off x="868680" y="3090672"/>
            <a:ext cx="10515600" cy="530352"/>
          </a:xfrm>
          <a:prstGeom prst="rect">
            <a:avLst/>
          </a:prstGeom>
          <a:noFill/>
        </p:spPr>
        <p:txBody>
          <a:bodyPr wrap="square" anchor="t">
            <a:spAutoFit/>
          </a:bodyPr>
          <a:lstStyle/>
          <a:p>
            <a:pPr algn="l">
              <a:defRPr sz="1100" b="0">
                <a:solidFill>
                  <a:srgbClr val="64748B"/>
                </a:solidFill>
                <a:latin typeface="Avenir Next"/>
              </a:defRPr>
            </a:pPr>
            <a:r>
              <a:t>The pilot carries two per system: the one the machine blesses as its baseline, plus GCC as the portable reference. CSEinit offers GCC and Intel today, so whether Intel is one of the two on the systems that have it is the open part.</a:t>
            </a:r>
          </a:p>
        </p:txBody>
      </p:sp>
      <p:sp>
        <p:nvSpPr>
          <p:cNvPr id="14" name="Rounded Rectangle 13"/>
          <p:cNvSpPr/>
          <p:nvPr/>
        </p:nvSpPr>
        <p:spPr>
          <a:xfrm>
            <a:off x="548640" y="3758183"/>
            <a:ext cx="11091672" cy="987552"/>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758183"/>
            <a:ext cx="91440" cy="98755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886199"/>
            <a:ext cx="10515600" cy="274320"/>
          </a:xfrm>
          <a:prstGeom prst="rect">
            <a:avLst/>
          </a:prstGeom>
          <a:noFill/>
        </p:spPr>
        <p:txBody>
          <a:bodyPr wrap="square" anchor="t">
            <a:spAutoFit/>
          </a:bodyPr>
          <a:lstStyle/>
          <a:p>
            <a:pPr algn="l">
              <a:defRPr sz="1350" b="1">
                <a:solidFill>
                  <a:srgbClr val="0F172A"/>
                </a:solidFill>
                <a:latin typeface="Avenir Next"/>
              </a:defRPr>
            </a:pPr>
            <a:r>
              <a:t>Does the Serial lane stay?</a:t>
            </a:r>
          </a:p>
        </p:txBody>
      </p:sp>
      <p:sp>
        <p:nvSpPr>
          <p:cNvPr id="17" name="TextBox 16"/>
          <p:cNvSpPr txBox="1"/>
          <p:nvPr/>
        </p:nvSpPr>
        <p:spPr>
          <a:xfrm>
            <a:off x="868680" y="4169663"/>
            <a:ext cx="10515600" cy="530352"/>
          </a:xfrm>
          <a:prstGeom prst="rect">
            <a:avLst/>
          </a:prstGeom>
          <a:noFill/>
        </p:spPr>
        <p:txBody>
          <a:bodyPr wrap="square" anchor="t">
            <a:spAutoFit/>
          </a:bodyPr>
          <a:lstStyle/>
          <a:p>
            <a:pPr algn="l">
              <a:defRPr sz="1100" b="0">
                <a:solidFill>
                  <a:srgbClr val="64748B"/>
                </a:solidFill>
                <a:latin typeface="Avenir Next"/>
              </a:defRPr>
            </a:pPr>
            <a:r>
              <a:t>Serial exists so users who are not running parallel do not carry the MPI runtime: analysis and post-processing on a login node, small tools, anything linking HDF5 or NetCDF without wanting libmpi behind it. An MPI build on one rank does the same work, so dropping Serial would halve the build matrix and push the MPI runtime onto everyone.</a:t>
            </a:r>
          </a:p>
        </p:txBody>
      </p:sp>
      <p:sp>
        <p:nvSpPr>
          <p:cNvPr id="18" name="Rounded Rectangle 17"/>
          <p:cNvSpPr/>
          <p:nvPr/>
        </p:nvSpPr>
        <p:spPr>
          <a:xfrm>
            <a:off x="548640" y="4837176"/>
            <a:ext cx="11091672" cy="987552"/>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837176"/>
            <a:ext cx="91440" cy="987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965192"/>
            <a:ext cx="10515600" cy="274320"/>
          </a:xfrm>
          <a:prstGeom prst="rect">
            <a:avLst/>
          </a:prstGeom>
          <a:noFill/>
        </p:spPr>
        <p:txBody>
          <a:bodyPr wrap="square" anchor="t">
            <a:spAutoFit/>
          </a:bodyPr>
          <a:lstStyle/>
          <a:p>
            <a:pPr algn="l">
              <a:defRPr sz="1350" b="1">
                <a:solidFill>
                  <a:srgbClr val="0F172A"/>
                </a:solidFill>
                <a:latin typeface="Avenir Next"/>
              </a:defRPr>
            </a:pPr>
            <a:r>
              <a:t>Performance targeting: baseline first, tuning after.</a:t>
            </a:r>
          </a:p>
        </p:txBody>
      </p:sp>
      <p:sp>
        <p:nvSpPr>
          <p:cNvPr id="21" name="TextBox 20"/>
          <p:cNvSpPr txBox="1"/>
          <p:nvPr/>
        </p:nvSpPr>
        <p:spPr>
          <a:xfrm>
            <a:off x="868680" y="5248656"/>
            <a:ext cx="10515600" cy="530352"/>
          </a:xfrm>
          <a:prstGeom prst="rect">
            <a:avLst/>
          </a:prstGeom>
          <a:noFill/>
        </p:spPr>
        <p:txBody>
          <a:bodyPr wrap="square" anchor="t">
            <a:spAutoFit/>
          </a:bodyPr>
          <a:lstStyle/>
          <a:p>
            <a:pPr algn="l">
              <a:defRPr sz="1100" b="0">
                <a:solidFill>
                  <a:srgbClr val="64748B"/>
                </a:solidFill>
                <a:latin typeface="Avenir Next"/>
              </a:defRPr>
            </a:pPr>
            <a:r>
              <a:t>The plan is to build every lane at the portable baseline, prove the model, then turn on per-lane tuning for Genoa, Milan, or Cascade Lake. Each target is a flag plus a full rebuild, so the open part is when, not whether.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APPENDIX · HOW THE LAYERS STACK</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What each lane exposes</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89888"/>
            <a:ext cx="11064240" cy="274320"/>
          </a:xfrm>
          <a:prstGeom prst="rect">
            <a:avLst/>
          </a:prstGeom>
          <a:noFill/>
        </p:spPr>
        <p:txBody>
          <a:bodyPr wrap="square" anchor="t">
            <a:spAutoFit/>
          </a:bodyPr>
          <a:lstStyle/>
          <a:p>
            <a:pPr algn="ctr">
              <a:defRPr sz="1150" b="1">
                <a:solidFill>
                  <a:srgbClr val="64748B"/>
                </a:solidFill>
                <a:latin typeface="Avenir Next"/>
              </a:defRPr>
            </a:pPr>
            <a:r>
              <a:t>CHOOSE EXACTLY ONE LANE</a:t>
            </a:r>
          </a:p>
        </p:txBody>
      </p:sp>
      <p:sp>
        <p:nvSpPr>
          <p:cNvPr id="7" name="Rounded Rectangle 6"/>
          <p:cNvSpPr/>
          <p:nvPr/>
        </p:nvSpPr>
        <p:spPr>
          <a:xfrm>
            <a:off x="548640" y="1719072"/>
            <a:ext cx="3611880" cy="13258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FFFFFF"/>
                </a:solidFill>
                <a:latin typeface="Avenir Next"/>
              </a:defRPr>
            </a:pPr>
            <a:r>
              <a:t>Serial</a:t>
            </a:r>
          </a:p>
          <a:p>
            <a:pPr algn="ctr">
              <a:defRPr sz="1100" b="0">
                <a:solidFill>
                  <a:srgbClr val="FFFFFF"/>
                </a:solidFill>
                <a:latin typeface="Avenir Next"/>
              </a:defRPr>
            </a:pPr>
            <a:r>
              <a:t>hdf5 · netcdf · fftw · boost</a:t>
            </a:r>
          </a:p>
          <a:p>
            <a:pPr algn="ctr">
              <a:defRPr sz="1000" b="0">
                <a:solidFill>
                  <a:srgbClr val="FFFFFF"/>
                </a:solidFill>
                <a:latin typeface="Avenir Next"/>
              </a:defRPr>
            </a:pPr>
            <a:r>
              <a:t>the same packages, built without MPI</a:t>
            </a:r>
          </a:p>
        </p:txBody>
      </p:sp>
      <p:sp>
        <p:nvSpPr>
          <p:cNvPr id="8" name="Rounded Rectangle 7"/>
          <p:cNvSpPr/>
          <p:nvPr/>
        </p:nvSpPr>
        <p:spPr>
          <a:xfrm>
            <a:off x="4370831" y="1719072"/>
            <a:ext cx="3611880" cy="132588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FFFFFF"/>
                </a:solidFill>
                <a:latin typeface="Avenir Next"/>
              </a:defRPr>
            </a:pPr>
            <a:r>
              <a:t>MPI</a:t>
            </a:r>
          </a:p>
          <a:p>
            <a:pPr algn="ctr">
              <a:defRPr sz="1100" b="0">
                <a:solidFill>
                  <a:srgbClr val="FFFFFF"/>
                </a:solidFill>
                <a:latin typeface="Avenir Next"/>
              </a:defRPr>
            </a:pPr>
            <a:r>
              <a:t>hdf5 · netcdf · fftw · boost · tau · dakota</a:t>
            </a:r>
          </a:p>
          <a:p>
            <a:pPr algn="ctr">
              <a:defRPr sz="1000" b="0">
                <a:solidFill>
                  <a:srgbClr val="FFFFFF"/>
                </a:solidFill>
                <a:latin typeface="Avenir Next"/>
              </a:defRPr>
            </a:pPr>
            <a:r>
              <a:t>built against the system MPI</a:t>
            </a:r>
          </a:p>
        </p:txBody>
      </p:sp>
      <p:sp>
        <p:nvSpPr>
          <p:cNvPr id="9" name="Rounded Rectangle 8"/>
          <p:cNvSpPr/>
          <p:nvPr/>
        </p:nvSpPr>
        <p:spPr>
          <a:xfrm>
            <a:off x="8193023" y="1719072"/>
            <a:ext cx="3611880" cy="13258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500" b="1">
                <a:solidFill>
                  <a:srgbClr val="FFFFFF"/>
                </a:solidFill>
                <a:latin typeface="Avenir Next"/>
              </a:defRPr>
            </a:pPr>
            <a:r>
              <a:t>GPU</a:t>
            </a:r>
          </a:p>
          <a:p>
            <a:pPr algn="ctr">
              <a:defRPr sz="1100" b="0">
                <a:solidFill>
                  <a:srgbClr val="FFFFFF"/>
                </a:solidFill>
                <a:latin typeface="Avenir Next"/>
              </a:defRPr>
            </a:pPr>
            <a:r>
              <a:t>the MPI roster, plus kokkos</a:t>
            </a:r>
          </a:p>
          <a:p>
            <a:pPr algn="ctr">
              <a:defRPr sz="1000" b="0">
                <a:solidFill>
                  <a:srgbClr val="FFFFFF"/>
                </a:solidFill>
                <a:latin typeface="Avenir Next"/>
              </a:defRPr>
            </a:pPr>
            <a:r>
              <a:t>+rocm / +cuda, arch from the probe</a:t>
            </a:r>
          </a:p>
        </p:txBody>
      </p:sp>
      <p:sp>
        <p:nvSpPr>
          <p:cNvPr id="10" name="Rounded Rectangle 9"/>
          <p:cNvSpPr/>
          <p:nvPr/>
        </p:nvSpPr>
        <p:spPr>
          <a:xfrm>
            <a:off x="548640" y="3200400"/>
            <a:ext cx="11091672" cy="640080"/>
          </a:xfrm>
          <a:prstGeom prst="round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50" b="1">
                <a:solidFill>
                  <a:srgbClr val="FFFFFF"/>
                </a:solidFill>
                <a:latin typeface="Avenir Next"/>
              </a:defRPr>
            </a:pPr>
            <a:r>
              <a:t>Common compiler-dependent packages: loadable from every lane</a:t>
            </a:r>
          </a:p>
          <a:p>
            <a:pPr algn="ctr">
              <a:defRPr sz="1050" b="0">
                <a:solidFill>
                  <a:srgbClr val="FFFFFF"/>
                </a:solidFill>
                <a:latin typeface="Avenir Next"/>
              </a:defRPr>
            </a:pPr>
            <a:r>
              <a:t>openblas · gnuplot · one Serial-lane build, one install, shared module root</a:t>
            </a:r>
          </a:p>
        </p:txBody>
      </p:sp>
      <p:sp>
        <p:nvSpPr>
          <p:cNvPr id="11" name="Rounded Rectangle 10"/>
          <p:cNvSpPr/>
          <p:nvPr/>
        </p:nvSpPr>
        <p:spPr>
          <a:xfrm>
            <a:off x="548640" y="3959352"/>
            <a:ext cx="11091672" cy="6400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50" b="1">
                <a:solidFill>
                  <a:srgbClr val="FFFFFF"/>
                </a:solidFill>
                <a:latin typeface="Avenir Next"/>
              </a:defRPr>
            </a:pPr>
            <a:r>
              <a:t>Core: loads with the compiler surface</a:t>
            </a:r>
          </a:p>
          <a:p>
            <a:pPr algn="ctr">
              <a:defRPr sz="1050" b="0">
                <a:solidFill>
                  <a:srgbClr val="FFFFFF"/>
                </a:solidFill>
                <a:latin typeface="Avenir Next"/>
              </a:defRPr>
            </a:pPr>
            <a:r>
              <a:t>cmake · ninja · git · python · py-numpy · miniforge · gsl · sqlite</a:t>
            </a:r>
          </a:p>
        </p:txBody>
      </p:sp>
      <p:sp>
        <p:nvSpPr>
          <p:cNvPr id="12" name="Rounded Rectangle 11"/>
          <p:cNvSpPr/>
          <p:nvPr/>
        </p:nvSpPr>
        <p:spPr>
          <a:xfrm>
            <a:off x="548640" y="4718304"/>
            <a:ext cx="11091672" cy="64008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250" b="1">
                <a:solidFill>
                  <a:srgbClr val="FFFFFF"/>
                </a:solidFill>
                <a:latin typeface="Avenir Next"/>
              </a:defRPr>
            </a:pPr>
            <a:r>
              <a:t>Foundation: on your paths automatically, nothing to load</a:t>
            </a:r>
          </a:p>
          <a:p>
            <a:pPr algn="ctr">
              <a:defRPr sz="1050" b="0">
                <a:solidFill>
                  <a:srgbClr val="FFFFFF"/>
                </a:solidFill>
                <a:latin typeface="Avenir Next"/>
              </a:defRPr>
            </a:pPr>
            <a:r>
              <a:t>zlib · xz · zstd, single pinned version</a:t>
            </a:r>
          </a:p>
        </p:txBody>
      </p:sp>
      <p:sp>
        <p:nvSpPr>
          <p:cNvPr id="13" name="Rounded Rectangle 12"/>
          <p:cNvSpPr/>
          <p:nvPr/>
        </p:nvSpPr>
        <p:spPr>
          <a:xfrm>
            <a:off x="548640" y="5504688"/>
            <a:ext cx="11091672" cy="54864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defRPr sz="1300" b="1">
                <a:solidFill>
                  <a:srgbClr val="0F172A"/>
                </a:solidFill>
                <a:latin typeface="Avenir Next"/>
              </a:defRPr>
            </a:pPr>
            <a:r>
              <a:t>cse/&lt;Compiler&gt; surface: everything above sits on one compiler</a:t>
            </a:r>
          </a:p>
          <a:p>
            <a:pPr algn="ctr">
              <a:defRPr sz="1050" b="0">
                <a:solidFill>
                  <a:srgbClr val="64748B"/>
                </a:solidFill>
                <a:latin typeface="Avenir Next"/>
              </a:defRPr>
            </a:pPr>
            <a:r>
              <a:t>lanes never mix compilers; loading a second lane fails loudly</a:t>
            </a:r>
          </a:p>
        </p:txBody>
      </p:sp>
      <p:sp>
        <p:nvSpPr>
          <p:cNvPr id="14" name="TextBox 13"/>
          <p:cNvSpPr txBox="1"/>
          <p:nvPr/>
        </p:nvSpPr>
        <p:spPr>
          <a:xfrm>
            <a:off x="548640" y="6199632"/>
            <a:ext cx="11064240" cy="457200"/>
          </a:xfrm>
          <a:prstGeom prst="rect">
            <a:avLst/>
          </a:prstGeom>
          <a:noFill/>
        </p:spPr>
        <p:txBody>
          <a:bodyPr wrap="square" anchor="t">
            <a:spAutoFit/>
          </a:bodyPr>
          <a:lstStyle/>
          <a:p>
            <a:pPr algn="l">
              <a:defRPr sz="1150" b="0">
                <a:solidFill>
                  <a:srgbClr val="64748B"/>
                </a:solidFill>
                <a:latin typeface="Avenir Next"/>
              </a:defRPr>
            </a:pPr>
            <a:r>
              <a:t>A user's view is one column: the surface, Foundation, Core, the common packages, and exactly one payload. The other payloads stay invisible until their lane is loaded.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APPENDIX · EXACT BUILD ROOTS</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Core and foundation: built once per compiler surface</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81328"/>
          <a:ext cx="11091672" cy="4224528"/>
        </p:xfrm>
        <a:graphic>
          <a:graphicData uri="http://schemas.openxmlformats.org/drawingml/2006/table">
            <a:tbl>
              <a:tblPr>
                <a:tableStyleId>{5C22544A-7EE6-4342-B048-85BDC9FD1C3A}</a:tableStyleId>
              </a:tblPr>
              <a:tblGrid>
                <a:gridCol w="1920240"/>
                <a:gridCol w="2286000"/>
                <a:gridCol w="6885432"/>
              </a:tblGrid>
              <a:tr h="301752">
                <a:tc>
                  <a:txBody>
                    <a:bodyPr/>
                    <a:lstStyle/>
                    <a:p>
                      <a:pPr>
                        <a:defRPr sz="1100" b="1">
                          <a:solidFill>
                            <a:srgbClr val="64748B"/>
                          </a:solidFill>
                          <a:latin typeface="Avenir Next"/>
                        </a:defRPr>
                      </a:pPr>
                      <a:r>
                        <a:t>Package</a:t>
                      </a:r>
                    </a:p>
                  </a:txBody>
                  <a:tcPr marL="109728" marR="73152" marT="13716" marB="13716" anchor="ctr">
                    <a:solidFill>
                      <a:srgbClr val="FFFFFF"/>
                    </a:solidFill>
                  </a:tcPr>
                </a:tc>
                <a:tc>
                  <a:txBody>
                    <a:bodyPr/>
                    <a:lstStyle/>
                    <a:p>
                      <a:pPr>
                        <a:defRPr sz="1100" b="1">
                          <a:solidFill>
                            <a:srgbClr val="64748B"/>
                          </a:solidFill>
                          <a:latin typeface="Avenir Next"/>
                        </a:defRPr>
                      </a:pPr>
                      <a:r>
                        <a:t>Versions</a:t>
                      </a:r>
                    </a:p>
                  </a:txBody>
                  <a:tcPr marL="109728" marR="73152" marT="13716" marB="13716" anchor="ctr">
                    <a:solidFill>
                      <a:srgbClr val="FFFFFF"/>
                    </a:solidFill>
                  </a:tcPr>
                </a:tc>
                <a:tc>
                  <a:txBody>
                    <a:bodyPr/>
                    <a:lstStyle/>
                    <a:p>
                      <a:pPr>
                        <a:defRPr sz="1100" b="1">
                          <a:solidFill>
                            <a:srgbClr val="64748B"/>
                          </a:solidFill>
                          <a:latin typeface="Avenir Next"/>
                        </a:defRPr>
                      </a:pPr>
                      <a:r>
                        <a:t>Built as · pairing</a:t>
                      </a:r>
                    </a:p>
                  </a:txBody>
                  <a:tcPr marL="109728" marR="73152" marT="13716" marB="13716" anchor="ctr">
                    <a:solidFill>
                      <a:srgbClr val="FFFFFF"/>
                    </a:solidFill>
                  </a:tcPr>
                </a:tc>
              </a:tr>
              <a:tr h="301752">
                <a:tc gridSpan="3">
                  <a:txBody>
                    <a:bodyPr/>
                    <a:lstStyle/>
                    <a:p>
                      <a:pPr>
                        <a:defRPr sz="1150" b="1">
                          <a:solidFill>
                            <a:srgbClr val="FFFFFF"/>
                          </a:solidFill>
                          <a:latin typeface="Avenir Next"/>
                        </a:defRPr>
                      </a:pPr>
                      <a:r>
                        <a:t>Foundation: on your paths automatically, never a loadable module</a:t>
                      </a:r>
                    </a:p>
                  </a:txBody>
                  <a:tcPr marL="109728" marR="73152" marT="13716" marB="13716" anchor="ctr">
                    <a:solidFill>
                      <a:srgbClr val="475569"/>
                    </a:solidFill>
                  </a:tcPr>
                </a:tc>
                <a:tc hMerge="1">
                  <a:txBody>
                    <a:bodyPr/>
                    <a:lstStyle/>
                    <a:p/>
                  </a:txBody>
                  <a:tcPr/>
                </a:tc>
                <a:tc hMerge="1">
                  <a:txBody>
                    <a:bodyPr/>
                    <a:lstStyle/>
                    <a:p/>
                  </a:txBody>
                  <a:tcPr/>
                </a:tc>
              </a:tr>
              <a:tr h="301752">
                <a:tc>
                  <a:txBody>
                    <a:bodyPr/>
                    <a:lstStyle/>
                    <a:p>
                      <a:pPr>
                        <a:defRPr sz="1100" b="1">
                          <a:solidFill>
                            <a:srgbClr val="0F172A"/>
                          </a:solidFill>
                          <a:latin typeface="Avenir Next"/>
                        </a:defRPr>
                      </a:pPr>
                      <a:r>
                        <a:t>zlib</a:t>
                      </a:r>
                    </a:p>
                  </a:txBody>
                  <a:tcPr marL="109728" marR="73152" marT="13716" marB="13716" anchor="ctr">
                    <a:solidFill>
                      <a:srgbClr val="FFFFFF"/>
                    </a:solidFill>
                  </a:tcPr>
                </a:tc>
                <a:tc>
                  <a:txBody>
                    <a:bodyPr/>
                    <a:lstStyle/>
                    <a:p>
                      <a:pPr>
                        <a:defRPr sz="1100" b="0">
                          <a:solidFill>
                            <a:srgbClr val="334155"/>
                          </a:solidFill>
                          <a:latin typeface="Avenir Next"/>
                        </a:defRPr>
                      </a:pPr>
                      <a:r>
                        <a:t>1.3.1</a:t>
                      </a:r>
                    </a:p>
                  </a:txBody>
                  <a:tcPr marL="109728" marR="73152" marT="13716" marB="13716" anchor="ctr">
                    <a:solidFill>
                      <a:srgbClr val="FFFFFF"/>
                    </a:solidFill>
                  </a:tcPr>
                </a:tc>
                <a:tc>
                  <a:txBody>
                    <a:bodyPr/>
                    <a:lstStyle/>
                    <a:p>
                      <a:pPr>
                        <a:defRPr sz="1050" b="0">
                          <a:solidFill>
                            <a:srgbClr val="64748B"/>
                          </a:solidFill>
                          <a:latin typeface="Avenir Next"/>
                        </a:defRPr>
                      </a:pPr>
                      <a:r>
                        <a:t>single pinned version (require: pin)</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xz</a:t>
                      </a:r>
                    </a:p>
                  </a:txBody>
                  <a:tcPr marL="109728" marR="73152" marT="13716" marB="13716" anchor="ctr">
                    <a:solidFill>
                      <a:srgbClr val="FFFFFF"/>
                    </a:solidFill>
                  </a:tcPr>
                </a:tc>
                <a:tc>
                  <a:txBody>
                    <a:bodyPr/>
                    <a:lstStyle/>
                    <a:p>
                      <a:pPr>
                        <a:defRPr sz="1100" b="0">
                          <a:solidFill>
                            <a:srgbClr val="334155"/>
                          </a:solidFill>
                          <a:latin typeface="Avenir Next"/>
                        </a:defRPr>
                      </a:pPr>
                      <a:r>
                        <a:t>5.4.6</a:t>
                      </a:r>
                    </a:p>
                  </a:txBody>
                  <a:tcPr marL="109728" marR="73152" marT="13716" marB="13716" anchor="ctr">
                    <a:solidFill>
                      <a:srgbClr val="FFFFFF"/>
                    </a:solidFill>
                  </a:tcPr>
                </a:tc>
                <a:tc>
                  <a:txBody>
                    <a:bodyPr/>
                    <a:lstStyle/>
                    <a:p>
                      <a:pPr>
                        <a:defRPr sz="1050" b="0">
                          <a:solidFill>
                            <a:srgbClr val="64748B"/>
                          </a:solidFill>
                          <a:latin typeface="Avenir Next"/>
                        </a:defRPr>
                      </a:pPr>
                      <a:r>
                        <a:t>single pinned version</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zstd</a:t>
                      </a:r>
                    </a:p>
                  </a:txBody>
                  <a:tcPr marL="109728" marR="73152" marT="13716" marB="13716" anchor="ctr">
                    <a:solidFill>
                      <a:srgbClr val="FFFFFF"/>
                    </a:solidFill>
                  </a:tcPr>
                </a:tc>
                <a:tc>
                  <a:txBody>
                    <a:bodyPr/>
                    <a:lstStyle/>
                    <a:p>
                      <a:pPr>
                        <a:defRPr sz="1100" b="0">
                          <a:solidFill>
                            <a:srgbClr val="334155"/>
                          </a:solidFill>
                          <a:latin typeface="Avenir Next"/>
                        </a:defRPr>
                      </a:pPr>
                      <a:r>
                        <a:t>1.5.6</a:t>
                      </a:r>
                    </a:p>
                  </a:txBody>
                  <a:tcPr marL="109728" marR="73152" marT="13716" marB="13716" anchor="ctr">
                    <a:solidFill>
                      <a:srgbClr val="FFFFFF"/>
                    </a:solidFill>
                  </a:tcPr>
                </a:tc>
                <a:tc>
                  <a:txBody>
                    <a:bodyPr/>
                    <a:lstStyle/>
                    <a:p>
                      <a:pPr>
                        <a:defRPr sz="1050" b="0">
                          <a:solidFill>
                            <a:srgbClr val="64748B"/>
                          </a:solidFill>
                          <a:latin typeface="Avenir Next"/>
                        </a:defRPr>
                      </a:pPr>
                      <a:r>
                        <a:t>single pinned version</a:t>
                      </a:r>
                    </a:p>
                  </a:txBody>
                  <a:tcPr marL="109728" marR="73152" marT="13716" marB="13716" anchor="ctr">
                    <a:solidFill>
                      <a:srgbClr val="FFFFFF"/>
                    </a:solidFill>
                  </a:tcPr>
                </a:tc>
              </a:tr>
              <a:tr h="301752">
                <a:tc gridSpan="3">
                  <a:txBody>
                    <a:bodyPr/>
                    <a:lstStyle/>
                    <a:p>
                      <a:pPr>
                        <a:defRPr sz="1150" b="1">
                          <a:solidFill>
                            <a:srgbClr val="FFFFFF"/>
                          </a:solidFill>
                          <a:latin typeface="Avenir Next"/>
                        </a:defRPr>
                      </a:pPr>
                      <a:r>
                        <a:t>Core tools: user-loadable, compiler-agnostic</a:t>
                      </a:r>
                    </a:p>
                  </a:txBody>
                  <a:tcPr marL="109728" marR="73152" marT="13716" marB="13716" anchor="ctr">
                    <a:solidFill>
                      <a:srgbClr val="0D9488"/>
                    </a:solidFill>
                  </a:tcPr>
                </a:tc>
                <a:tc hMerge="1">
                  <a:txBody>
                    <a:bodyPr/>
                    <a:lstStyle/>
                    <a:p/>
                  </a:txBody>
                  <a:tcPr/>
                </a:tc>
                <a:tc hMerge="1">
                  <a:txBody>
                    <a:bodyPr/>
                    <a:lstStyle/>
                    <a:p/>
                  </a:txBody>
                  <a:tcPr/>
                </a:tc>
              </a:tr>
              <a:tr h="301752">
                <a:tc>
                  <a:txBody>
                    <a:bodyPr/>
                    <a:lstStyle/>
                    <a:p>
                      <a:pPr>
                        <a:defRPr sz="1100" b="1">
                          <a:solidFill>
                            <a:srgbClr val="0F172A"/>
                          </a:solidFill>
                          <a:latin typeface="Avenir Next"/>
                        </a:defRPr>
                      </a:pPr>
                      <a:r>
                        <a:t>cmake</a:t>
                      </a:r>
                    </a:p>
                  </a:txBody>
                  <a:tcPr marL="109728" marR="73152" marT="13716" marB="13716" anchor="ctr">
                    <a:solidFill>
                      <a:srgbClr val="FFFFFF"/>
                    </a:solidFill>
                  </a:tcPr>
                </a:tc>
                <a:tc>
                  <a:txBody>
                    <a:bodyPr/>
                    <a:lstStyle/>
                    <a:p>
                      <a:pPr>
                        <a:defRPr sz="1100" b="0">
                          <a:solidFill>
                            <a:srgbClr val="334155"/>
                          </a:solidFill>
                          <a:latin typeface="Avenir Next"/>
                        </a:defRPr>
                      </a:pPr>
                      <a:r>
                        <a:t>4.3.3 · 4.2.3</a:t>
                      </a:r>
                    </a:p>
                  </a:txBody>
                  <a:tcPr marL="109728" marR="73152" marT="13716" marB="13716" anchor="ctr">
                    <a:solidFill>
                      <a:srgbClr val="FFFFFF"/>
                    </a:solidFill>
                  </a:tcPr>
                </a:tc>
                <a:tc>
                  <a:txBody>
                    <a:bodyPr/>
                    <a:lstStyle/>
                    <a:p>
                      <a:pPr>
                        <a:defRPr sz="1050" b="0">
                          <a:solidFill>
                            <a:srgbClr val="64748B"/>
                          </a:solidFill>
                          <a:latin typeface="Avenir Next"/>
                        </a:defRPr>
                      </a:pPr>
                    </a:p>
                  </a:txBody>
                  <a:tcPr marL="109728" marR="73152" marT="13716" marB="13716" anchor="ctr">
                    <a:solidFill>
                      <a:srgbClr val="FFFFFF"/>
                    </a:solidFill>
                  </a:tcPr>
                </a:tc>
              </a:tr>
              <a:tr h="301752">
                <a:tc>
                  <a:txBody>
                    <a:bodyPr/>
                    <a:lstStyle/>
                    <a:p>
                      <a:pPr>
                        <a:defRPr sz="1100" b="1">
                          <a:solidFill>
                            <a:srgbClr val="0F172A"/>
                          </a:solidFill>
                          <a:latin typeface="Avenir Next"/>
                        </a:defRPr>
                      </a:pPr>
                      <a:r>
                        <a:t>ninja · pkgconf · git</a:t>
                      </a:r>
                    </a:p>
                  </a:txBody>
                  <a:tcPr marL="109728" marR="73152" marT="13716" marB="13716" anchor="ctr">
                    <a:solidFill>
                      <a:srgbClr val="FFFFFF"/>
                    </a:solidFill>
                  </a:tcPr>
                </a:tc>
                <a:tc>
                  <a:txBody>
                    <a:bodyPr/>
                    <a:lstStyle/>
                    <a:p>
                      <a:pPr>
                        <a:defRPr sz="1100" b="0">
                          <a:solidFill>
                            <a:srgbClr val="334155"/>
                          </a:solidFill>
                          <a:latin typeface="Avenir Next"/>
                        </a:defRPr>
                      </a:pPr>
                      <a:r>
                        <a:t>newest</a:t>
                      </a:r>
                    </a:p>
                  </a:txBody>
                  <a:tcPr marL="109728" marR="73152" marT="13716" marB="13716" anchor="ctr">
                    <a:solidFill>
                      <a:srgbClr val="FFFFFF"/>
                    </a:solidFill>
                  </a:tcPr>
                </a:tc>
                <a:tc>
                  <a:txBody>
                    <a:bodyPr/>
                    <a:lstStyle/>
                    <a:p>
                      <a:pPr>
                        <a:defRPr sz="1050" b="0">
                          <a:solidFill>
                            <a:srgbClr val="64748B"/>
                          </a:solidFill>
                          <a:latin typeface="Avenir Next"/>
                        </a:defRPr>
                      </a:pPr>
                      <a:r>
                        <a:t>unpinned; newest from the recipe generation</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python</a:t>
                      </a:r>
                    </a:p>
                  </a:txBody>
                  <a:tcPr marL="109728" marR="73152" marT="13716" marB="13716" anchor="ctr">
                    <a:solidFill>
                      <a:srgbClr val="FFFFFF"/>
                    </a:solidFill>
                  </a:tcPr>
                </a:tc>
                <a:tc>
                  <a:txBody>
                    <a:bodyPr/>
                    <a:lstStyle/>
                    <a:p>
                      <a:pPr>
                        <a:defRPr sz="1100" b="0">
                          <a:solidFill>
                            <a:srgbClr val="334155"/>
                          </a:solidFill>
                          <a:latin typeface="Avenir Next"/>
                        </a:defRPr>
                      </a:pPr>
                      <a:r>
                        <a:t>3.14.5 · 3.13.13</a:t>
                      </a:r>
                    </a:p>
                  </a:txBody>
                  <a:tcPr marL="109728" marR="73152" marT="13716" marB="13716" anchor="ctr">
                    <a:solidFill>
                      <a:srgbClr val="FFFFFF"/>
                    </a:solidFill>
                  </a:tcPr>
                </a:tc>
                <a:tc>
                  <a:txBody>
                    <a:bodyPr/>
                    <a:lstStyle/>
                    <a:p>
                      <a:pPr>
                        <a:defRPr sz="1050" b="0">
                          <a:solidFill>
                            <a:srgbClr val="64748B"/>
                          </a:solidFill>
                          <a:latin typeface="Avenir Next"/>
                        </a:defRPr>
                      </a:pPr>
                      <a:r>
                        <a:t>the two newest supported minor lines</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py-numpy</a:t>
                      </a:r>
                    </a:p>
                  </a:txBody>
                  <a:tcPr marL="109728" marR="73152" marT="13716" marB="13716" anchor="ctr">
                    <a:solidFill>
                      <a:srgbClr val="FFFFFF"/>
                    </a:solidFill>
                  </a:tcPr>
                </a:tc>
                <a:tc>
                  <a:txBody>
                    <a:bodyPr/>
                    <a:lstStyle/>
                    <a:p>
                      <a:pPr>
                        <a:defRPr sz="1100" b="0">
                          <a:solidFill>
                            <a:srgbClr val="334155"/>
                          </a:solidFill>
                          <a:latin typeface="Avenir Next"/>
                        </a:defRPr>
                      </a:pPr>
                      <a:r>
                        <a:t>2.4.6</a:t>
                      </a:r>
                    </a:p>
                  </a:txBody>
                  <a:tcPr marL="109728" marR="73152" marT="13716" marB="13716" anchor="ctr">
                    <a:solidFill>
                      <a:srgbClr val="FFFFFF"/>
                    </a:solidFill>
                  </a:tcPr>
                </a:tc>
                <a:tc>
                  <a:txBody>
                    <a:bodyPr/>
                    <a:lstStyle/>
                    <a:p>
                      <a:pPr>
                        <a:defRPr sz="1050" b="0">
                          <a:solidFill>
                            <a:srgbClr val="64748B"/>
                          </a:solidFill>
                          <a:latin typeface="Avenir Next"/>
                        </a:defRPr>
                      </a:pPr>
                      <a:r>
                        <a:t>built against each python line (newest non-deprecated recipe)</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miniforge3</a:t>
                      </a:r>
                    </a:p>
                  </a:txBody>
                  <a:tcPr marL="109728" marR="73152" marT="13716" marB="13716" anchor="ctr">
                    <a:solidFill>
                      <a:srgbClr val="FFFFFF"/>
                    </a:solidFill>
                  </a:tcPr>
                </a:tc>
                <a:tc>
                  <a:txBody>
                    <a:bodyPr/>
                    <a:lstStyle/>
                    <a:p>
                      <a:pPr>
                        <a:defRPr sz="1100" b="0">
                          <a:solidFill>
                            <a:srgbClr val="334155"/>
                          </a:solidFill>
                          <a:latin typeface="Avenir Next"/>
                        </a:defRPr>
                      </a:pPr>
                      <a:r>
                        <a:t>26.1.1-3</a:t>
                      </a:r>
                    </a:p>
                  </a:txBody>
                  <a:tcPr marL="109728" marR="73152" marT="13716" marB="13716" anchor="ctr">
                    <a:solidFill>
                      <a:srgbClr val="FFFFFF"/>
                    </a:solidFill>
                  </a:tcPr>
                </a:tc>
                <a:tc>
                  <a:txBody>
                    <a:bodyPr/>
                    <a:lstStyle/>
                    <a:p>
                      <a:pPr>
                        <a:defRPr sz="1050" b="0">
                          <a:solidFill>
                            <a:srgbClr val="64748B"/>
                          </a:solidFill>
                          <a:latin typeface="Avenir Next"/>
                        </a:defRPr>
                      </a:pPr>
                      <a:r>
                        <a:t>single by nature; installer for user-managed environments</a:t>
                      </a:r>
                    </a:p>
                  </a:txBody>
                  <a:tcPr marL="109728" marR="73152" marT="13716" marB="13716" anchor="ctr">
                    <a:solidFill>
                      <a:srgbClr val="FFFFFF"/>
                    </a:solidFill>
                  </a:tcPr>
                </a:tc>
              </a:tr>
              <a:tr h="301752">
                <a:tc gridSpan="3">
                  <a:txBody>
                    <a:bodyPr/>
                    <a:lstStyle/>
                    <a:p>
                      <a:pPr>
                        <a:defRPr sz="1150" b="1">
                          <a:solidFill>
                            <a:srgbClr val="FFFFFF"/>
                          </a:solidFill>
                          <a:latin typeface="Avenir Next"/>
                        </a:defRPr>
                      </a:pPr>
                      <a:r>
                        <a:t>Only-serial by nature: no MPI implementation exists</a:t>
                      </a:r>
                    </a:p>
                  </a:txBody>
                  <a:tcPr marL="109728" marR="73152" marT="13716" marB="13716" anchor="ctr">
                    <a:solidFill>
                      <a:srgbClr val="0D9488"/>
                    </a:solidFill>
                  </a:tcPr>
                </a:tc>
                <a:tc hMerge="1">
                  <a:txBody>
                    <a:bodyPr/>
                    <a:lstStyle/>
                    <a:p/>
                  </a:txBody>
                  <a:tcPr/>
                </a:tc>
                <a:tc hMerge="1">
                  <a:txBody>
                    <a:bodyPr/>
                    <a:lstStyle/>
                    <a:p/>
                  </a:txBody>
                  <a:tcPr/>
                </a:tc>
              </a:tr>
              <a:tr h="301752">
                <a:tc>
                  <a:txBody>
                    <a:bodyPr/>
                    <a:lstStyle/>
                    <a:p>
                      <a:pPr>
                        <a:defRPr sz="1100" b="1">
                          <a:solidFill>
                            <a:srgbClr val="0F172A"/>
                          </a:solidFill>
                          <a:latin typeface="Avenir Next"/>
                        </a:defRPr>
                      </a:pPr>
                      <a:r>
                        <a:t>gsl</a:t>
                      </a:r>
                    </a:p>
                  </a:txBody>
                  <a:tcPr marL="109728" marR="73152" marT="13716" marB="13716" anchor="ctr">
                    <a:solidFill>
                      <a:srgbClr val="FFFFFF"/>
                    </a:solidFill>
                  </a:tcPr>
                </a:tc>
                <a:tc>
                  <a:txBody>
                    <a:bodyPr/>
                    <a:lstStyle/>
                    <a:p>
                      <a:pPr>
                        <a:defRPr sz="1100" b="0">
                          <a:solidFill>
                            <a:srgbClr val="334155"/>
                          </a:solidFill>
                          <a:latin typeface="Avenir Next"/>
                        </a:defRPr>
                      </a:pPr>
                      <a:r>
                        <a:t>2.8 · 2.7.1</a:t>
                      </a:r>
                    </a:p>
                  </a:txBody>
                  <a:tcPr marL="109728" marR="73152" marT="13716" marB="13716" anchor="ctr">
                    <a:solidFill>
                      <a:srgbClr val="FFFFFF"/>
                    </a:solidFill>
                  </a:tcPr>
                </a:tc>
                <a:tc>
                  <a:txBody>
                    <a:bodyPr/>
                    <a:lstStyle/>
                    <a:p>
                      <a:pPr>
                        <a:defRPr sz="1050" b="0">
                          <a:solidFill>
                            <a:srgbClr val="64748B"/>
                          </a:solidFill>
                          <a:latin typeface="Avenir Next"/>
                        </a:defRPr>
                      </a:pPr>
                    </a:p>
                  </a:txBody>
                  <a:tcPr marL="109728" marR="73152" marT="13716" marB="13716" anchor="ctr">
                    <a:solidFill>
                      <a:srgbClr val="FFFFFF"/>
                    </a:solidFill>
                  </a:tcPr>
                </a:tc>
              </a:tr>
              <a:tr h="301752">
                <a:tc>
                  <a:txBody>
                    <a:bodyPr/>
                    <a:lstStyle/>
                    <a:p>
                      <a:pPr>
                        <a:defRPr sz="1100" b="1">
                          <a:solidFill>
                            <a:srgbClr val="0F172A"/>
                          </a:solidFill>
                          <a:latin typeface="Avenir Next"/>
                        </a:defRPr>
                      </a:pPr>
                      <a:r>
                        <a:t>sqlite</a:t>
                      </a:r>
                    </a:p>
                  </a:txBody>
                  <a:tcPr marL="109728" marR="73152" marT="13716" marB="13716" anchor="ctr">
                    <a:solidFill>
                      <a:srgbClr val="FFFFFF"/>
                    </a:solidFill>
                  </a:tcPr>
                </a:tc>
                <a:tc>
                  <a:txBody>
                    <a:bodyPr/>
                    <a:lstStyle/>
                    <a:p>
                      <a:pPr>
                        <a:defRPr sz="1100" b="0">
                          <a:solidFill>
                            <a:srgbClr val="334155"/>
                          </a:solidFill>
                          <a:latin typeface="Avenir Next"/>
                        </a:defRPr>
                      </a:pPr>
                      <a:r>
                        <a:t>3.53.1 · 3.51.2</a:t>
                      </a:r>
                    </a:p>
                  </a:txBody>
                  <a:tcPr marL="109728" marR="73152" marT="13716" marB="13716" anchor="ctr">
                    <a:solidFill>
                      <a:srgbClr val="FFFFFF"/>
                    </a:solidFill>
                  </a:tcPr>
                </a:tc>
                <a:tc>
                  <a:txBody>
                    <a:bodyPr/>
                    <a:lstStyle/>
                    <a:p>
                      <a:pPr>
                        <a:defRPr sz="1050" b="0">
                          <a:solidFill>
                            <a:srgbClr val="64748B"/>
                          </a:solidFill>
                          <a:latin typeface="Avenir Next"/>
                        </a:defRPr>
                      </a:pPr>
                    </a:p>
                  </a:txBody>
                  <a:tcPr marL="109728" marR="73152" marT="13716" marB="13716" anchor="ctr">
                    <a:solidFill>
                      <a:srgbClr val="FFFFFF"/>
                    </a:solidFill>
                  </a:tcPr>
                </a:tc>
              </a:tr>
            </a:tbl>
          </a:graphicData>
        </a:graphic>
      </p:graphicFrame>
      <p:sp>
        <p:nvSpPr>
          <p:cNvPr id="7" name="TextBox 6"/>
          <p:cNvSpPr txBox="1"/>
          <p:nvPr/>
        </p:nvSpPr>
        <p:spPr>
          <a:xfrm>
            <a:off x="548640" y="6583680"/>
            <a:ext cx="11064240" cy="256032"/>
          </a:xfrm>
          <a:prstGeom prst="rect">
            <a:avLst/>
          </a:prstGeom>
          <a:noFill/>
        </p:spPr>
        <p:txBody>
          <a:bodyPr wrap="square" anchor="t">
            <a:spAutoFit/>
          </a:bodyPr>
          <a:lstStyle/>
          <a:p>
            <a:pPr algn="l">
              <a:defRPr sz="1050" b="0">
                <a:solidFill>
                  <a:srgbClr val="64748B"/>
                </a:solidFill>
                <a:latin typeface="Avenir Next"/>
              </a:defRPr>
            </a:pPr>
            <a:r>
              <a:t>Version policy: the newest supported release and its immediate predecessor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APPENDIX · EXACT BUILD ROOTS</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Serial lane: MPI-capable, deliberately built without MPI</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81328"/>
          <a:ext cx="11091672" cy="3621024"/>
        </p:xfrm>
        <a:graphic>
          <a:graphicData uri="http://schemas.openxmlformats.org/drawingml/2006/table">
            <a:tbl>
              <a:tblPr>
                <a:tableStyleId>{5C22544A-7EE6-4342-B048-85BDC9FD1C3A}</a:tableStyleId>
              </a:tblPr>
              <a:tblGrid>
                <a:gridCol w="1920240"/>
                <a:gridCol w="2286000"/>
                <a:gridCol w="6885432"/>
              </a:tblGrid>
              <a:tr h="301752">
                <a:tc>
                  <a:txBody>
                    <a:bodyPr/>
                    <a:lstStyle/>
                    <a:p>
                      <a:pPr>
                        <a:defRPr sz="1100" b="1">
                          <a:solidFill>
                            <a:srgbClr val="64748B"/>
                          </a:solidFill>
                          <a:latin typeface="Avenir Next"/>
                        </a:defRPr>
                      </a:pPr>
                      <a:r>
                        <a:t>Package</a:t>
                      </a:r>
                    </a:p>
                  </a:txBody>
                  <a:tcPr marL="109728" marR="73152" marT="13716" marB="13716" anchor="ctr">
                    <a:solidFill>
                      <a:srgbClr val="FFFFFF"/>
                    </a:solidFill>
                  </a:tcPr>
                </a:tc>
                <a:tc>
                  <a:txBody>
                    <a:bodyPr/>
                    <a:lstStyle/>
                    <a:p>
                      <a:pPr>
                        <a:defRPr sz="1100" b="1">
                          <a:solidFill>
                            <a:srgbClr val="64748B"/>
                          </a:solidFill>
                          <a:latin typeface="Avenir Next"/>
                        </a:defRPr>
                      </a:pPr>
                      <a:r>
                        <a:t>Versions</a:t>
                      </a:r>
                    </a:p>
                  </a:txBody>
                  <a:tcPr marL="109728" marR="73152" marT="13716" marB="13716" anchor="ctr">
                    <a:solidFill>
                      <a:srgbClr val="FFFFFF"/>
                    </a:solidFill>
                  </a:tcPr>
                </a:tc>
                <a:tc>
                  <a:txBody>
                    <a:bodyPr/>
                    <a:lstStyle/>
                    <a:p>
                      <a:pPr>
                        <a:defRPr sz="1100" b="1">
                          <a:solidFill>
                            <a:srgbClr val="64748B"/>
                          </a:solidFill>
                          <a:latin typeface="Avenir Next"/>
                        </a:defRPr>
                      </a:pPr>
                      <a:r>
                        <a:t>Built as · pairing</a:t>
                      </a:r>
                    </a:p>
                  </a:txBody>
                  <a:tcPr marL="109728" marR="73152" marT="13716" marB="13716" anchor="ctr">
                    <a:solidFill>
                      <a:srgbClr val="FFFFFF"/>
                    </a:solidFill>
                  </a:tcPr>
                </a:tc>
              </a:tr>
              <a:tr h="301752">
                <a:tc gridSpan="3">
                  <a:txBody>
                    <a:bodyPr/>
                    <a:lstStyle/>
                    <a:p>
                      <a:pPr>
                        <a:defRPr sz="1150" b="1">
                          <a:solidFill>
                            <a:srgbClr val="FFFFFF"/>
                          </a:solidFill>
                          <a:latin typeface="Avenir Next"/>
                        </a:defRPr>
                      </a:pPr>
                      <a:r>
                        <a:t>Serial data chains: each netcdf rides one named hdf5</a:t>
                      </a:r>
                    </a:p>
                  </a:txBody>
                  <a:tcPr marL="109728" marR="73152" marT="13716" marB="13716" anchor="ctr">
                    <a:solidFill>
                      <a:srgbClr val="D97706"/>
                    </a:solidFill>
                  </a:tcPr>
                </a:tc>
                <a:tc hMerge="1">
                  <a:txBody>
                    <a:bodyPr/>
                    <a:lstStyle/>
                    <a:p/>
                  </a:txBody>
                  <a:tcPr/>
                </a:tc>
                <a:tc hMerge="1">
                  <a:txBody>
                    <a:bodyPr/>
                    <a:lstStyle/>
                    <a:p/>
                  </a:txBody>
                  <a:tcPr/>
                </a:tc>
              </a:tr>
              <a:tr h="301752">
                <a:tc>
                  <a:txBody>
                    <a:bodyPr/>
                    <a:lstStyle/>
                    <a:p>
                      <a:pPr>
                        <a:defRPr sz="1100" b="1">
                          <a:solidFill>
                            <a:srgbClr val="0F172A"/>
                          </a:solidFill>
                          <a:latin typeface="Avenir Next"/>
                        </a:defRPr>
                      </a:pPr>
                      <a:r>
                        <a:t>hdf5</a:t>
                      </a:r>
                    </a:p>
                  </a:txBody>
                  <a:tcPr marL="109728" marR="73152" marT="13716" marB="13716" anchor="ctr">
                    <a:solidFill>
                      <a:srgbClr val="FFFFFF"/>
                    </a:solidFill>
                  </a:tcPr>
                </a:tc>
                <a:tc>
                  <a:txBody>
                    <a:bodyPr/>
                    <a:lstStyle/>
                    <a:p>
                      <a:pPr>
                        <a:defRPr sz="1100" b="0">
                          <a:solidFill>
                            <a:srgbClr val="334155"/>
                          </a:solidFill>
                          <a:latin typeface="Avenir Next"/>
                        </a:defRPr>
                      </a:pPr>
                      <a:r>
                        <a:t>2.1.0 · 1.14.6</a:t>
                      </a:r>
                    </a:p>
                  </a:txBody>
                  <a:tcPr marL="109728" marR="73152" marT="13716" marB="13716" anchor="ctr">
                    <a:solidFill>
                      <a:srgbClr val="FFFFFF"/>
                    </a:solidFill>
                  </a:tcPr>
                </a:tc>
                <a:tc>
                  <a:txBody>
                    <a:bodyPr/>
                    <a:lstStyle/>
                    <a:p>
                      <a:pPr>
                        <a:defRPr sz="1050" b="0">
                          <a:solidFill>
                            <a:srgbClr val="64748B"/>
                          </a:solidFill>
                          <a:latin typeface="Avenir Next"/>
                        </a:defRPr>
                      </a:pPr>
                      <a:r>
                        <a:t>~mpi +fortran +cxx +hl</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netcdf-c</a:t>
                      </a:r>
                    </a:p>
                  </a:txBody>
                  <a:tcPr marL="109728" marR="73152" marT="13716" marB="13716" anchor="ctr">
                    <a:solidFill>
                      <a:srgbClr val="FFFFFF"/>
                    </a:solidFill>
                  </a:tcPr>
                </a:tc>
                <a:tc>
                  <a:txBody>
                    <a:bodyPr/>
                    <a:lstStyle/>
                    <a:p>
                      <a:pPr>
                        <a:defRPr sz="1100" b="0">
                          <a:solidFill>
                            <a:srgbClr val="334155"/>
                          </a:solidFill>
                          <a:latin typeface="Avenir Next"/>
                        </a:defRPr>
                      </a:pPr>
                      <a:r>
                        <a:t>4.10.0 · 4.9.3</a:t>
                      </a:r>
                    </a:p>
                  </a:txBody>
                  <a:tcPr marL="109728" marR="73152" marT="13716" marB="13716" anchor="ctr">
                    <a:solidFill>
                      <a:srgbClr val="FFFFFF"/>
                    </a:solidFill>
                  </a:tcPr>
                </a:tc>
                <a:tc>
                  <a:txBody>
                    <a:bodyPr/>
                    <a:lstStyle/>
                    <a:p>
                      <a:pPr>
                        <a:defRPr sz="1050" b="0">
                          <a:solidFill>
                            <a:srgbClr val="64748B"/>
                          </a:solidFill>
                          <a:latin typeface="Avenir Next"/>
                        </a:defRPr>
                      </a:pPr>
                      <a:r>
                        <a:t>~mpi, paired to hdf5 2.1.0 / 1.14.6</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netcdf-fortran</a:t>
                      </a:r>
                    </a:p>
                  </a:txBody>
                  <a:tcPr marL="109728" marR="73152" marT="13716" marB="13716" anchor="ctr">
                    <a:solidFill>
                      <a:srgbClr val="FFFFFF"/>
                    </a:solidFill>
                  </a:tcPr>
                </a:tc>
                <a:tc>
                  <a:txBody>
                    <a:bodyPr/>
                    <a:lstStyle/>
                    <a:p>
                      <a:pPr>
                        <a:defRPr sz="1100" b="0">
                          <a:solidFill>
                            <a:srgbClr val="334155"/>
                          </a:solidFill>
                          <a:latin typeface="Avenir Next"/>
                        </a:defRPr>
                      </a:pPr>
                      <a:r>
                        <a:t>4.6.2 · 4.6.1</a:t>
                      </a:r>
                    </a:p>
                  </a:txBody>
                  <a:tcPr marL="109728" marR="73152" marT="13716" marB="13716" anchor="ctr">
                    <a:solidFill>
                      <a:srgbClr val="FFFFFF"/>
                    </a:solidFill>
                  </a:tcPr>
                </a:tc>
                <a:tc>
                  <a:txBody>
                    <a:bodyPr/>
                    <a:lstStyle/>
                    <a:p>
                      <a:pPr>
                        <a:defRPr sz="1050" b="0">
                          <a:solidFill>
                            <a:srgbClr val="64748B"/>
                          </a:solidFill>
                          <a:latin typeface="Avenir Next"/>
                        </a:defRPr>
                      </a:pPr>
                      <a:r>
                        <a:t>rides its paired netcdf-c / hdf5 chain</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netcdf-cxx4</a:t>
                      </a:r>
                    </a:p>
                  </a:txBody>
                  <a:tcPr marL="109728" marR="73152" marT="13716" marB="13716" anchor="ctr">
                    <a:solidFill>
                      <a:srgbClr val="FFFFFF"/>
                    </a:solidFill>
                  </a:tcPr>
                </a:tc>
                <a:tc>
                  <a:txBody>
                    <a:bodyPr/>
                    <a:lstStyle/>
                    <a:p>
                      <a:pPr>
                        <a:defRPr sz="1100" b="0">
                          <a:solidFill>
                            <a:srgbClr val="334155"/>
                          </a:solidFill>
                          <a:latin typeface="Avenir Next"/>
                        </a:defRPr>
                      </a:pPr>
                      <a:r>
                        <a:t>4.3.1</a:t>
                      </a:r>
                    </a:p>
                  </a:txBody>
                  <a:tcPr marL="109728" marR="73152" marT="13716" marB="13716" anchor="ctr">
                    <a:solidFill>
                      <a:srgbClr val="FFFFFF"/>
                    </a:solidFill>
                  </a:tcPr>
                </a:tc>
                <a:tc>
                  <a:txBody>
                    <a:bodyPr/>
                    <a:lstStyle/>
                    <a:p>
                      <a:pPr>
                        <a:defRPr sz="1050" b="0">
                          <a:solidFill>
                            <a:srgbClr val="64748B"/>
                          </a:solidFill>
                          <a:latin typeface="Avenir Next"/>
                        </a:defRPr>
                      </a:pPr>
                      <a:r>
                        <a:t>single recipe version; newest chain only</a:t>
                      </a:r>
                    </a:p>
                  </a:txBody>
                  <a:tcPr marL="109728" marR="73152" marT="13716" marB="13716" anchor="ctr">
                    <a:solidFill>
                      <a:srgbClr val="FFFFFF"/>
                    </a:solidFill>
                  </a:tcPr>
                </a:tc>
              </a:tr>
              <a:tr h="301752">
                <a:tc gridSpan="3">
                  <a:txBody>
                    <a:bodyPr/>
                    <a:lstStyle/>
                    <a:p>
                      <a:pPr>
                        <a:defRPr sz="1150" b="1">
                          <a:solidFill>
                            <a:srgbClr val="FFFFFF"/>
                          </a:solidFill>
                          <a:latin typeface="Avenir Next"/>
                        </a:defRPr>
                      </a:pPr>
                      <a:r>
                        <a:t>Serial math</a:t>
                      </a:r>
                    </a:p>
                  </a:txBody>
                  <a:tcPr marL="109728" marR="73152" marT="13716" marB="13716" anchor="ctr">
                    <a:solidFill>
                      <a:srgbClr val="D97706"/>
                    </a:solidFill>
                  </a:tcPr>
                </a:tc>
                <a:tc hMerge="1">
                  <a:txBody>
                    <a:bodyPr/>
                    <a:lstStyle/>
                    <a:p/>
                  </a:txBody>
                  <a:tcPr/>
                </a:tc>
                <a:tc hMerge="1">
                  <a:txBody>
                    <a:bodyPr/>
                    <a:lstStyle/>
                    <a:p/>
                  </a:txBody>
                  <a:tcPr/>
                </a:tc>
              </a:tr>
              <a:tr h="301752">
                <a:tc>
                  <a:txBody>
                    <a:bodyPr/>
                    <a:lstStyle/>
                    <a:p>
                      <a:pPr>
                        <a:defRPr sz="1100" b="1">
                          <a:solidFill>
                            <a:srgbClr val="0F172A"/>
                          </a:solidFill>
                          <a:latin typeface="Avenir Next"/>
                        </a:defRPr>
                      </a:pPr>
                      <a:r>
                        <a:t>fftw</a:t>
                      </a:r>
                    </a:p>
                  </a:txBody>
                  <a:tcPr marL="109728" marR="73152" marT="13716" marB="13716" anchor="ctr">
                    <a:solidFill>
                      <a:srgbClr val="FFFFFF"/>
                    </a:solidFill>
                  </a:tcPr>
                </a:tc>
                <a:tc>
                  <a:txBody>
                    <a:bodyPr/>
                    <a:lstStyle/>
                    <a:p>
                      <a:pPr>
                        <a:defRPr sz="1100" b="0">
                          <a:solidFill>
                            <a:srgbClr val="334155"/>
                          </a:solidFill>
                          <a:latin typeface="Avenir Next"/>
                        </a:defRPr>
                      </a:pPr>
                      <a:r>
                        <a:t>3.3.11 · 3.3.10</a:t>
                      </a:r>
                    </a:p>
                  </a:txBody>
                  <a:tcPr marL="109728" marR="73152" marT="13716" marB="13716" anchor="ctr">
                    <a:solidFill>
                      <a:srgbClr val="FFFFFF"/>
                    </a:solidFill>
                  </a:tcPr>
                </a:tc>
                <a:tc>
                  <a:txBody>
                    <a:bodyPr/>
                    <a:lstStyle/>
                    <a:p>
                      <a:pPr>
                        <a:defRPr sz="1050" b="0">
                          <a:solidFill>
                            <a:srgbClr val="64748B"/>
                          </a:solidFill>
                          <a:latin typeface="Avenir Next"/>
                        </a:defRPr>
                      </a:pPr>
                      <a:r>
                        <a:t>~mpi</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boost</a:t>
                      </a:r>
                    </a:p>
                  </a:txBody>
                  <a:tcPr marL="109728" marR="73152" marT="13716" marB="13716" anchor="ctr">
                    <a:solidFill>
                      <a:srgbClr val="FFFFFF"/>
                    </a:solidFill>
                  </a:tcPr>
                </a:tc>
                <a:tc>
                  <a:txBody>
                    <a:bodyPr/>
                    <a:lstStyle/>
                    <a:p>
                      <a:pPr>
                        <a:defRPr sz="1100" b="0">
                          <a:solidFill>
                            <a:srgbClr val="334155"/>
                          </a:solidFill>
                          <a:latin typeface="Avenir Next"/>
                        </a:defRPr>
                      </a:pPr>
                      <a:r>
                        <a:t>1.90.0 · 1.89.0</a:t>
                      </a:r>
                    </a:p>
                  </a:txBody>
                  <a:tcPr marL="109728" marR="73152" marT="13716" marB="13716" anchor="ctr">
                    <a:solidFill>
                      <a:srgbClr val="FFFFFF"/>
                    </a:solidFill>
                  </a:tcPr>
                </a:tc>
                <a:tc>
                  <a:txBody>
                    <a:bodyPr/>
                    <a:lstStyle/>
                    <a:p>
                      <a:pPr>
                        <a:defRPr sz="1050" b="0">
                          <a:solidFill>
                            <a:srgbClr val="64748B"/>
                          </a:solidFill>
                          <a:latin typeface="Avenir Next"/>
                        </a:defRPr>
                      </a:pPr>
                      <a:r>
                        <a:t>~mpi here; the MPI lane carries its own +mpi build</a:t>
                      </a:r>
                    </a:p>
                  </a:txBody>
                  <a:tcPr marL="109728" marR="73152" marT="13716" marB="13716" anchor="ctr">
                    <a:solidFill>
                      <a:srgbClr val="FFFFFF"/>
                    </a:solidFill>
                  </a:tcPr>
                </a:tc>
              </a:tr>
              <a:tr h="301752">
                <a:tc gridSpan="3">
                  <a:txBody>
                    <a:bodyPr/>
                    <a:lstStyle/>
                    <a:p>
                      <a:pPr>
                        <a:defRPr sz="1150" b="1">
                          <a:solidFill>
                            <a:srgbClr val="FFFFFF"/>
                          </a:solidFill>
                          <a:latin typeface="Avenir Next"/>
                        </a:defRPr>
                      </a:pPr>
                      <a:r>
                        <a:t>Common compiler-dependent: built here once, available in every lane</a:t>
                      </a:r>
                    </a:p>
                  </a:txBody>
                  <a:tcPr marL="109728" marR="73152" marT="13716" marB="13716" anchor="ctr">
                    <a:solidFill>
                      <a:srgbClr val="15803D"/>
                    </a:solidFill>
                  </a:tcPr>
                </a:tc>
                <a:tc hMerge="1">
                  <a:txBody>
                    <a:bodyPr/>
                    <a:lstStyle/>
                    <a:p/>
                  </a:txBody>
                  <a:tcPr/>
                </a:tc>
                <a:tc hMerge="1">
                  <a:txBody>
                    <a:bodyPr/>
                    <a:lstStyle/>
                    <a:p/>
                  </a:txBody>
                  <a:tcPr/>
                </a:tc>
              </a:tr>
              <a:tr h="301752">
                <a:tc>
                  <a:txBody>
                    <a:bodyPr/>
                    <a:lstStyle/>
                    <a:p>
                      <a:pPr>
                        <a:defRPr sz="1100" b="1">
                          <a:solidFill>
                            <a:srgbClr val="0F172A"/>
                          </a:solidFill>
                          <a:latin typeface="Avenir Next"/>
                        </a:defRPr>
                      </a:pPr>
                      <a:r>
                        <a:t>openblas</a:t>
                      </a:r>
                    </a:p>
                  </a:txBody>
                  <a:tcPr marL="109728" marR="73152" marT="13716" marB="13716" anchor="ctr">
                    <a:solidFill>
                      <a:srgbClr val="FFFFFF"/>
                    </a:solidFill>
                  </a:tcPr>
                </a:tc>
                <a:tc>
                  <a:txBody>
                    <a:bodyPr/>
                    <a:lstStyle/>
                    <a:p>
                      <a:pPr>
                        <a:defRPr sz="1100" b="0">
                          <a:solidFill>
                            <a:srgbClr val="334155"/>
                          </a:solidFill>
                          <a:latin typeface="Avenir Next"/>
                        </a:defRPr>
                      </a:pPr>
                      <a:r>
                        <a:t>0.3.33 · 0.3.32</a:t>
                      </a:r>
                    </a:p>
                  </a:txBody>
                  <a:tcPr marL="109728" marR="73152" marT="13716" marB="13716" anchor="ctr">
                    <a:solidFill>
                      <a:srgbClr val="FFFFFF"/>
                    </a:solidFill>
                  </a:tcPr>
                </a:tc>
                <a:tc>
                  <a:txBody>
                    <a:bodyPr/>
                    <a:lstStyle/>
                    <a:p>
                      <a:pPr>
                        <a:defRPr sz="1050" b="0">
                          <a:solidFill>
                            <a:srgbClr val="64748B"/>
                          </a:solidFill>
                          <a:latin typeface="Avenir Next"/>
                        </a:defRPr>
                      </a:pPr>
                      <a:r>
                        <a:t>the one BLAS and LAPACK: openblas provides both APIs. Payload rather than core: performance-sensitive</a:t>
                      </a:r>
                    </a:p>
                  </a:txBody>
                  <a:tcPr marL="109728" marR="73152" marT="13716" marB="13716" anchor="ctr">
                    <a:solidFill>
                      <a:srgbClr val="FFFFFF"/>
                    </a:solidFill>
                  </a:tcPr>
                </a:tc>
              </a:tr>
              <a:tr h="301752">
                <a:tc>
                  <a:txBody>
                    <a:bodyPr/>
                    <a:lstStyle/>
                    <a:p>
                      <a:pPr>
                        <a:defRPr sz="1100" b="1">
                          <a:solidFill>
                            <a:srgbClr val="0F172A"/>
                          </a:solidFill>
                          <a:latin typeface="Avenir Next"/>
                        </a:defRPr>
                      </a:pPr>
                      <a:r>
                        <a:t>gnuplot</a:t>
                      </a:r>
                    </a:p>
                  </a:txBody>
                  <a:tcPr marL="109728" marR="73152" marT="13716" marB="13716" anchor="ctr">
                    <a:solidFill>
                      <a:srgbClr val="FFFFFF"/>
                    </a:solidFill>
                  </a:tcPr>
                </a:tc>
                <a:tc>
                  <a:txBody>
                    <a:bodyPr/>
                    <a:lstStyle/>
                    <a:p>
                      <a:pPr>
                        <a:defRPr sz="1100" b="0">
                          <a:solidFill>
                            <a:srgbClr val="334155"/>
                          </a:solidFill>
                          <a:latin typeface="Avenir Next"/>
                        </a:defRPr>
                      </a:pPr>
                      <a:r>
                        <a:t>6.0.0 · 5.4.10</a:t>
                      </a:r>
                    </a:p>
                  </a:txBody>
                  <a:tcPr marL="109728" marR="73152" marT="13716" marB="13716" anchor="ctr">
                    <a:solidFill>
                      <a:srgbClr val="FFFFFF"/>
                    </a:solidFill>
                  </a:tcPr>
                </a:tc>
                <a:tc>
                  <a:txBody>
                    <a:bodyPr/>
                    <a:lstStyle/>
                    <a:p>
                      <a:pPr>
                        <a:defRPr sz="1050" b="0">
                          <a:solidFill>
                            <a:srgbClr val="64748B"/>
                          </a:solidFill>
                          <a:latin typeface="Avenir Next"/>
                        </a:defRPr>
                      </a:pPr>
                      <a:r>
                        <a:t>needs the surface's compiler, so payload rather than core</a:t>
                      </a:r>
                    </a:p>
                  </a:txBody>
                  <a:tcPr marL="109728" marR="73152" marT="13716" marB="13716" anchor="ctr">
                    <a:solidFill>
                      <a:srgbClr val="FFFFFF"/>
                    </a:solidFill>
                  </a:tcPr>
                </a:tc>
              </a:tr>
            </a:tbl>
          </a:graphicData>
        </a:graphic>
      </p:graphicFrame>
      <p:sp>
        <p:nvSpPr>
          <p:cNvPr id="7" name="TextBox 6"/>
          <p:cNvSpPr txBox="1"/>
          <p:nvPr/>
        </p:nvSpPr>
        <p:spPr>
          <a:xfrm>
            <a:off x="548640" y="6583680"/>
            <a:ext cx="11064240" cy="256032"/>
          </a:xfrm>
          <a:prstGeom prst="rect">
            <a:avLst/>
          </a:prstGeom>
          <a:noFill/>
        </p:spPr>
        <p:txBody>
          <a:bodyPr wrap="square" anchor="t">
            <a:spAutoFit/>
          </a:bodyPr>
          <a:lstStyle/>
          <a:p>
            <a:pPr algn="l">
              <a:defRPr sz="1050" b="0">
                <a:solidFill>
                  <a:srgbClr val="64748B"/>
                </a:solidFill>
                <a:latin typeface="Avenir Next"/>
              </a:defRPr>
            </a:pPr>
            <a:r>
              <a:t>Version policy: the newest supported release and its immediate predecessor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365760"/>
          </a:xfrm>
          <a:prstGeom prst="rect">
            <a:avLst/>
          </a:prstGeom>
          <a:noFill/>
        </p:spPr>
        <p:txBody>
          <a:bodyPr wrap="square" anchor="t">
            <a:spAutoFit/>
          </a:bodyPr>
          <a:lstStyle/>
          <a:p>
            <a:pPr algn="l">
              <a:defRPr sz="1300" b="1">
                <a:solidFill>
                  <a:srgbClr val="0D9488"/>
                </a:solidFill>
                <a:latin typeface="Avenir Next"/>
              </a:defRPr>
            </a:pPr>
            <a:r>
              <a:t>APPENDIX · EXACT BUILD ROOTS</a:t>
            </a:r>
          </a:p>
        </p:txBody>
      </p:sp>
      <p:sp>
        <p:nvSpPr>
          <p:cNvPr id="4" name="TextBox 3"/>
          <p:cNvSpPr txBox="1"/>
          <p:nvPr/>
        </p:nvSpPr>
        <p:spPr>
          <a:xfrm>
            <a:off x="548640" y="566928"/>
            <a:ext cx="11064240" cy="731520"/>
          </a:xfrm>
          <a:prstGeom prst="rect">
            <a:avLst/>
          </a:prstGeom>
          <a:noFill/>
        </p:spPr>
        <p:txBody>
          <a:bodyPr wrap="square" anchor="t">
            <a:spAutoFit/>
          </a:bodyPr>
          <a:lstStyle/>
          <a:p>
            <a:pPr algn="l">
              <a:defRPr sz="3000" b="1">
                <a:solidFill>
                  <a:srgbClr val="0F172A"/>
                </a:solidFill>
                <a:latin typeface="Avenir Next"/>
              </a:defRPr>
            </a:pPr>
            <a:r>
              <a:t>MPI and GPU lanes: built against the system MPI</a:t>
            </a:r>
          </a:p>
        </p:txBody>
      </p:sp>
      <p:sp>
        <p:nvSpPr>
          <p:cNvPr id="5" name="Rectangle 4"/>
          <p:cNvSpPr/>
          <p:nvPr/>
        </p:nvSpPr>
        <p:spPr>
          <a:xfrm>
            <a:off x="566928" y="1298448"/>
            <a:ext cx="1463040" cy="411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81328"/>
          <a:ext cx="11091672" cy="4829860"/>
        </p:xfrm>
        <a:graphic>
          <a:graphicData uri="http://schemas.openxmlformats.org/drawingml/2006/table">
            <a:tbl>
              <a:tblPr>
                <a:tableStyleId>{5C22544A-7EE6-4342-B048-85BDC9FD1C3A}</a:tableStyleId>
              </a:tblPr>
              <a:tblGrid>
                <a:gridCol w="1920240"/>
                <a:gridCol w="2286000"/>
                <a:gridCol w="6885432"/>
              </a:tblGrid>
              <a:tr h="254203">
                <a:tc>
                  <a:txBody>
                    <a:bodyPr/>
                    <a:lstStyle/>
                    <a:p>
                      <a:pPr>
                        <a:defRPr sz="1100" b="1">
                          <a:solidFill>
                            <a:srgbClr val="64748B"/>
                          </a:solidFill>
                          <a:latin typeface="Avenir Next"/>
                        </a:defRPr>
                      </a:pPr>
                      <a:r>
                        <a:t>Package</a:t>
                      </a:r>
                    </a:p>
                  </a:txBody>
                  <a:tcPr marL="109728" marR="73152" marT="13716" marB="13716" anchor="ctr">
                    <a:solidFill>
                      <a:srgbClr val="FFFFFF"/>
                    </a:solidFill>
                  </a:tcPr>
                </a:tc>
                <a:tc>
                  <a:txBody>
                    <a:bodyPr/>
                    <a:lstStyle/>
                    <a:p>
                      <a:pPr>
                        <a:defRPr sz="1100" b="1">
                          <a:solidFill>
                            <a:srgbClr val="64748B"/>
                          </a:solidFill>
                          <a:latin typeface="Avenir Next"/>
                        </a:defRPr>
                      </a:pPr>
                      <a:r>
                        <a:t>Versions</a:t>
                      </a:r>
                    </a:p>
                  </a:txBody>
                  <a:tcPr marL="109728" marR="73152" marT="13716" marB="13716" anchor="ctr">
                    <a:solidFill>
                      <a:srgbClr val="FFFFFF"/>
                    </a:solidFill>
                  </a:tcPr>
                </a:tc>
                <a:tc>
                  <a:txBody>
                    <a:bodyPr/>
                    <a:lstStyle/>
                    <a:p>
                      <a:pPr>
                        <a:defRPr sz="1100" b="1">
                          <a:solidFill>
                            <a:srgbClr val="64748B"/>
                          </a:solidFill>
                          <a:latin typeface="Avenir Next"/>
                        </a:defRPr>
                      </a:pPr>
                      <a:r>
                        <a:t>Built as · pairing</a:t>
                      </a:r>
                    </a:p>
                  </a:txBody>
                  <a:tcPr marL="109728" marR="73152" marT="13716" marB="13716" anchor="ctr">
                    <a:solidFill>
                      <a:srgbClr val="FFFFFF"/>
                    </a:solidFill>
                  </a:tcPr>
                </a:tc>
              </a:tr>
              <a:tr h="254203">
                <a:tc gridSpan="3">
                  <a:txBody>
                    <a:bodyPr/>
                    <a:lstStyle/>
                    <a:p>
                      <a:pPr>
                        <a:defRPr sz="1150" b="1">
                          <a:solidFill>
                            <a:srgbClr val="FFFFFF"/>
                          </a:solidFill>
                          <a:latin typeface="Avenir Next"/>
                        </a:defRPr>
                      </a:pPr>
                      <a:r>
                        <a:t>MPI data chains: same pairing rule as serial</a:t>
                      </a:r>
                    </a:p>
                  </a:txBody>
                  <a:tcPr marL="109728" marR="73152" marT="13716" marB="13716" anchor="ctr">
                    <a:solidFill>
                      <a:srgbClr val="2563EB"/>
                    </a:solidFill>
                  </a:tcPr>
                </a:tc>
                <a:tc hMerge="1">
                  <a:txBody>
                    <a:bodyPr/>
                    <a:lstStyle/>
                    <a:p/>
                  </a:txBody>
                  <a:tcPr/>
                </a:tc>
                <a:tc hMerge="1">
                  <a:txBody>
                    <a:bodyPr/>
                    <a:lstStyle/>
                    <a:p/>
                  </a:txBody>
                  <a:tcPr/>
                </a:tc>
              </a:tr>
              <a:tr h="254203">
                <a:tc>
                  <a:txBody>
                    <a:bodyPr/>
                    <a:lstStyle/>
                    <a:p>
                      <a:pPr>
                        <a:defRPr sz="1100" b="1">
                          <a:solidFill>
                            <a:srgbClr val="0F172A"/>
                          </a:solidFill>
                          <a:latin typeface="Avenir Next"/>
                        </a:defRPr>
                      </a:pPr>
                      <a:r>
                        <a:t>hdf5</a:t>
                      </a:r>
                    </a:p>
                  </a:txBody>
                  <a:tcPr marL="109728" marR="73152" marT="13716" marB="13716" anchor="ctr">
                    <a:solidFill>
                      <a:srgbClr val="FFFFFF"/>
                    </a:solidFill>
                  </a:tcPr>
                </a:tc>
                <a:tc>
                  <a:txBody>
                    <a:bodyPr/>
                    <a:lstStyle/>
                    <a:p>
                      <a:pPr>
                        <a:defRPr sz="1100" b="0">
                          <a:solidFill>
                            <a:srgbClr val="334155"/>
                          </a:solidFill>
                          <a:latin typeface="Avenir Next"/>
                        </a:defRPr>
                      </a:pPr>
                      <a:r>
                        <a:t>2.1.0 · 1.14.6</a:t>
                      </a:r>
                    </a:p>
                  </a:txBody>
                  <a:tcPr marL="109728" marR="73152" marT="13716" marB="13716" anchor="ctr">
                    <a:solidFill>
                      <a:srgbClr val="FFFFFF"/>
                    </a:solidFill>
                  </a:tcPr>
                </a:tc>
                <a:tc>
                  <a:txBody>
                    <a:bodyPr/>
                    <a:lstStyle/>
                    <a:p>
                      <a:pPr>
                        <a:defRPr sz="1050" b="0">
                          <a:solidFill>
                            <a:srgbClr val="64748B"/>
                          </a:solidFill>
                          <a:latin typeface="Avenir Next"/>
                        </a:defRPr>
                      </a:pPr>
                      <a:r>
                        <a:t>+mpi +fortran +cxx +hl</a:t>
                      </a:r>
                    </a:p>
                  </a:txBody>
                  <a:tcPr marL="109728" marR="73152" marT="13716" marB="13716" anchor="ctr">
                    <a:solidFill>
                      <a:srgbClr val="FFFFFF"/>
                    </a:solidFill>
                  </a:tcPr>
                </a:tc>
              </a:tr>
              <a:tr h="254203">
                <a:tc>
                  <a:txBody>
                    <a:bodyPr/>
                    <a:lstStyle/>
                    <a:p>
                      <a:pPr>
                        <a:defRPr sz="1100" b="1">
                          <a:solidFill>
                            <a:srgbClr val="0F172A"/>
                          </a:solidFill>
                          <a:latin typeface="Avenir Next"/>
                        </a:defRPr>
                      </a:pPr>
                      <a:r>
                        <a:t>netcdf-c</a:t>
                      </a:r>
                    </a:p>
                  </a:txBody>
                  <a:tcPr marL="109728" marR="73152" marT="13716" marB="13716" anchor="ctr">
                    <a:solidFill>
                      <a:srgbClr val="FFFFFF"/>
                    </a:solidFill>
                  </a:tcPr>
                </a:tc>
                <a:tc>
                  <a:txBody>
                    <a:bodyPr/>
                    <a:lstStyle/>
                    <a:p>
                      <a:pPr>
                        <a:defRPr sz="1100" b="0">
                          <a:solidFill>
                            <a:srgbClr val="334155"/>
                          </a:solidFill>
                          <a:latin typeface="Avenir Next"/>
                        </a:defRPr>
                      </a:pPr>
                      <a:r>
                        <a:t>4.10.0 · 4.9.3</a:t>
                      </a:r>
                    </a:p>
                  </a:txBody>
                  <a:tcPr marL="109728" marR="73152" marT="13716" marB="13716" anchor="ctr">
                    <a:solidFill>
                      <a:srgbClr val="FFFFFF"/>
                    </a:solidFill>
                  </a:tcPr>
                </a:tc>
                <a:tc>
                  <a:txBody>
                    <a:bodyPr/>
                    <a:lstStyle/>
                    <a:p>
                      <a:pPr>
                        <a:defRPr sz="1050" b="0">
                          <a:solidFill>
                            <a:srgbClr val="64748B"/>
                          </a:solidFill>
                          <a:latin typeface="Avenir Next"/>
                        </a:defRPr>
                      </a:pPr>
                      <a:r>
                        <a:t>+mpi +parallel-netcdf, paired to hdf5 2.1.0 / 1.14.6</a:t>
                      </a:r>
                    </a:p>
                  </a:txBody>
                  <a:tcPr marL="109728" marR="73152" marT="13716" marB="13716" anchor="ctr">
                    <a:solidFill>
                      <a:srgbClr val="FFFFFF"/>
                    </a:solidFill>
                  </a:tcPr>
                </a:tc>
              </a:tr>
              <a:tr h="254203">
                <a:tc>
                  <a:txBody>
                    <a:bodyPr/>
                    <a:lstStyle/>
                    <a:p>
                      <a:pPr>
                        <a:defRPr sz="1100" b="1">
                          <a:solidFill>
                            <a:srgbClr val="0F172A"/>
                          </a:solidFill>
                          <a:latin typeface="Avenir Next"/>
                        </a:defRPr>
                      </a:pPr>
                      <a:r>
                        <a:t>netcdf-fortran</a:t>
                      </a:r>
                    </a:p>
                  </a:txBody>
                  <a:tcPr marL="109728" marR="73152" marT="13716" marB="13716" anchor="ctr">
                    <a:solidFill>
                      <a:srgbClr val="FFFFFF"/>
                    </a:solidFill>
                  </a:tcPr>
                </a:tc>
                <a:tc>
                  <a:txBody>
                    <a:bodyPr/>
                    <a:lstStyle/>
                    <a:p>
                      <a:pPr>
                        <a:defRPr sz="1100" b="0">
                          <a:solidFill>
                            <a:srgbClr val="334155"/>
                          </a:solidFill>
                          <a:latin typeface="Avenir Next"/>
                        </a:defRPr>
                      </a:pPr>
                      <a:r>
                        <a:t>4.6.2 · 4.6.1</a:t>
                      </a:r>
                    </a:p>
                  </a:txBody>
                  <a:tcPr marL="109728" marR="73152" marT="13716" marB="13716" anchor="ctr">
                    <a:solidFill>
                      <a:srgbClr val="FFFFFF"/>
                    </a:solidFill>
                  </a:tcPr>
                </a:tc>
                <a:tc>
                  <a:txBody>
                    <a:bodyPr/>
                    <a:lstStyle/>
                    <a:p>
                      <a:pPr>
                        <a:defRPr sz="1050" b="0">
                          <a:solidFill>
                            <a:srgbClr val="64748B"/>
                          </a:solidFill>
                          <a:latin typeface="Avenir Next"/>
                        </a:defRPr>
                      </a:pPr>
                      <a:r>
                        <a:t>rides its paired netcdf-c / hdf5 chain</a:t>
                      </a:r>
                    </a:p>
                  </a:txBody>
                  <a:tcPr marL="109728" marR="73152" marT="13716" marB="13716" anchor="ctr">
                    <a:solidFill>
                      <a:srgbClr val="FFFFFF"/>
                    </a:solidFill>
                  </a:tcPr>
                </a:tc>
              </a:tr>
              <a:tr h="254203">
                <a:tc>
                  <a:txBody>
                    <a:bodyPr/>
                    <a:lstStyle/>
                    <a:p>
                      <a:pPr>
                        <a:defRPr sz="1100" b="1">
                          <a:solidFill>
                            <a:srgbClr val="0F172A"/>
                          </a:solidFill>
                          <a:latin typeface="Avenir Next"/>
                        </a:defRPr>
                      </a:pPr>
                      <a:r>
                        <a:t>netcdf-cxx4</a:t>
                      </a:r>
                    </a:p>
                  </a:txBody>
                  <a:tcPr marL="109728" marR="73152" marT="13716" marB="13716" anchor="ctr">
                    <a:solidFill>
                      <a:srgbClr val="FFFFFF"/>
                    </a:solidFill>
                  </a:tcPr>
                </a:tc>
                <a:tc>
                  <a:txBody>
                    <a:bodyPr/>
                    <a:lstStyle/>
                    <a:p>
                      <a:pPr>
                        <a:defRPr sz="1100" b="0">
                          <a:solidFill>
                            <a:srgbClr val="334155"/>
                          </a:solidFill>
                          <a:latin typeface="Avenir Next"/>
                        </a:defRPr>
                      </a:pPr>
                      <a:r>
                        <a:t>4.3.1</a:t>
                      </a:r>
                    </a:p>
                  </a:txBody>
                  <a:tcPr marL="109728" marR="73152" marT="13716" marB="13716" anchor="ctr">
                    <a:solidFill>
                      <a:srgbClr val="FFFFFF"/>
                    </a:solidFill>
                  </a:tcPr>
                </a:tc>
                <a:tc>
                  <a:txBody>
                    <a:bodyPr/>
                    <a:lstStyle/>
                    <a:p>
                      <a:pPr>
                        <a:defRPr sz="1050" b="0">
                          <a:solidFill>
                            <a:srgbClr val="64748B"/>
                          </a:solidFill>
                          <a:latin typeface="Avenir Next"/>
                        </a:defRPr>
                      </a:pPr>
                      <a:r>
                        <a:t>single recipe version; newest chain only</a:t>
                      </a:r>
                    </a:p>
                  </a:txBody>
                  <a:tcPr marL="109728" marR="73152" marT="13716" marB="13716" anchor="ctr">
                    <a:solidFill>
                      <a:srgbClr val="FFFFFF"/>
                    </a:solidFill>
                  </a:tcPr>
                </a:tc>
              </a:tr>
              <a:tr h="254203">
                <a:tc gridSpan="3">
                  <a:txBody>
                    <a:bodyPr/>
                    <a:lstStyle/>
                    <a:p>
                      <a:pPr>
                        <a:defRPr sz="1150" b="1">
                          <a:solidFill>
                            <a:srgbClr val="FFFFFF"/>
                          </a:solidFill>
                          <a:latin typeface="Avenir Next"/>
                        </a:defRPr>
                      </a:pPr>
                      <a:r>
                        <a:t>MPI math and tools</a:t>
                      </a:r>
                    </a:p>
                  </a:txBody>
                  <a:tcPr marL="109728" marR="73152" marT="13716" marB="13716" anchor="ctr">
                    <a:solidFill>
                      <a:srgbClr val="2563EB"/>
                    </a:solidFill>
                  </a:tcPr>
                </a:tc>
                <a:tc hMerge="1">
                  <a:txBody>
                    <a:bodyPr/>
                    <a:lstStyle/>
                    <a:p/>
                  </a:txBody>
                  <a:tcPr/>
                </a:tc>
                <a:tc hMerge="1">
                  <a:txBody>
                    <a:bodyPr/>
                    <a:lstStyle/>
                    <a:p/>
                  </a:txBody>
                  <a:tcPr/>
                </a:tc>
              </a:tr>
              <a:tr h="254203">
                <a:tc>
                  <a:txBody>
                    <a:bodyPr/>
                    <a:lstStyle/>
                    <a:p>
                      <a:pPr>
                        <a:defRPr sz="1100" b="1">
                          <a:solidFill>
                            <a:srgbClr val="0F172A"/>
                          </a:solidFill>
                          <a:latin typeface="Avenir Next"/>
                        </a:defRPr>
                      </a:pPr>
                      <a:r>
                        <a:t>fftw</a:t>
                      </a:r>
                    </a:p>
                  </a:txBody>
                  <a:tcPr marL="109728" marR="73152" marT="13716" marB="13716" anchor="ctr">
                    <a:solidFill>
                      <a:srgbClr val="FFFFFF"/>
                    </a:solidFill>
                  </a:tcPr>
                </a:tc>
                <a:tc>
                  <a:txBody>
                    <a:bodyPr/>
                    <a:lstStyle/>
                    <a:p>
                      <a:pPr>
                        <a:defRPr sz="1100" b="0">
                          <a:solidFill>
                            <a:srgbClr val="334155"/>
                          </a:solidFill>
                          <a:latin typeface="Avenir Next"/>
                        </a:defRPr>
                      </a:pPr>
                      <a:r>
                        <a:t>3.3.11 · 3.3.10</a:t>
                      </a:r>
                    </a:p>
                  </a:txBody>
                  <a:tcPr marL="109728" marR="73152" marT="13716" marB="13716" anchor="ctr">
                    <a:solidFill>
                      <a:srgbClr val="FFFFFF"/>
                    </a:solidFill>
                  </a:tcPr>
                </a:tc>
                <a:tc>
                  <a:txBody>
                    <a:bodyPr/>
                    <a:lstStyle/>
                    <a:p>
                      <a:pPr>
                        <a:defRPr sz="1050" b="0">
                          <a:solidFill>
                            <a:srgbClr val="64748B"/>
                          </a:solidFill>
                          <a:latin typeface="Avenir Next"/>
                        </a:defRPr>
                      </a:pPr>
                      <a:r>
                        <a:t>+mpi</a:t>
                      </a:r>
                    </a:p>
                  </a:txBody>
                  <a:tcPr marL="109728" marR="73152" marT="13716" marB="13716" anchor="ctr">
                    <a:solidFill>
                      <a:srgbClr val="FFFFFF"/>
                    </a:solidFill>
                  </a:tcPr>
                </a:tc>
              </a:tr>
              <a:tr h="254203">
                <a:tc>
                  <a:txBody>
                    <a:bodyPr/>
                    <a:lstStyle/>
                    <a:p>
                      <a:pPr>
                        <a:defRPr sz="1100" b="1">
                          <a:solidFill>
                            <a:srgbClr val="0F172A"/>
                          </a:solidFill>
                          <a:latin typeface="Avenir Next"/>
                        </a:defRPr>
                      </a:pPr>
                      <a:r>
                        <a:t>boost</a:t>
                      </a:r>
                    </a:p>
                  </a:txBody>
                  <a:tcPr marL="109728" marR="73152" marT="13716" marB="13716" anchor="ctr">
                    <a:solidFill>
                      <a:srgbClr val="FFFFFF"/>
                    </a:solidFill>
                  </a:tcPr>
                </a:tc>
                <a:tc>
                  <a:txBody>
                    <a:bodyPr/>
                    <a:lstStyle/>
                    <a:p>
                      <a:pPr>
                        <a:defRPr sz="1100" b="0">
                          <a:solidFill>
                            <a:srgbClr val="334155"/>
                          </a:solidFill>
                          <a:latin typeface="Avenir Next"/>
                        </a:defRPr>
                      </a:pPr>
                      <a:r>
                        <a:t>1.90.0 · 1.89.0</a:t>
                      </a:r>
                    </a:p>
                  </a:txBody>
                  <a:tcPr marL="109728" marR="73152" marT="13716" marB="13716" anchor="ctr">
                    <a:solidFill>
                      <a:srgbClr val="FFFFFF"/>
                    </a:solidFill>
                  </a:tcPr>
                </a:tc>
                <a:tc>
                  <a:txBody>
                    <a:bodyPr/>
                    <a:lstStyle/>
                    <a:p>
                      <a:pPr>
                        <a:defRPr sz="1050" b="0">
                          <a:solidFill>
                            <a:srgbClr val="64748B"/>
                          </a:solidFill>
                          <a:latin typeface="Avenir Next"/>
                        </a:defRPr>
                      </a:pPr>
                      <a:r>
                        <a:t>+mpi; the Serial lane carries its own ~mpi build</a:t>
                      </a:r>
                    </a:p>
                  </a:txBody>
                  <a:tcPr marL="109728" marR="73152" marT="13716" marB="13716" anchor="ctr">
                    <a:solidFill>
                      <a:srgbClr val="FFFFFF"/>
                    </a:solidFill>
                  </a:tcPr>
                </a:tc>
              </a:tr>
              <a:tr h="254203">
                <a:tc>
                  <a:txBody>
                    <a:bodyPr/>
                    <a:lstStyle/>
                    <a:p>
                      <a:pPr>
                        <a:defRPr sz="1100" b="1">
                          <a:solidFill>
                            <a:srgbClr val="0F172A"/>
                          </a:solidFill>
                          <a:latin typeface="Avenir Next"/>
                        </a:defRPr>
                      </a:pPr>
                      <a:r>
                        <a:t>netlib-scalapack</a:t>
                      </a:r>
                    </a:p>
                  </a:txBody>
                  <a:tcPr marL="109728" marR="73152" marT="13716" marB="13716" anchor="ctr">
                    <a:solidFill>
                      <a:srgbClr val="FFFFFF"/>
                    </a:solidFill>
                  </a:tcPr>
                </a:tc>
                <a:tc>
                  <a:txBody>
                    <a:bodyPr/>
                    <a:lstStyle/>
                    <a:p>
                      <a:pPr>
                        <a:defRPr sz="1100" b="0">
                          <a:solidFill>
                            <a:srgbClr val="334155"/>
                          </a:solidFill>
                          <a:latin typeface="Avenir Next"/>
                        </a:defRPr>
                      </a:pPr>
                      <a:r>
                        <a:t>2.2.3 · 2.2.2</a:t>
                      </a:r>
                    </a:p>
                  </a:txBody>
                  <a:tcPr marL="109728" marR="73152" marT="13716" marB="13716" anchor="ctr">
                    <a:solidFill>
                      <a:srgbClr val="FFFFFF"/>
                    </a:solidFill>
                  </a:tcPr>
                </a:tc>
                <a:tc>
                  <a:txBody>
                    <a:bodyPr/>
                    <a:lstStyle/>
                    <a:p>
                      <a:pPr>
                        <a:defRPr sz="1050" b="0">
                          <a:solidFill>
                            <a:srgbClr val="64748B"/>
                          </a:solidFill>
                          <a:latin typeface="Avenir Next"/>
                        </a:defRPr>
                      </a:pPr>
                      <a:r>
                        <a:t>distributed dense solvers; MPI by nature, no serial form</a:t>
                      </a:r>
                    </a:p>
                  </a:txBody>
                  <a:tcPr marL="109728" marR="73152" marT="13716" marB="13716" anchor="ctr">
                    <a:solidFill>
                      <a:srgbClr val="FFFFFF"/>
                    </a:solidFill>
                  </a:tcPr>
                </a:tc>
              </a:tr>
              <a:tr h="254203">
                <a:tc>
                  <a:txBody>
                    <a:bodyPr/>
                    <a:lstStyle/>
                    <a:p>
                      <a:pPr>
                        <a:defRPr sz="1100" b="1">
                          <a:solidFill>
                            <a:srgbClr val="0F172A"/>
                          </a:solidFill>
                          <a:latin typeface="Avenir Next"/>
                        </a:defRPr>
                      </a:pPr>
                      <a:r>
                        <a:t>tau</a:t>
                      </a:r>
                    </a:p>
                  </a:txBody>
                  <a:tcPr marL="109728" marR="73152" marT="13716" marB="13716" anchor="ctr">
                    <a:solidFill>
                      <a:srgbClr val="FFFFFF"/>
                    </a:solidFill>
                  </a:tcPr>
                </a:tc>
                <a:tc>
                  <a:txBody>
                    <a:bodyPr/>
                    <a:lstStyle/>
                    <a:p>
                      <a:pPr>
                        <a:defRPr sz="1100" b="0">
                          <a:solidFill>
                            <a:srgbClr val="334155"/>
                          </a:solidFill>
                          <a:latin typeface="Avenir Next"/>
                        </a:defRPr>
                      </a:pPr>
                      <a:r>
                        <a:t>2.35.1</a:t>
                      </a:r>
                    </a:p>
                  </a:txBody>
                  <a:tcPr marL="109728" marR="73152" marT="13716" marB="13716" anchor="ctr">
                    <a:solidFill>
                      <a:srgbClr val="FFFFFF"/>
                    </a:solidFill>
                  </a:tcPr>
                </a:tc>
                <a:tc>
                  <a:txBody>
                    <a:bodyPr/>
                    <a:lstStyle/>
                    <a:p>
                      <a:pPr>
                        <a:defRPr sz="1050" b="0">
                          <a:solidFill>
                            <a:srgbClr val="64748B"/>
                          </a:solidFill>
                          <a:latin typeface="Avenir Next"/>
                        </a:defRPr>
                      </a:pPr>
                      <a:r>
                        <a:t>+mpi; one version, a tool users run</a:t>
                      </a:r>
                    </a:p>
                  </a:txBody>
                  <a:tcPr marL="109728" marR="73152" marT="13716" marB="13716" anchor="ctr">
                    <a:solidFill>
                      <a:srgbClr val="FFFFFF"/>
                    </a:solidFill>
                  </a:tcPr>
                </a:tc>
              </a:tr>
              <a:tr h="254203">
                <a:tc>
                  <a:txBody>
                    <a:bodyPr/>
                    <a:lstStyle/>
                    <a:p>
                      <a:pPr>
                        <a:defRPr sz="1100" b="1">
                          <a:solidFill>
                            <a:srgbClr val="0F172A"/>
                          </a:solidFill>
                          <a:latin typeface="Avenir Next"/>
                        </a:defRPr>
                      </a:pPr>
                      <a:r>
                        <a:t>dakota</a:t>
                      </a:r>
                    </a:p>
                  </a:txBody>
                  <a:tcPr marL="109728" marR="73152" marT="13716" marB="13716" anchor="ctr">
                    <a:solidFill>
                      <a:srgbClr val="FFFFFF"/>
                    </a:solidFill>
                  </a:tcPr>
                </a:tc>
                <a:tc>
                  <a:txBody>
                    <a:bodyPr/>
                    <a:lstStyle/>
                    <a:p>
                      <a:pPr>
                        <a:defRPr sz="1100" b="0">
                          <a:solidFill>
                            <a:srgbClr val="334155"/>
                          </a:solidFill>
                          <a:latin typeface="Avenir Next"/>
                        </a:defRPr>
                      </a:pPr>
                      <a:r>
                        <a:t>6.24.0 · 6.23.0</a:t>
                      </a:r>
                    </a:p>
                  </a:txBody>
                  <a:tcPr marL="109728" marR="73152" marT="13716" marB="13716" anchor="ctr">
                    <a:solidFill>
                      <a:srgbClr val="FFFFFF"/>
                    </a:solidFill>
                  </a:tcPr>
                </a:tc>
                <a:tc>
                  <a:txBody>
                    <a:bodyPr/>
                    <a:lstStyle/>
                    <a:p>
                      <a:pPr>
                        <a:defRPr sz="1050" b="0">
                          <a:solidFill>
                            <a:srgbClr val="64748B"/>
                          </a:solidFill>
                          <a:latin typeface="Avenir Next"/>
                        </a:defRPr>
                      </a:pPr>
                      <a:r>
                        <a:t>+mpi; heaviest build in the roster</a:t>
                      </a:r>
                    </a:p>
                  </a:txBody>
                  <a:tcPr marL="109728" marR="73152" marT="13716" marB="13716" anchor="ctr">
                    <a:solidFill>
                      <a:srgbClr val="FFFFFF"/>
                    </a:solidFill>
                  </a:tcPr>
                </a:tc>
              </a:tr>
              <a:tr h="254203">
                <a:tc gridSpan="3">
                  <a:txBody>
                    <a:bodyPr/>
                    <a:lstStyle/>
                    <a:p>
                      <a:pPr>
                        <a:defRPr sz="1150" b="1">
                          <a:solidFill>
                            <a:srgbClr val="FFFFFF"/>
                          </a:solidFill>
                          <a:latin typeface="Avenir Next"/>
                        </a:defRPr>
                      </a:pPr>
                      <a:r>
                        <a:t>GPU lane: selects the full MPI roster above, plus the GPU payload</a:t>
                      </a:r>
                    </a:p>
                  </a:txBody>
                  <a:tcPr marL="109728" marR="73152" marT="13716" marB="13716" anchor="ctr">
                    <a:solidFill>
                      <a:srgbClr val="7C3AED"/>
                    </a:solidFill>
                  </a:tcPr>
                </a:tc>
                <a:tc hMerge="1">
                  <a:txBody>
                    <a:bodyPr/>
                    <a:lstStyle/>
                    <a:p/>
                  </a:txBody>
                  <a:tcPr/>
                </a:tc>
                <a:tc hMerge="1">
                  <a:txBody>
                    <a:bodyPr/>
                    <a:lstStyle/>
                    <a:p/>
                  </a:txBody>
                  <a:tcPr/>
                </a:tc>
              </a:tr>
              <a:tr h="254203">
                <a:tc>
                  <a:txBody>
                    <a:bodyPr/>
                    <a:lstStyle/>
                    <a:p>
                      <a:pPr>
                        <a:defRPr sz="1100" b="1">
                          <a:solidFill>
                            <a:srgbClr val="0F172A"/>
                          </a:solidFill>
                          <a:latin typeface="Avenir Next"/>
                        </a:defRPr>
                      </a:pPr>
                      <a:r>
                        <a:t>tau</a:t>
                      </a:r>
                    </a:p>
                  </a:txBody>
                  <a:tcPr marL="109728" marR="73152" marT="13716" marB="13716" anchor="ctr">
                    <a:solidFill>
                      <a:srgbClr val="FFFFFF"/>
                    </a:solidFill>
                  </a:tcPr>
                </a:tc>
                <a:tc>
                  <a:txBody>
                    <a:bodyPr/>
                    <a:lstStyle/>
                    <a:p>
                      <a:pPr>
                        <a:defRPr sz="1100" b="0">
                          <a:solidFill>
                            <a:srgbClr val="334155"/>
                          </a:solidFill>
                          <a:latin typeface="Avenir Next"/>
                        </a:defRPr>
                      </a:pPr>
                      <a:r>
                        <a:t>2.35.1</a:t>
                      </a:r>
                    </a:p>
                  </a:txBody>
                  <a:tcPr marL="109728" marR="73152" marT="13716" marB="13716" anchor="ctr">
                    <a:solidFill>
                      <a:srgbClr val="FFFFFF"/>
                    </a:solidFill>
                  </a:tcPr>
                </a:tc>
                <a:tc>
                  <a:txBody>
                    <a:bodyPr/>
                    <a:lstStyle/>
                    <a:p>
                      <a:pPr>
                        <a:defRPr sz="1050" b="0">
                          <a:solidFill>
                            <a:srgbClr val="64748B"/>
                          </a:solidFill>
                          <a:latin typeface="Avenir Next"/>
                        </a:defRPr>
                      </a:pPr>
                      <a:r>
                        <a:t>built with MPI and the lane's GPU backend, so it sees kernels as well as MPI</a:t>
                      </a:r>
                    </a:p>
                  </a:txBody>
                  <a:tcPr marL="109728" marR="73152" marT="13716" marB="13716" anchor="ctr">
                    <a:solidFill>
                      <a:srgbClr val="FFFFFF"/>
                    </a:solidFill>
                  </a:tcPr>
                </a:tc>
              </a:tr>
              <a:tr h="254203">
                <a:tc>
                  <a:txBody>
                    <a:bodyPr/>
                    <a:lstStyle/>
                    <a:p>
                      <a:pPr>
                        <a:defRPr sz="1100" b="1">
                          <a:solidFill>
                            <a:srgbClr val="0F172A"/>
                          </a:solidFill>
                          <a:latin typeface="Avenir Next"/>
                        </a:defRPr>
                      </a:pPr>
                      <a:r>
                        <a:t>kokkos</a:t>
                      </a:r>
                    </a:p>
                  </a:txBody>
                  <a:tcPr marL="109728" marR="73152" marT="13716" marB="13716" anchor="ctr">
                    <a:solidFill>
                      <a:srgbClr val="FFFFFF"/>
                    </a:solidFill>
                  </a:tcPr>
                </a:tc>
                <a:tc>
                  <a:txBody>
                    <a:bodyPr/>
                    <a:lstStyle/>
                    <a:p>
                      <a:pPr>
                        <a:defRPr sz="1100" b="0">
                          <a:solidFill>
                            <a:srgbClr val="334155"/>
                          </a:solidFill>
                          <a:latin typeface="Avenir Next"/>
                        </a:defRPr>
                      </a:pPr>
                      <a:r>
                        <a:t>5.1.1 · 5.1.0</a:t>
                      </a:r>
                    </a:p>
                  </a:txBody>
                  <a:tcPr marL="109728" marR="73152" marT="13716" marB="13716" anchor="ctr">
                    <a:solidFill>
                      <a:srgbClr val="FFFFFF"/>
                    </a:solidFill>
                  </a:tcPr>
                </a:tc>
                <a:tc>
                  <a:txBody>
                    <a:bodyPr/>
                    <a:lstStyle/>
                    <a:p>
                      <a:pPr>
                        <a:defRPr sz="1050" b="0">
                          <a:solidFill>
                            <a:srgbClr val="64748B"/>
                          </a:solidFill>
                          <a:latin typeface="Avenir Next"/>
                        </a:defRPr>
                      </a:pPr>
                      <a:r>
                        <a:t>built for the lane's GPU architecture from the probe; new here, it proves the GPU path</a:t>
                      </a:r>
                    </a:p>
                  </a:txBody>
                  <a:tcPr marL="109728" marR="73152" marT="13716" marB="13716" anchor="ctr">
                    <a:solidFill>
                      <a:srgbClr val="FFFFFF"/>
                    </a:solidFill>
                  </a:tcPr>
                </a:tc>
              </a:tr>
              <a:tr h="254203">
                <a:tc gridSpan="3">
                  <a:txBody>
                    <a:bodyPr/>
                    <a:lstStyle/>
                    <a:p>
                      <a:pPr>
                        <a:defRPr sz="1150" b="1">
                          <a:solidFill>
                            <a:srgbClr val="FFFFFF"/>
                          </a:solidFill>
                          <a:latin typeface="Avenir Next"/>
                        </a:defRPr>
                      </a:pPr>
                      <a:r>
                        <a:t>Common compiler-dependent: the Serial-lane build, available here too</a:t>
                      </a:r>
                    </a:p>
                  </a:txBody>
                  <a:tcPr marL="109728" marR="73152" marT="13716" marB="13716" anchor="ctr">
                    <a:solidFill>
                      <a:srgbClr val="15803D"/>
                    </a:solidFill>
                  </a:tcPr>
                </a:tc>
                <a:tc hMerge="1">
                  <a:txBody>
                    <a:bodyPr/>
                    <a:lstStyle/>
                    <a:p/>
                  </a:txBody>
                  <a:tcPr/>
                </a:tc>
                <a:tc hMerge="1">
                  <a:txBody>
                    <a:bodyPr/>
                    <a:lstStyle/>
                    <a:p/>
                  </a:txBody>
                  <a:tcPr/>
                </a:tc>
              </a:tr>
              <a:tr h="254203">
                <a:tc>
                  <a:txBody>
                    <a:bodyPr/>
                    <a:lstStyle/>
                    <a:p>
                      <a:pPr>
                        <a:defRPr sz="1100" b="1">
                          <a:solidFill>
                            <a:srgbClr val="0F172A"/>
                          </a:solidFill>
                          <a:latin typeface="Avenir Next"/>
                        </a:defRPr>
                      </a:pPr>
                      <a:r>
                        <a:t>common packages</a:t>
                      </a:r>
                    </a:p>
                  </a:txBody>
                  <a:tcPr marL="109728" marR="73152" marT="13716" marB="13716" anchor="ctr">
                    <a:solidFill>
                      <a:srgbClr val="FFFFFF"/>
                    </a:solidFill>
                  </a:tcPr>
                </a:tc>
                <a:tc>
                  <a:txBody>
                    <a:bodyPr/>
                    <a:lstStyle/>
                    <a:p>
                      <a:pPr>
                        <a:defRPr sz="1100" b="0">
                          <a:solidFill>
                            <a:srgbClr val="334155"/>
                          </a:solidFill>
                          <a:latin typeface="Avenir Next"/>
                        </a:defRPr>
                      </a:pPr>
                      <a:r>
                        <a:t>see Serial</a:t>
                      </a:r>
                    </a:p>
                  </a:txBody>
                  <a:tcPr marL="109728" marR="73152" marT="13716" marB="13716" anchor="ctr">
                    <a:solidFill>
                      <a:srgbClr val="FFFFFF"/>
                    </a:solidFill>
                  </a:tcPr>
                </a:tc>
                <a:tc>
                  <a:txBody>
                    <a:bodyPr/>
                    <a:lstStyle/>
                    <a:p>
                      <a:pPr>
                        <a:defRPr sz="1050" b="0">
                          <a:solidFill>
                            <a:srgbClr val="64748B"/>
                          </a:solidFill>
                          <a:latin typeface="Avenir Next"/>
                        </a:defRPr>
                      </a:pPr>
                      <a:r>
                        <a:t>openblas · gnuplot: the same modules through the shared root, nothing rebuilt</a:t>
                      </a:r>
                    </a:p>
                  </a:txBody>
                  <a:tcPr marL="109728" marR="73152" marT="13716" marB="13716" anchor="ctr">
                    <a:solidFill>
                      <a:srgbClr val="FFFFFF"/>
                    </a:solidFill>
                  </a:tcPr>
                </a:tc>
              </a:tr>
              <a:tr h="254203">
                <a:tc gridSpan="3">
                  <a:txBody>
                    <a:bodyPr/>
                    <a:lstStyle/>
                    <a:p>
                      <a:pPr>
                        <a:defRPr sz="1150" b="1">
                          <a:solidFill>
                            <a:srgbClr val="FFFFFF"/>
                          </a:solidFill>
                          <a:latin typeface="Avenir Next"/>
                        </a:defRPr>
                      </a:pPr>
                      <a:r>
                        <a:t>Externals: used from the system, never built</a:t>
                      </a:r>
                    </a:p>
                  </a:txBody>
                  <a:tcPr marL="109728" marR="73152" marT="13716" marB="13716" anchor="ctr">
                    <a:solidFill>
                      <a:srgbClr val="475569"/>
                    </a:solidFill>
                  </a:tcPr>
                </a:tc>
                <a:tc hMerge="1">
                  <a:txBody>
                    <a:bodyPr/>
                    <a:lstStyle/>
                    <a:p/>
                  </a:txBody>
                  <a:tcPr/>
                </a:tc>
                <a:tc hMerge="1">
                  <a:txBody>
                    <a:bodyPr/>
                    <a:lstStyle/>
                    <a:p/>
                  </a:txBody>
                  <a:tcPr/>
                </a:tc>
              </a:tr>
              <a:tr h="254206">
                <a:tc>
                  <a:txBody>
                    <a:bodyPr/>
                    <a:lstStyle/>
                    <a:p>
                      <a:pPr>
                        <a:defRPr sz="1100" b="1">
                          <a:solidFill>
                            <a:srgbClr val="0F172A"/>
                          </a:solidFill>
                          <a:latin typeface="Avenir Next"/>
                        </a:defRPr>
                      </a:pPr>
                      <a:r>
                        <a:t>externals</a:t>
                      </a:r>
                    </a:p>
                  </a:txBody>
                  <a:tcPr marL="109728" marR="73152" marT="13716" marB="13716" anchor="ctr">
                    <a:solidFill>
                      <a:srgbClr val="FFFFFF"/>
                    </a:solidFill>
                  </a:tcPr>
                </a:tc>
                <a:tc>
                  <a:txBody>
                    <a:bodyPr/>
                    <a:lstStyle/>
                    <a:p>
                      <a:pPr>
                        <a:defRPr sz="1100" b="0">
                          <a:solidFill>
                            <a:srgbClr val="334155"/>
                          </a:solidFill>
                          <a:latin typeface="Avenir Next"/>
                        </a:defRPr>
                      </a:pPr>
                      <a:r>
                        <a:t>system</a:t>
                      </a:r>
                    </a:p>
                  </a:txBody>
                  <a:tcPr marL="109728" marR="73152" marT="13716" marB="13716" anchor="ctr">
                    <a:solidFill>
                      <a:srgbClr val="FFFFFF"/>
                    </a:solidFill>
                  </a:tcPr>
                </a:tc>
                <a:tc>
                  <a:txBody>
                    <a:bodyPr/>
                    <a:lstStyle/>
                    <a:p>
                      <a:pPr>
                        <a:defRPr sz="1050" b="0">
                          <a:solidFill>
                            <a:srgbClr val="64748B"/>
                          </a:solidFill>
                          <a:latin typeface="Avenir Next"/>
                        </a:defRPr>
                      </a:pPr>
                      <a:r>
                        <a:t>cray-mpich (Platform-backed) · openmpi, openssl (Site-external)</a:t>
                      </a:r>
                    </a:p>
                  </a:txBody>
                  <a:tcPr marL="109728" marR="73152" marT="13716" marB="13716" anchor="ctr">
                    <a:solidFill>
                      <a:srgbClr val="FFFFFF"/>
                    </a:solidFill>
                  </a:tcPr>
                </a:tc>
              </a:tr>
            </a:tbl>
          </a:graphicData>
        </a:graphic>
      </p:graphicFrame>
      <p:sp>
        <p:nvSpPr>
          <p:cNvPr id="7" name="TextBox 6"/>
          <p:cNvSpPr txBox="1"/>
          <p:nvPr/>
        </p:nvSpPr>
        <p:spPr>
          <a:xfrm>
            <a:off x="548640" y="6583680"/>
            <a:ext cx="11064240" cy="256032"/>
          </a:xfrm>
          <a:prstGeom prst="rect">
            <a:avLst/>
          </a:prstGeom>
          <a:noFill/>
        </p:spPr>
        <p:txBody>
          <a:bodyPr wrap="square" anchor="t">
            <a:spAutoFit/>
          </a:bodyPr>
          <a:lstStyle/>
          <a:p>
            <a:pPr algn="l">
              <a:defRPr sz="1050" b="0">
                <a:solidFill>
                  <a:srgbClr val="64748B"/>
                </a:solidFill>
                <a:latin typeface="Avenir Next"/>
              </a:defRPr>
            </a:pPr>
            <a:r>
              <a:t>Version policy: the newest supported release and its immediate predecessor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
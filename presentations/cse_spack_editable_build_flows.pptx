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11548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71C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CSE Spack Stack Build Flow — Linux System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55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AOCC + common GCC + shared Core + fan-out compiler/MPI lanes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896112"/>
            <a:ext cx="228600" cy="228600"/>
          </a:xfrm>
          <a:prstGeom prst="ellipse">
            <a:avLst/>
          </a:prstGeom>
          <a:solidFill>
            <a:srgbClr val="071C4D"/>
          </a:solidFill>
          <a:ln w="12700">
            <a:solidFill>
              <a:srgbClr val="071C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1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402336" y="877824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System inspection / inputs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1691640" y="896112"/>
            <a:ext cx="228600" cy="228600"/>
          </a:xfrm>
          <a:prstGeom prst="ellipse">
            <a:avLst/>
          </a:prstGeom>
          <a:solidFill>
            <a:srgbClr val="071C4D"/>
          </a:solidFill>
          <a:ln w="12700">
            <a:solidFill>
              <a:srgbClr val="071C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914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2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956816" y="877824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Register compilers</a:t>
            </a:r>
            <a:endParaRPr lang="en-US" sz="660" dirty="0"/>
          </a:p>
        </p:txBody>
      </p:sp>
      <p:sp>
        <p:nvSpPr>
          <p:cNvPr id="10" name="Shape 8"/>
          <p:cNvSpPr/>
          <p:nvPr/>
        </p:nvSpPr>
        <p:spPr>
          <a:xfrm>
            <a:off x="3337560" y="896112"/>
            <a:ext cx="228600" cy="228600"/>
          </a:xfrm>
          <a:prstGeom prst="ellipse">
            <a:avLst/>
          </a:prstGeom>
          <a:solidFill>
            <a:srgbClr val="071C4D"/>
          </a:solidFill>
          <a:ln w="12700">
            <a:solidFill>
              <a:srgbClr val="071C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14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3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602736" y="877824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Compiler foundation</a:t>
            </a:r>
            <a:endParaRPr lang="en-US" sz="660" dirty="0"/>
          </a:p>
        </p:txBody>
      </p:sp>
      <p:sp>
        <p:nvSpPr>
          <p:cNvPr id="13" name="Shape 11"/>
          <p:cNvSpPr/>
          <p:nvPr/>
        </p:nvSpPr>
        <p:spPr>
          <a:xfrm>
            <a:off x="4407408" y="896112"/>
            <a:ext cx="228600" cy="228600"/>
          </a:xfrm>
          <a:prstGeom prst="ellipse">
            <a:avLst/>
          </a:prstGeom>
          <a:solidFill>
            <a:srgbClr val="071C4D"/>
          </a:solidFill>
          <a:ln w="12700">
            <a:solidFill>
              <a:srgbClr val="071C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914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4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672584" y="877824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Build Core once</a:t>
            </a:r>
            <a:endParaRPr lang="en-US" sz="660" dirty="0"/>
          </a:p>
        </p:txBody>
      </p:sp>
      <p:sp>
        <p:nvSpPr>
          <p:cNvPr id="16" name="Shape 14"/>
          <p:cNvSpPr/>
          <p:nvPr/>
        </p:nvSpPr>
        <p:spPr>
          <a:xfrm>
            <a:off x="6601968" y="896112"/>
            <a:ext cx="228600" cy="228600"/>
          </a:xfrm>
          <a:prstGeom prst="ellipse">
            <a:avLst/>
          </a:prstGeom>
          <a:solidFill>
            <a:srgbClr val="071C4D"/>
          </a:solidFill>
          <a:ln w="12700">
            <a:solidFill>
              <a:srgbClr val="071C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914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5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867144" y="877824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Fan-out lanes</a:t>
            </a:r>
            <a:endParaRPr lang="en-US" sz="660" dirty="0"/>
          </a:p>
        </p:txBody>
      </p:sp>
      <p:sp>
        <p:nvSpPr>
          <p:cNvPr id="19" name="Shape 17"/>
          <p:cNvSpPr/>
          <p:nvPr/>
        </p:nvSpPr>
        <p:spPr>
          <a:xfrm>
            <a:off x="9464040" y="896112"/>
            <a:ext cx="228600" cy="228600"/>
          </a:xfrm>
          <a:prstGeom prst="ellipse">
            <a:avLst/>
          </a:prstGeom>
          <a:solidFill>
            <a:srgbClr val="071C4D"/>
          </a:solidFill>
          <a:ln w="12700">
            <a:solidFill>
              <a:srgbClr val="071C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64040" y="914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6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9729216" y="877824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Build and validate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11018520" y="896112"/>
            <a:ext cx="228600" cy="228600"/>
          </a:xfrm>
          <a:prstGeom prst="ellipse">
            <a:avLst/>
          </a:prstGeom>
          <a:solidFill>
            <a:srgbClr val="071C4D"/>
          </a:solidFill>
          <a:ln w="12700">
            <a:solidFill>
              <a:srgbClr val="071C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18520" y="914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7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1283696" y="877824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Publish to users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1417320" y="1014984"/>
            <a:ext cx="210312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971800" y="1014984"/>
            <a:ext cx="210312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069080" y="1014984"/>
            <a:ext cx="20116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55080" y="1014984"/>
            <a:ext cx="146304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98280" y="1014984"/>
            <a:ext cx="22860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789920" y="1014984"/>
            <a:ext cx="164592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37160" y="1307592"/>
            <a:ext cx="1353312" cy="4526280"/>
          </a:xfrm>
          <a:prstGeom prst="roundRect">
            <a:avLst>
              <a:gd name="adj" fmla="val 5405"/>
            </a:avLst>
          </a:prstGeom>
          <a:solidFill>
            <a:srgbClr val="EEF5FF"/>
          </a:solidFill>
          <a:ln w="15240">
            <a:solidFill>
              <a:srgbClr val="1557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1481328"/>
            <a:ext cx="1097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557C8"/>
                </a:solidFill>
              </a:rPr>
              <a:t>Environment selection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557C8"/>
                </a:solidFill>
              </a:rPr>
              <a:t>and system facts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1993392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C9D6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" y="202539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OS = SLES / Linux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256032" y="2523744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C9D6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" y="255574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CPU target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256032" y="3054096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C9D6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" y="30861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Site MPI?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256032" y="3584448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C9D6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" y="36164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Fabric = InfiniBand / UCX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256032" y="4114800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C9D6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" y="414680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Fast build stage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256032" y="4645152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C9D6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464" y="467715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Scheduler</a:t>
            </a:r>
            <a:endParaRPr lang="en-US" sz="660" dirty="0"/>
          </a:p>
        </p:txBody>
      </p:sp>
      <p:sp>
        <p:nvSpPr>
          <p:cNvPr id="45" name="Shape 43"/>
          <p:cNvSpPr/>
          <p:nvPr/>
        </p:nvSpPr>
        <p:spPr>
          <a:xfrm>
            <a:off x="1691640" y="1307592"/>
            <a:ext cx="1389888" cy="4526280"/>
          </a:xfrm>
          <a:prstGeom prst="roundRect">
            <a:avLst>
              <a:gd name="adj" fmla="val 5263"/>
            </a:avLst>
          </a:prstGeom>
          <a:solidFill>
            <a:srgbClr val="FFF5EA"/>
          </a:solidFill>
          <a:ln w="15240">
            <a:solidFill>
              <a:srgbClr val="D65A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19656" y="1481328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D65A00"/>
                </a:solidFill>
              </a:rPr>
              <a:t>Register site compiler external</a:t>
            </a:r>
            <a:endParaRPr lang="en-US" sz="970" dirty="0"/>
          </a:p>
        </p:txBody>
      </p:sp>
      <p:sp>
        <p:nvSpPr>
          <p:cNvPr id="47" name="Shape 45"/>
          <p:cNvSpPr/>
          <p:nvPr/>
        </p:nvSpPr>
        <p:spPr>
          <a:xfrm>
            <a:off x="1847088" y="1901952"/>
            <a:ext cx="1078992" cy="1152144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D65A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4884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5A00"/>
                </a:solidFill>
              </a:rPr>
              <a:t>⬟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1965960" y="2496312"/>
            <a:ext cx="8412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5A00"/>
                </a:solidFill>
              </a:rPr>
              <a:t>AOCC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947672" y="2770632"/>
            <a:ext cx="87782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D65A00"/>
                </a:solidFill>
              </a:rPr>
              <a:t>(external)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386584" y="3099816"/>
            <a:ext cx="0" cy="310896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headEnd type="triangl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847088" y="3474720"/>
            <a:ext cx="1078992" cy="13716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18803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48840" y="3593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88038"/>
                </a:solidFill>
              </a:rPr>
              <a:t>⬟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1920240" y="4087368"/>
            <a:ext cx="9326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8038"/>
                </a:solidFill>
              </a:rPr>
              <a:t>GCC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938528" y="4352544"/>
            <a:ext cx="896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88038"/>
                </a:solidFill>
              </a:rPr>
              <a:t>base compiler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3364992" y="2807208"/>
            <a:ext cx="896112" cy="1216152"/>
          </a:xfrm>
          <a:prstGeom prst="roundRect">
            <a:avLst>
              <a:gd name="adj" fmla="val 8163"/>
            </a:avLst>
          </a:prstGeom>
          <a:solidFill>
            <a:srgbClr val="F7F0FF"/>
          </a:solidFill>
          <a:ln w="15240">
            <a:solidFill>
              <a:srgbClr val="6B2FB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75888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2FB7"/>
                </a:solidFill>
              </a:rPr>
              <a:t>🛠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456432" y="3319272"/>
            <a:ext cx="71323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2FB7"/>
                </a:solidFill>
              </a:rPr>
              <a:t>Compilers ready: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6B2FB7"/>
                </a:solidFill>
              </a:rPr>
              <a:t>AOCC external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6B2FB7"/>
                </a:solidFill>
              </a:rPr>
              <a:t>+ GCC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3090672" y="3429000"/>
            <a:ext cx="256032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261104" y="3429000"/>
            <a:ext cx="128016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407408" y="1627632"/>
            <a:ext cx="1847088" cy="379476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7780">
            <a:solidFill>
              <a:srgbClr val="1557C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17720" y="18288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57C8"/>
                </a:solidFill>
              </a:rPr>
              <a:t>▣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4965192" y="1856232"/>
            <a:ext cx="1051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57C8"/>
                </a:solidFill>
              </a:rPr>
              <a:t>Spack Core environment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617720" y="2194560"/>
            <a:ext cx="1417320" cy="0"/>
          </a:xfrm>
          <a:prstGeom prst="line">
            <a:avLst/>
          </a:prstGeom>
          <a:noFill/>
          <a:ln w="11430">
            <a:solidFill>
              <a:srgbClr val="1557C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0" y="2395728"/>
            <a:ext cx="155448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• Built with GCC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• Portable baseline target: x86_64_v3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• Examples: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  CMake, Ninja, pkgconf, Git,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  Miniforge, Python tools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90288" y="4471416"/>
            <a:ext cx="1508760" cy="0"/>
          </a:xfrm>
          <a:prstGeom prst="line">
            <a:avLst/>
          </a:prstGeom>
          <a:noFill/>
          <a:ln w="11430">
            <a:solidFill>
              <a:srgbClr val="1557C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17720" y="4718304"/>
            <a:ext cx="141732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57C8"/>
                </a:solidFill>
              </a:rPr>
              <a:t>Shared across all compiler and MPI lanes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327648" y="2953512"/>
            <a:ext cx="530352" cy="676656"/>
          </a:xfrm>
          <a:prstGeom prst="roundRect">
            <a:avLst>
              <a:gd name="adj" fmla="val 13793"/>
            </a:avLst>
          </a:prstGeom>
          <a:solidFill>
            <a:srgbClr val="ECFBFC"/>
          </a:solidFill>
          <a:ln w="15240">
            <a:solidFill>
              <a:srgbClr val="087E8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83096" y="307238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7E8B"/>
                </a:solidFill>
              </a:rPr>
              <a:t>▰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382512" y="3310128"/>
            <a:ext cx="4206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087E8B"/>
                </a:solidFill>
              </a:rPr>
              <a:t>Foundation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087E8B"/>
                </a:solidFill>
              </a:rPr>
              <a:t>build cache /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087E8B"/>
                </a:solidFill>
              </a:rPr>
              <a:t>Core view</a:t>
            </a:r>
            <a:endParaRPr lang="en-US" sz="520" dirty="0"/>
          </a:p>
        </p:txBody>
      </p:sp>
      <p:sp>
        <p:nvSpPr>
          <p:cNvPr id="71" name="Shape 69"/>
          <p:cNvSpPr/>
          <p:nvPr/>
        </p:nvSpPr>
        <p:spPr>
          <a:xfrm>
            <a:off x="6254496" y="3291840"/>
            <a:ext cx="73152" cy="0"/>
          </a:xfrm>
          <a:prstGeom prst="line">
            <a:avLst/>
          </a:prstGeom>
          <a:noFill/>
          <a:ln w="15240">
            <a:solidFill>
              <a:srgbClr val="087E8B"/>
            </a:solidFill>
            <a:prstDash val="solid"/>
            <a:headEnd type="none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6848856" y="3291840"/>
            <a:ext cx="-292608" cy="1261872"/>
          </a:xfrm>
          <a:prstGeom prst="line">
            <a:avLst/>
          </a:prstGeom>
          <a:noFill/>
          <a:ln w="15240">
            <a:solidFill>
              <a:srgbClr val="087E8B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7059168" y="1371600"/>
            <a:ext cx="2249424" cy="640080"/>
          </a:xfrm>
          <a:prstGeom prst="roundRect">
            <a:avLst>
              <a:gd name="adj" fmla="val 11429"/>
            </a:avLst>
          </a:prstGeom>
          <a:solidFill>
            <a:srgbClr val="EEF5FF"/>
          </a:solidFill>
          <a:ln w="13970">
            <a:solidFill>
              <a:srgbClr val="1557C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32320" y="1444752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1557C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59752" y="1476756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57C8"/>
                </a:solidFill>
              </a:rPr>
              <a:t>GCC / serial</a:t>
            </a:r>
            <a:endParaRPr lang="en-US" sz="730" dirty="0"/>
          </a:p>
        </p:txBody>
      </p:sp>
      <p:sp>
        <p:nvSpPr>
          <p:cNvPr id="76" name="Text 74"/>
          <p:cNvSpPr/>
          <p:nvPr/>
        </p:nvSpPr>
        <p:spPr>
          <a:xfrm>
            <a:off x="8065008" y="1444752"/>
            <a:ext cx="557784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HDF5 serial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NetCDF serial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8796528" y="1444752"/>
            <a:ext cx="0" cy="493776"/>
          </a:xfrm>
          <a:prstGeom prst="line">
            <a:avLst/>
          </a:prstGeom>
          <a:noFill/>
          <a:ln w="6350">
            <a:solidFill>
              <a:srgbClr val="1557C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851392" y="1463040"/>
            <a:ext cx="393192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own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yaml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lock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view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mods</a:t>
            </a:r>
            <a:endParaRPr lang="en-US" sz="520" dirty="0"/>
          </a:p>
        </p:txBody>
      </p:sp>
      <p:sp>
        <p:nvSpPr>
          <p:cNvPr id="79" name="Shape 77"/>
          <p:cNvSpPr/>
          <p:nvPr/>
        </p:nvSpPr>
        <p:spPr>
          <a:xfrm>
            <a:off x="7059168" y="2176272"/>
            <a:ext cx="2249424" cy="786384"/>
          </a:xfrm>
          <a:prstGeom prst="roundRect">
            <a:avLst>
              <a:gd name="adj" fmla="val 9302"/>
            </a:avLst>
          </a:prstGeom>
          <a:solidFill>
            <a:srgbClr val="F0FAF2"/>
          </a:solidFill>
          <a:ln w="13970">
            <a:solidFill>
              <a:srgbClr val="18803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132320" y="2249424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18803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159752" y="2281428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88038"/>
                </a:solidFill>
              </a:rPr>
              <a:t>GCC / mpi-openmpi</a:t>
            </a:r>
            <a:endParaRPr lang="en-US" sz="730" dirty="0"/>
          </a:p>
        </p:txBody>
      </p:sp>
      <p:sp>
        <p:nvSpPr>
          <p:cNvPr id="82" name="Text 80"/>
          <p:cNvSpPr/>
          <p:nvPr/>
        </p:nvSpPr>
        <p:spPr>
          <a:xfrm>
            <a:off x="8065008" y="2249424"/>
            <a:ext cx="5577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Open MPI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HDF5 + MPI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NetCDF + MPI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PnetCDF / TAU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8796528" y="2249424"/>
            <a:ext cx="0" cy="640080"/>
          </a:xfrm>
          <a:prstGeom prst="line">
            <a:avLst/>
          </a:prstGeom>
          <a:noFill/>
          <a:ln w="6350">
            <a:solidFill>
              <a:srgbClr val="18803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851392" y="2267712"/>
            <a:ext cx="3931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own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yaml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lock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view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mods</a:t>
            </a:r>
            <a:endParaRPr lang="en-US" sz="520" dirty="0"/>
          </a:p>
        </p:txBody>
      </p:sp>
      <p:sp>
        <p:nvSpPr>
          <p:cNvPr id="85" name="Shape 83"/>
          <p:cNvSpPr/>
          <p:nvPr/>
        </p:nvSpPr>
        <p:spPr>
          <a:xfrm>
            <a:off x="7059168" y="3145536"/>
            <a:ext cx="2249424" cy="640080"/>
          </a:xfrm>
          <a:prstGeom prst="roundRect">
            <a:avLst>
              <a:gd name="adj" fmla="val 11429"/>
            </a:avLst>
          </a:prstGeom>
          <a:solidFill>
            <a:srgbClr val="FFF5EA"/>
          </a:solidFill>
          <a:ln w="13970">
            <a:solidFill>
              <a:srgbClr val="D65A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132320" y="3218688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D65A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159752" y="3250692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D65A00"/>
                </a:solidFill>
              </a:rPr>
              <a:t>AOCC / serial</a:t>
            </a:r>
            <a:endParaRPr lang="en-US" sz="730" dirty="0"/>
          </a:p>
        </p:txBody>
      </p:sp>
      <p:sp>
        <p:nvSpPr>
          <p:cNvPr id="88" name="Text 86"/>
          <p:cNvSpPr/>
          <p:nvPr/>
        </p:nvSpPr>
        <p:spPr>
          <a:xfrm>
            <a:off x="8065008" y="3218688"/>
            <a:ext cx="557784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HDF5 serial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NetCDF serial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8796528" y="3218688"/>
            <a:ext cx="0" cy="493776"/>
          </a:xfrm>
          <a:prstGeom prst="line">
            <a:avLst/>
          </a:prstGeom>
          <a:noFill/>
          <a:ln w="6350">
            <a:solidFill>
              <a:srgbClr val="D65A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851392" y="3236976"/>
            <a:ext cx="393192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own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yaml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lock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view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mods</a:t>
            </a:r>
            <a:endParaRPr lang="en-US" sz="520" dirty="0"/>
          </a:p>
        </p:txBody>
      </p:sp>
      <p:sp>
        <p:nvSpPr>
          <p:cNvPr id="91" name="Shape 89"/>
          <p:cNvSpPr/>
          <p:nvPr/>
        </p:nvSpPr>
        <p:spPr>
          <a:xfrm>
            <a:off x="7059168" y="3950208"/>
            <a:ext cx="2249424" cy="786384"/>
          </a:xfrm>
          <a:prstGeom prst="roundRect">
            <a:avLst>
              <a:gd name="adj" fmla="val 9302"/>
            </a:avLst>
          </a:prstGeom>
          <a:solidFill>
            <a:srgbClr val="F7F0FF"/>
          </a:solidFill>
          <a:ln w="13970">
            <a:solidFill>
              <a:srgbClr val="6B2FB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132320" y="4023360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6B2FB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159752" y="405536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B2FB7"/>
                </a:solidFill>
              </a:rPr>
              <a:t>AOCC / mpi-openmpi</a:t>
            </a:r>
            <a:endParaRPr lang="en-US" sz="730" dirty="0"/>
          </a:p>
        </p:txBody>
      </p:sp>
      <p:sp>
        <p:nvSpPr>
          <p:cNvPr id="94" name="Text 92"/>
          <p:cNvSpPr/>
          <p:nvPr/>
        </p:nvSpPr>
        <p:spPr>
          <a:xfrm>
            <a:off x="8065008" y="4023360"/>
            <a:ext cx="5577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Open MPI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HDF5 + MPI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NetCDF + MPI</a:t>
            </a:r>
            <a:endParaRPr lang="en-US" sz="680" dirty="0"/>
          </a:p>
        </p:txBody>
      </p:sp>
      <p:sp>
        <p:nvSpPr>
          <p:cNvPr id="95" name="Shape 93"/>
          <p:cNvSpPr/>
          <p:nvPr/>
        </p:nvSpPr>
        <p:spPr>
          <a:xfrm>
            <a:off x="8796528" y="4023360"/>
            <a:ext cx="0" cy="640080"/>
          </a:xfrm>
          <a:prstGeom prst="line">
            <a:avLst/>
          </a:prstGeom>
          <a:noFill/>
          <a:ln w="6350">
            <a:solidFill>
              <a:srgbClr val="6B2FB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851392" y="4041648"/>
            <a:ext cx="3931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own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yaml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lock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view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mods</a:t>
            </a:r>
            <a:endParaRPr lang="en-US" sz="520" dirty="0"/>
          </a:p>
        </p:txBody>
      </p:sp>
      <p:sp>
        <p:nvSpPr>
          <p:cNvPr id="97" name="Shape 95"/>
          <p:cNvSpPr/>
          <p:nvPr/>
        </p:nvSpPr>
        <p:spPr>
          <a:xfrm>
            <a:off x="7059168" y="4937760"/>
            <a:ext cx="2249424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132320" y="5010912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5F636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59752" y="5042916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5F6368"/>
                </a:solidFill>
              </a:rPr>
              <a:t>Optional site MPI</a:t>
            </a:r>
            <a:endParaRPr lang="en-US" sz="730" dirty="0"/>
          </a:p>
        </p:txBody>
      </p:sp>
      <p:sp>
        <p:nvSpPr>
          <p:cNvPr id="100" name="Text 98"/>
          <p:cNvSpPr/>
          <p:nvPr/>
        </p:nvSpPr>
        <p:spPr>
          <a:xfrm>
            <a:off x="8065008" y="5010912"/>
            <a:ext cx="55778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Site MPI external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Apps built with site MPI</a:t>
            </a:r>
            <a:endParaRPr lang="en-US" sz="680" dirty="0"/>
          </a:p>
        </p:txBody>
      </p:sp>
      <p:sp>
        <p:nvSpPr>
          <p:cNvPr id="101" name="Shape 99"/>
          <p:cNvSpPr/>
          <p:nvPr/>
        </p:nvSpPr>
        <p:spPr>
          <a:xfrm>
            <a:off x="8796528" y="5010912"/>
            <a:ext cx="0" cy="566928"/>
          </a:xfrm>
          <a:prstGeom prst="line">
            <a:avLst/>
          </a:prstGeom>
          <a:noFill/>
          <a:ln w="6350">
            <a:solidFill>
              <a:srgbClr val="5F636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851392" y="5029200"/>
            <a:ext cx="39319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own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yaml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lock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view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mods</a:t>
            </a:r>
            <a:endParaRPr lang="en-US" sz="520" dirty="0"/>
          </a:p>
        </p:txBody>
      </p:sp>
      <p:sp>
        <p:nvSpPr>
          <p:cNvPr id="103" name="Shape 101"/>
          <p:cNvSpPr/>
          <p:nvPr/>
        </p:nvSpPr>
        <p:spPr>
          <a:xfrm>
            <a:off x="6858000" y="1847088"/>
            <a:ext cx="201168" cy="-164592"/>
          </a:xfrm>
          <a:prstGeom prst="line">
            <a:avLst/>
          </a:prstGeom>
          <a:noFill/>
          <a:ln w="15240">
            <a:solidFill>
              <a:srgbClr val="1557C8"/>
            </a:solidFill>
            <a:prstDash val="solid"/>
            <a:headEnd type="none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6858000" y="3282696"/>
            <a:ext cx="201168" cy="-722376"/>
          </a:xfrm>
          <a:prstGeom prst="line">
            <a:avLst/>
          </a:prstGeom>
          <a:noFill/>
          <a:ln w="15240">
            <a:solidFill>
              <a:srgbClr val="188038"/>
            </a:solidFill>
            <a:prstDash val="solid"/>
            <a:headEnd type="none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6858000" y="3282696"/>
            <a:ext cx="201168" cy="173736"/>
          </a:xfrm>
          <a:prstGeom prst="line">
            <a:avLst/>
          </a:prstGeom>
          <a:noFill/>
          <a:ln w="15240">
            <a:solidFill>
              <a:srgbClr val="D65A00"/>
            </a:solidFill>
            <a:prstDash val="solid"/>
            <a:headEnd type="none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6858000" y="3282696"/>
            <a:ext cx="201168" cy="1069848"/>
          </a:xfrm>
          <a:prstGeom prst="line">
            <a:avLst/>
          </a:prstGeom>
          <a:noFill/>
          <a:ln w="15240">
            <a:solidFill>
              <a:srgbClr val="6B2FB7"/>
            </a:solidFill>
            <a:prstDash val="solid"/>
            <a:headEnd type="none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6812280" y="4526280"/>
            <a:ext cx="246888" cy="758952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9528048" y="1307592"/>
            <a:ext cx="1188720" cy="4160520"/>
          </a:xfrm>
          <a:prstGeom prst="roundRect">
            <a:avLst>
              <a:gd name="adj" fmla="val 6154"/>
            </a:avLst>
          </a:prstGeom>
          <a:solidFill>
            <a:srgbClr val="ECFBFC"/>
          </a:solidFill>
          <a:ln w="15240">
            <a:solidFill>
              <a:srgbClr val="087E8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921240" y="14630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7E8B"/>
                </a:solidFill>
              </a:rPr>
              <a:t>☑</a:t>
            </a:r>
            <a:endParaRPr lang="en-US" sz="1800" dirty="0"/>
          </a:p>
        </p:txBody>
      </p:sp>
      <p:sp>
        <p:nvSpPr>
          <p:cNvPr id="110" name="Text 108"/>
          <p:cNvSpPr/>
          <p:nvPr/>
        </p:nvSpPr>
        <p:spPr>
          <a:xfrm>
            <a:off x="9765792" y="1874520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87E8B"/>
                </a:solidFill>
              </a:rPr>
              <a:t>Concretize</a:t>
            </a:r>
            <a:endParaRPr lang="en-US" sz="740" dirty="0"/>
          </a:p>
        </p:txBody>
      </p:sp>
      <p:sp>
        <p:nvSpPr>
          <p:cNvPr id="111" name="Shape 109"/>
          <p:cNvSpPr/>
          <p:nvPr/>
        </p:nvSpPr>
        <p:spPr>
          <a:xfrm>
            <a:off x="9646920" y="2139696"/>
            <a:ext cx="950976" cy="0"/>
          </a:xfrm>
          <a:prstGeom prst="line">
            <a:avLst/>
          </a:prstGeom>
          <a:noFill/>
          <a:ln w="6350">
            <a:solidFill>
              <a:srgbClr val="087E8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765792" y="2377440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87E8B"/>
                </a:solidFill>
              </a:rPr>
              <a:t>Fetch</a:t>
            </a:r>
            <a:endParaRPr lang="en-US" sz="740" dirty="0"/>
          </a:p>
        </p:txBody>
      </p:sp>
      <p:sp>
        <p:nvSpPr>
          <p:cNvPr id="113" name="Shape 111"/>
          <p:cNvSpPr/>
          <p:nvPr/>
        </p:nvSpPr>
        <p:spPr>
          <a:xfrm>
            <a:off x="9646920" y="2642616"/>
            <a:ext cx="950976" cy="0"/>
          </a:xfrm>
          <a:prstGeom prst="line">
            <a:avLst/>
          </a:prstGeom>
          <a:noFill/>
          <a:ln w="6350">
            <a:solidFill>
              <a:srgbClr val="087E8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765792" y="2880360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87E8B"/>
                </a:solidFill>
              </a:rPr>
              <a:t>Install</a:t>
            </a:r>
            <a:endParaRPr lang="en-US" sz="740" dirty="0"/>
          </a:p>
        </p:txBody>
      </p:sp>
      <p:sp>
        <p:nvSpPr>
          <p:cNvPr id="115" name="Shape 113"/>
          <p:cNvSpPr/>
          <p:nvPr/>
        </p:nvSpPr>
        <p:spPr>
          <a:xfrm>
            <a:off x="9646920" y="3145536"/>
            <a:ext cx="950976" cy="0"/>
          </a:xfrm>
          <a:prstGeom prst="line">
            <a:avLst/>
          </a:prstGeom>
          <a:noFill/>
          <a:ln w="6350">
            <a:solidFill>
              <a:srgbClr val="087E8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765792" y="3383280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87E8B"/>
                </a:solidFill>
              </a:rPr>
              <a:t>Test / verify</a:t>
            </a:r>
            <a:endParaRPr lang="en-US" sz="740" dirty="0"/>
          </a:p>
        </p:txBody>
      </p:sp>
      <p:sp>
        <p:nvSpPr>
          <p:cNvPr id="117" name="Shape 115"/>
          <p:cNvSpPr/>
          <p:nvPr/>
        </p:nvSpPr>
        <p:spPr>
          <a:xfrm>
            <a:off x="9646920" y="3648456"/>
            <a:ext cx="950976" cy="0"/>
          </a:xfrm>
          <a:prstGeom prst="line">
            <a:avLst/>
          </a:prstGeom>
          <a:noFill/>
          <a:ln w="6350">
            <a:solidFill>
              <a:srgbClr val="087E8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765792" y="3886200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87E8B"/>
                </a:solidFill>
              </a:rPr>
              <a:t>Microbenchmarks</a:t>
            </a:r>
            <a:endParaRPr lang="en-US" sz="740" dirty="0"/>
          </a:p>
        </p:txBody>
      </p:sp>
      <p:sp>
        <p:nvSpPr>
          <p:cNvPr id="119" name="Shape 117"/>
          <p:cNvSpPr/>
          <p:nvPr/>
        </p:nvSpPr>
        <p:spPr>
          <a:xfrm>
            <a:off x="9646920" y="4151376"/>
            <a:ext cx="950976" cy="0"/>
          </a:xfrm>
          <a:prstGeom prst="line">
            <a:avLst/>
          </a:prstGeom>
          <a:noFill/>
          <a:ln w="6350">
            <a:solidFill>
              <a:srgbClr val="087E8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765792" y="4389120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87E8B"/>
                </a:solidFill>
              </a:rPr>
              <a:t>Smoke tests</a:t>
            </a:r>
            <a:endParaRPr lang="en-US" sz="740" dirty="0"/>
          </a:p>
        </p:txBody>
      </p:sp>
      <p:sp>
        <p:nvSpPr>
          <p:cNvPr id="121" name="Shape 119"/>
          <p:cNvSpPr/>
          <p:nvPr/>
        </p:nvSpPr>
        <p:spPr>
          <a:xfrm>
            <a:off x="9646920" y="4654296"/>
            <a:ext cx="950976" cy="0"/>
          </a:xfrm>
          <a:prstGeom prst="line">
            <a:avLst/>
          </a:prstGeom>
          <a:noFill/>
          <a:ln w="6350">
            <a:solidFill>
              <a:srgbClr val="087E8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674352" y="4882896"/>
            <a:ext cx="941832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087E8B"/>
                </a:solidFill>
              </a:rPr>
              <a:t>Lanes build independently; can run in parallel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9326880" y="2816352"/>
            <a:ext cx="18288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124" name="Shape 122"/>
          <p:cNvSpPr/>
          <p:nvPr/>
        </p:nvSpPr>
        <p:spPr>
          <a:xfrm>
            <a:off x="11018520" y="1307592"/>
            <a:ext cx="1033272" cy="4526280"/>
          </a:xfrm>
          <a:prstGeom prst="roundRect">
            <a:avLst>
              <a:gd name="adj" fmla="val 7080"/>
            </a:avLst>
          </a:prstGeom>
          <a:solidFill>
            <a:srgbClr val="F7F0FF"/>
          </a:solidFill>
          <a:ln w="15240">
            <a:solidFill>
              <a:srgbClr val="6B2FB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1356848" y="14447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2FB7"/>
                </a:solidFill>
              </a:rPr>
              <a:t>📣</a:t>
            </a:r>
            <a:endParaRPr lang="en-US" sz="1800" dirty="0"/>
          </a:p>
        </p:txBody>
      </p:sp>
      <p:sp>
        <p:nvSpPr>
          <p:cNvPr id="126" name="Text 124"/>
          <p:cNvSpPr/>
          <p:nvPr/>
        </p:nvSpPr>
        <p:spPr>
          <a:xfrm>
            <a:off x="11173968" y="2011680"/>
            <a:ext cx="7132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2FB7"/>
                </a:solidFill>
              </a:rPr>
              <a:t>Regenerate views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11137392" y="2304288"/>
            <a:ext cx="749808" cy="0"/>
          </a:xfrm>
          <a:prstGeom prst="line">
            <a:avLst/>
          </a:prstGeom>
          <a:noFill/>
          <a:ln w="6350">
            <a:solidFill>
              <a:srgbClr val="6B2FB7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1173968" y="2624328"/>
            <a:ext cx="7132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2FB7"/>
                </a:solidFill>
              </a:rPr>
              <a:t>Refresh modules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11137392" y="2916936"/>
            <a:ext cx="749808" cy="0"/>
          </a:xfrm>
          <a:prstGeom prst="line">
            <a:avLst/>
          </a:prstGeom>
          <a:noFill/>
          <a:ln w="6350">
            <a:solidFill>
              <a:srgbClr val="6B2FB7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1173968" y="3236976"/>
            <a:ext cx="7132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2FB7"/>
                </a:solidFill>
              </a:rPr>
              <a:t>Push build caches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11137392" y="3529584"/>
            <a:ext cx="749808" cy="0"/>
          </a:xfrm>
          <a:prstGeom prst="line">
            <a:avLst/>
          </a:prstGeom>
          <a:noFill/>
          <a:ln w="6350">
            <a:solidFill>
              <a:srgbClr val="6B2FB7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1173968" y="3849624"/>
            <a:ext cx="7132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2FB7"/>
                </a:solidFill>
              </a:rPr>
              <a:t>Promote release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11137392" y="4142232"/>
            <a:ext cx="749808" cy="0"/>
          </a:xfrm>
          <a:prstGeom prst="line">
            <a:avLst/>
          </a:prstGeom>
          <a:noFill/>
          <a:ln w="6350">
            <a:solidFill>
              <a:srgbClr val="6B2FB7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1155680" y="4754880"/>
            <a:ext cx="7863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071C4D"/>
                </a:solidFill>
              </a:rPr>
              <a:t>User modules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71C4D"/>
                </a:solidFill>
              </a:rPr>
              <a:t>• CSE/Core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71C4D"/>
                </a:solidFill>
              </a:rPr>
              <a:t>• CSE/GCC/serial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71C4D"/>
                </a:solidFill>
              </a:rPr>
              <a:t>• CSE/GCC/mpi-openmpi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71C4D"/>
                </a:solidFill>
              </a:rPr>
              <a:t>• CSE/AOCC/serial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71C4D"/>
                </a:solidFill>
              </a:rPr>
              <a:t>• CSE/AOCC/mpi-openmpi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10735056" y="2834640"/>
            <a:ext cx="265176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136" name="Shape 134"/>
          <p:cNvSpPr/>
          <p:nvPr/>
        </p:nvSpPr>
        <p:spPr>
          <a:xfrm>
            <a:off x="4782312" y="6327648"/>
            <a:ext cx="1481328" cy="347472"/>
          </a:xfrm>
          <a:prstGeom prst="roundRect">
            <a:avLst>
              <a:gd name="adj" fmla="val 15789"/>
            </a:avLst>
          </a:prstGeom>
          <a:solidFill>
            <a:srgbClr val="EEF5FF"/>
          </a:solidFill>
          <a:ln w="8890">
            <a:solidFill>
              <a:srgbClr val="1557C8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809744" y="6359652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57C8"/>
                </a:solidFill>
              </a:rPr>
              <a:t>Core is built once, then reused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7242048" y="6327648"/>
            <a:ext cx="1856232" cy="347472"/>
          </a:xfrm>
          <a:prstGeom prst="roundRect">
            <a:avLst>
              <a:gd name="adj" fmla="val 15789"/>
            </a:avLst>
          </a:prstGeom>
          <a:solidFill>
            <a:srgbClr val="ECFBFC"/>
          </a:solidFill>
          <a:ln w="8890">
            <a:solidFill>
              <a:srgbClr val="087E8B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269480" y="6359652"/>
            <a:ext cx="1801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E8B"/>
                </a:solidFill>
              </a:rPr>
              <a:t>Compiler + MPI combinations stay isolated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7607808" y="5907024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7F0FF"/>
          </a:solidFill>
          <a:ln w="8890">
            <a:solidFill>
              <a:srgbClr val="6B2FB7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635240" y="5939028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B2FB7"/>
                </a:solidFill>
              </a:rPr>
              <a:t>Linux / InfiniBand: Open MPI typically built with UCX</a:t>
            </a:r>
            <a:endParaRPr lang="en-US" sz="770" dirty="0"/>
          </a:p>
        </p:txBody>
      </p:sp>
      <p:sp>
        <p:nvSpPr>
          <p:cNvPr id="142" name="Shape 140"/>
          <p:cNvSpPr/>
          <p:nvPr/>
        </p:nvSpPr>
        <p:spPr>
          <a:xfrm>
            <a:off x="201168" y="5989320"/>
            <a:ext cx="1664208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5240">
            <a:solidFill>
              <a:srgbClr val="C9D6E8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29184" y="6044184"/>
            <a:ext cx="5486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071C4D"/>
                </a:solidFill>
              </a:rPr>
              <a:t>Legend</a:t>
            </a:r>
            <a:endParaRPr lang="en-US" sz="630" dirty="0"/>
          </a:p>
        </p:txBody>
      </p:sp>
      <p:sp>
        <p:nvSpPr>
          <p:cNvPr id="144" name="Shape 142"/>
          <p:cNvSpPr/>
          <p:nvPr/>
        </p:nvSpPr>
        <p:spPr>
          <a:xfrm>
            <a:off x="329184" y="6281928"/>
            <a:ext cx="283464" cy="0"/>
          </a:xfrm>
          <a:prstGeom prst="line">
            <a:avLst/>
          </a:prstGeom>
          <a:noFill/>
          <a:ln w="15240">
            <a:solidFill>
              <a:srgbClr val="1557C8"/>
            </a:solidFill>
            <a:prstDash val="solid"/>
            <a:headEnd type="none"/>
            <a:tailEnd type="triangle"/>
          </a:ln>
        </p:spPr>
      </p:sp>
      <p:sp>
        <p:nvSpPr>
          <p:cNvPr id="145" name="Text 143"/>
          <p:cNvSpPr/>
          <p:nvPr/>
        </p:nvSpPr>
        <p:spPr>
          <a:xfrm>
            <a:off x="685800" y="6199632"/>
            <a:ext cx="47548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</a:rPr>
              <a:t>build flow</a:t>
            </a:r>
            <a:endParaRPr lang="en-US" sz="570" dirty="0"/>
          </a:p>
        </p:txBody>
      </p:sp>
      <p:sp>
        <p:nvSpPr>
          <p:cNvPr id="146" name="Shape 144"/>
          <p:cNvSpPr/>
          <p:nvPr/>
        </p:nvSpPr>
        <p:spPr>
          <a:xfrm>
            <a:off x="1115568" y="6281928"/>
            <a:ext cx="228600" cy="0"/>
          </a:xfrm>
          <a:prstGeom prst="line">
            <a:avLst/>
          </a:prstGeom>
          <a:noFill/>
          <a:ln w="15240">
            <a:solidFill>
              <a:srgbClr val="087E8B"/>
            </a:solidFill>
            <a:prstDash val="solid"/>
            <a:headEnd type="none"/>
            <a:tailEnd type="triangle"/>
          </a:ln>
        </p:spPr>
      </p:sp>
      <p:sp>
        <p:nvSpPr>
          <p:cNvPr id="147" name="Text 145"/>
          <p:cNvSpPr/>
          <p:nvPr/>
        </p:nvSpPr>
        <p:spPr>
          <a:xfrm>
            <a:off x="1399032" y="6199632"/>
            <a:ext cx="320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</a:rPr>
              <a:t>reuse</a:t>
            </a:r>
            <a:endParaRPr lang="en-US" sz="5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11548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71C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CSE Spack Stack Build Flow — Cray System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55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Cray PE compilers + shared Core + fan-out Cray MPICH lanes, with optional Open MPI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896112"/>
            <a:ext cx="228600" cy="228600"/>
          </a:xfrm>
          <a:prstGeom prst="ellipse">
            <a:avLst/>
          </a:prstGeom>
          <a:solidFill>
            <a:srgbClr val="071C4D"/>
          </a:solidFill>
          <a:ln w="12700">
            <a:solidFill>
              <a:srgbClr val="071C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1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402336" y="877824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System inspection / inputs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1691640" y="896112"/>
            <a:ext cx="228600" cy="228600"/>
          </a:xfrm>
          <a:prstGeom prst="ellipse">
            <a:avLst/>
          </a:prstGeom>
          <a:solidFill>
            <a:srgbClr val="071C4D"/>
          </a:solidFill>
          <a:ln w="12700">
            <a:solidFill>
              <a:srgbClr val="071C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914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2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956816" y="877824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Register compilers</a:t>
            </a:r>
            <a:endParaRPr lang="en-US" sz="660" dirty="0"/>
          </a:p>
        </p:txBody>
      </p:sp>
      <p:sp>
        <p:nvSpPr>
          <p:cNvPr id="10" name="Shape 8"/>
          <p:cNvSpPr/>
          <p:nvPr/>
        </p:nvSpPr>
        <p:spPr>
          <a:xfrm>
            <a:off x="3337560" y="896112"/>
            <a:ext cx="228600" cy="228600"/>
          </a:xfrm>
          <a:prstGeom prst="ellipse">
            <a:avLst/>
          </a:prstGeom>
          <a:solidFill>
            <a:srgbClr val="071C4D"/>
          </a:solidFill>
          <a:ln w="12700">
            <a:solidFill>
              <a:srgbClr val="071C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14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3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602736" y="877824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Compiler foundation</a:t>
            </a:r>
            <a:endParaRPr lang="en-US" sz="660" dirty="0"/>
          </a:p>
        </p:txBody>
      </p:sp>
      <p:sp>
        <p:nvSpPr>
          <p:cNvPr id="13" name="Shape 11"/>
          <p:cNvSpPr/>
          <p:nvPr/>
        </p:nvSpPr>
        <p:spPr>
          <a:xfrm>
            <a:off x="4407408" y="896112"/>
            <a:ext cx="228600" cy="228600"/>
          </a:xfrm>
          <a:prstGeom prst="ellipse">
            <a:avLst/>
          </a:prstGeom>
          <a:solidFill>
            <a:srgbClr val="071C4D"/>
          </a:solidFill>
          <a:ln w="12700">
            <a:solidFill>
              <a:srgbClr val="071C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914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4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672584" y="877824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Build Core once</a:t>
            </a:r>
            <a:endParaRPr lang="en-US" sz="660" dirty="0"/>
          </a:p>
        </p:txBody>
      </p:sp>
      <p:sp>
        <p:nvSpPr>
          <p:cNvPr id="16" name="Shape 14"/>
          <p:cNvSpPr/>
          <p:nvPr/>
        </p:nvSpPr>
        <p:spPr>
          <a:xfrm>
            <a:off x="6601968" y="896112"/>
            <a:ext cx="228600" cy="228600"/>
          </a:xfrm>
          <a:prstGeom prst="ellipse">
            <a:avLst/>
          </a:prstGeom>
          <a:solidFill>
            <a:srgbClr val="071C4D"/>
          </a:solidFill>
          <a:ln w="12700">
            <a:solidFill>
              <a:srgbClr val="071C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914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5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867144" y="877824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Fan-out lanes</a:t>
            </a:r>
            <a:endParaRPr lang="en-US" sz="660" dirty="0"/>
          </a:p>
        </p:txBody>
      </p:sp>
      <p:sp>
        <p:nvSpPr>
          <p:cNvPr id="19" name="Shape 17"/>
          <p:cNvSpPr/>
          <p:nvPr/>
        </p:nvSpPr>
        <p:spPr>
          <a:xfrm>
            <a:off x="9464040" y="896112"/>
            <a:ext cx="228600" cy="228600"/>
          </a:xfrm>
          <a:prstGeom prst="ellipse">
            <a:avLst/>
          </a:prstGeom>
          <a:solidFill>
            <a:srgbClr val="071C4D"/>
          </a:solidFill>
          <a:ln w="12700">
            <a:solidFill>
              <a:srgbClr val="071C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64040" y="914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6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9729216" y="877824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Build and validate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11018520" y="896112"/>
            <a:ext cx="228600" cy="228600"/>
          </a:xfrm>
          <a:prstGeom prst="ellipse">
            <a:avLst/>
          </a:prstGeom>
          <a:solidFill>
            <a:srgbClr val="071C4D"/>
          </a:solidFill>
          <a:ln w="12700">
            <a:solidFill>
              <a:srgbClr val="071C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18520" y="914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7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1283696" y="877824"/>
            <a:ext cx="786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Publish to users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1417320" y="1014984"/>
            <a:ext cx="210312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971800" y="1014984"/>
            <a:ext cx="210312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069080" y="1014984"/>
            <a:ext cx="20116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55080" y="1014984"/>
            <a:ext cx="146304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98280" y="1014984"/>
            <a:ext cx="22860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789920" y="1014984"/>
            <a:ext cx="164592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37160" y="1307592"/>
            <a:ext cx="1353312" cy="4526280"/>
          </a:xfrm>
          <a:prstGeom prst="roundRect">
            <a:avLst>
              <a:gd name="adj" fmla="val 5405"/>
            </a:avLst>
          </a:prstGeom>
          <a:solidFill>
            <a:srgbClr val="EEF5FF"/>
          </a:solidFill>
          <a:ln w="15240">
            <a:solidFill>
              <a:srgbClr val="1557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1481328"/>
            <a:ext cx="1097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557C8"/>
                </a:solidFill>
              </a:rPr>
              <a:t>Environment selection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557C8"/>
                </a:solidFill>
              </a:rPr>
              <a:t>and system facts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1993392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C9D6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" y="202539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OS = Cray Linux Env.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256032" y="2523744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C9D6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" y="255574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CPU target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256032" y="3054096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C9D6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" y="30861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Cray PE / PrgEnv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256032" y="3584448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C9D6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" y="36164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MPI = Cray MPICH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256032" y="4114800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C9D6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" y="414680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Fabric = Slingshot 11 / CXI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256032" y="4645152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890">
            <a:solidFill>
              <a:srgbClr val="C9D6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464" y="467715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71C4D"/>
                </a:solidFill>
              </a:rPr>
              <a:t>Scheduler = PBS or Slurm</a:t>
            </a:r>
            <a:endParaRPr lang="en-US" sz="660" dirty="0"/>
          </a:p>
        </p:txBody>
      </p:sp>
      <p:sp>
        <p:nvSpPr>
          <p:cNvPr id="45" name="Shape 43"/>
          <p:cNvSpPr/>
          <p:nvPr/>
        </p:nvSpPr>
        <p:spPr>
          <a:xfrm>
            <a:off x="1691640" y="1307592"/>
            <a:ext cx="1389888" cy="4526280"/>
          </a:xfrm>
          <a:prstGeom prst="roundRect">
            <a:avLst>
              <a:gd name="adj" fmla="val 5263"/>
            </a:avLst>
          </a:prstGeom>
          <a:solidFill>
            <a:srgbClr val="FFF5EA"/>
          </a:solidFill>
          <a:ln w="15240">
            <a:solidFill>
              <a:srgbClr val="D65A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19656" y="1481328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D65A00"/>
                </a:solidFill>
              </a:rPr>
              <a:t>Register Cray compiler externals</a:t>
            </a:r>
            <a:endParaRPr lang="en-US" sz="970" dirty="0"/>
          </a:p>
        </p:txBody>
      </p:sp>
      <p:sp>
        <p:nvSpPr>
          <p:cNvPr id="47" name="Shape 45"/>
          <p:cNvSpPr/>
          <p:nvPr/>
        </p:nvSpPr>
        <p:spPr>
          <a:xfrm>
            <a:off x="1847088" y="1901952"/>
            <a:ext cx="1078992" cy="1152144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D65A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4884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5A00"/>
                </a:solidFill>
              </a:rPr>
              <a:t>⬟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1965960" y="2496312"/>
            <a:ext cx="8412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5A00"/>
                </a:solidFill>
              </a:rPr>
              <a:t>CCE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947672" y="2770632"/>
            <a:ext cx="87782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D65A00"/>
                </a:solidFill>
              </a:rPr>
              <a:t>(external)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386584" y="3099816"/>
            <a:ext cx="0" cy="310896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headEnd type="triangl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847088" y="3474720"/>
            <a:ext cx="1078992" cy="13716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18803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48840" y="3593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88038"/>
                </a:solidFill>
              </a:rPr>
              <a:t>⬟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1920240" y="4087368"/>
            <a:ext cx="9326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8038"/>
                </a:solidFill>
              </a:rPr>
              <a:t>GNU / GCC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938528" y="4352544"/>
            <a:ext cx="896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88038"/>
                </a:solidFill>
              </a:rPr>
              <a:t>(external)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3364992" y="2807208"/>
            <a:ext cx="896112" cy="1216152"/>
          </a:xfrm>
          <a:prstGeom prst="roundRect">
            <a:avLst>
              <a:gd name="adj" fmla="val 8163"/>
            </a:avLst>
          </a:prstGeom>
          <a:solidFill>
            <a:srgbClr val="F7F0FF"/>
          </a:solidFill>
          <a:ln w="15240">
            <a:solidFill>
              <a:srgbClr val="6B2FB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75888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2FB7"/>
                </a:solidFill>
              </a:rPr>
              <a:t>🛠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456432" y="3319272"/>
            <a:ext cx="71323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2FB7"/>
                </a:solidFill>
              </a:rPr>
              <a:t>Compilers ready: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6B2FB7"/>
                </a:solidFill>
              </a:rPr>
              <a:t>CCE external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6B2FB7"/>
                </a:solidFill>
              </a:rPr>
              <a:t>+ GCC external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3090672" y="3429000"/>
            <a:ext cx="256032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261104" y="3429000"/>
            <a:ext cx="128016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407408" y="1627632"/>
            <a:ext cx="1847088" cy="379476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7780">
            <a:solidFill>
              <a:srgbClr val="1557C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17720" y="18288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57C8"/>
                </a:solidFill>
              </a:rPr>
              <a:t>▣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4965192" y="1856232"/>
            <a:ext cx="1051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57C8"/>
                </a:solidFill>
              </a:rPr>
              <a:t>Spack Core environment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617720" y="2194560"/>
            <a:ext cx="1417320" cy="0"/>
          </a:xfrm>
          <a:prstGeom prst="line">
            <a:avLst/>
          </a:prstGeom>
          <a:noFill/>
          <a:ln w="11430">
            <a:solidFill>
              <a:srgbClr val="1557C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0" y="2395728"/>
            <a:ext cx="155448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• Built with GCC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• Portable baseline target: x86_64_v3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• Examples: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  CMake, Ninja, pkgconf, Git,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</a:rPr>
              <a:t>  Miniforge, Python tools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90288" y="4471416"/>
            <a:ext cx="1508760" cy="0"/>
          </a:xfrm>
          <a:prstGeom prst="line">
            <a:avLst/>
          </a:prstGeom>
          <a:noFill/>
          <a:ln w="11430">
            <a:solidFill>
              <a:srgbClr val="1557C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17720" y="4718304"/>
            <a:ext cx="141732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57C8"/>
                </a:solidFill>
              </a:rPr>
              <a:t>Shared across all compiler and MPI lanes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327648" y="2953512"/>
            <a:ext cx="530352" cy="676656"/>
          </a:xfrm>
          <a:prstGeom prst="roundRect">
            <a:avLst>
              <a:gd name="adj" fmla="val 13793"/>
            </a:avLst>
          </a:prstGeom>
          <a:solidFill>
            <a:srgbClr val="ECFBFC"/>
          </a:solidFill>
          <a:ln w="15240">
            <a:solidFill>
              <a:srgbClr val="087E8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83096" y="307238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7E8B"/>
                </a:solidFill>
              </a:rPr>
              <a:t>▰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382512" y="3310128"/>
            <a:ext cx="4206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087E8B"/>
                </a:solidFill>
              </a:rPr>
              <a:t>Foundation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087E8B"/>
                </a:solidFill>
              </a:rPr>
              <a:t>build cache /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087E8B"/>
                </a:solidFill>
              </a:rPr>
              <a:t>Core view</a:t>
            </a:r>
            <a:endParaRPr lang="en-US" sz="520" dirty="0"/>
          </a:p>
        </p:txBody>
      </p:sp>
      <p:sp>
        <p:nvSpPr>
          <p:cNvPr id="71" name="Shape 69"/>
          <p:cNvSpPr/>
          <p:nvPr/>
        </p:nvSpPr>
        <p:spPr>
          <a:xfrm>
            <a:off x="6254496" y="3291840"/>
            <a:ext cx="73152" cy="0"/>
          </a:xfrm>
          <a:prstGeom prst="line">
            <a:avLst/>
          </a:prstGeom>
          <a:noFill/>
          <a:ln w="15240">
            <a:solidFill>
              <a:srgbClr val="087E8B"/>
            </a:solidFill>
            <a:prstDash val="solid"/>
            <a:headEnd type="none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6848856" y="3291840"/>
            <a:ext cx="-292608" cy="1261872"/>
          </a:xfrm>
          <a:prstGeom prst="line">
            <a:avLst/>
          </a:prstGeom>
          <a:noFill/>
          <a:ln w="15240">
            <a:solidFill>
              <a:srgbClr val="087E8B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7059168" y="1371600"/>
            <a:ext cx="2249424" cy="640080"/>
          </a:xfrm>
          <a:prstGeom prst="roundRect">
            <a:avLst>
              <a:gd name="adj" fmla="val 11429"/>
            </a:avLst>
          </a:prstGeom>
          <a:solidFill>
            <a:srgbClr val="EEF5FF"/>
          </a:solidFill>
          <a:ln w="13970">
            <a:solidFill>
              <a:srgbClr val="1557C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32320" y="1444752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1557C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59752" y="1476756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57C8"/>
                </a:solidFill>
              </a:rPr>
              <a:t>CCE / serial</a:t>
            </a:r>
            <a:endParaRPr lang="en-US" sz="730" dirty="0"/>
          </a:p>
        </p:txBody>
      </p:sp>
      <p:sp>
        <p:nvSpPr>
          <p:cNvPr id="76" name="Text 74"/>
          <p:cNvSpPr/>
          <p:nvPr/>
        </p:nvSpPr>
        <p:spPr>
          <a:xfrm>
            <a:off x="8065008" y="1444752"/>
            <a:ext cx="557784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HDF5 serial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NetCDF serial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8796528" y="1444752"/>
            <a:ext cx="0" cy="493776"/>
          </a:xfrm>
          <a:prstGeom prst="line">
            <a:avLst/>
          </a:prstGeom>
          <a:noFill/>
          <a:ln w="6350">
            <a:solidFill>
              <a:srgbClr val="1557C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851392" y="1463040"/>
            <a:ext cx="393192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own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yaml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lock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view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mods</a:t>
            </a:r>
            <a:endParaRPr lang="en-US" sz="520" dirty="0"/>
          </a:p>
        </p:txBody>
      </p:sp>
      <p:sp>
        <p:nvSpPr>
          <p:cNvPr id="79" name="Shape 77"/>
          <p:cNvSpPr/>
          <p:nvPr/>
        </p:nvSpPr>
        <p:spPr>
          <a:xfrm>
            <a:off x="7059168" y="2176272"/>
            <a:ext cx="2249424" cy="786384"/>
          </a:xfrm>
          <a:prstGeom prst="roundRect">
            <a:avLst>
              <a:gd name="adj" fmla="val 9302"/>
            </a:avLst>
          </a:prstGeom>
          <a:solidFill>
            <a:srgbClr val="F0FAF2"/>
          </a:solidFill>
          <a:ln w="13970">
            <a:solidFill>
              <a:srgbClr val="18803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132320" y="2249424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18803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159752" y="2281428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88038"/>
                </a:solidFill>
              </a:rPr>
              <a:t>CCE / mpi-craympich</a:t>
            </a:r>
            <a:endParaRPr lang="en-US" sz="730" dirty="0"/>
          </a:p>
        </p:txBody>
      </p:sp>
      <p:sp>
        <p:nvSpPr>
          <p:cNvPr id="82" name="Text 80"/>
          <p:cNvSpPr/>
          <p:nvPr/>
        </p:nvSpPr>
        <p:spPr>
          <a:xfrm>
            <a:off x="8065008" y="2249424"/>
            <a:ext cx="5577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Cray MPICH external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HDF5 + MPI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NetCDF + MPI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PnetCDF / TAU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8796528" y="2249424"/>
            <a:ext cx="0" cy="640080"/>
          </a:xfrm>
          <a:prstGeom prst="line">
            <a:avLst/>
          </a:prstGeom>
          <a:noFill/>
          <a:ln w="6350">
            <a:solidFill>
              <a:srgbClr val="18803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851392" y="2267712"/>
            <a:ext cx="3931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own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yaml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lock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view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mods</a:t>
            </a:r>
            <a:endParaRPr lang="en-US" sz="520" dirty="0"/>
          </a:p>
        </p:txBody>
      </p:sp>
      <p:sp>
        <p:nvSpPr>
          <p:cNvPr id="85" name="Shape 83"/>
          <p:cNvSpPr/>
          <p:nvPr/>
        </p:nvSpPr>
        <p:spPr>
          <a:xfrm>
            <a:off x="7059168" y="3145536"/>
            <a:ext cx="2249424" cy="640080"/>
          </a:xfrm>
          <a:prstGeom prst="roundRect">
            <a:avLst>
              <a:gd name="adj" fmla="val 11429"/>
            </a:avLst>
          </a:prstGeom>
          <a:solidFill>
            <a:srgbClr val="FFF5EA"/>
          </a:solidFill>
          <a:ln w="13970">
            <a:solidFill>
              <a:srgbClr val="D65A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132320" y="3218688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D65A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159752" y="3250692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D65A00"/>
                </a:solidFill>
              </a:rPr>
              <a:t>GCC / serial</a:t>
            </a:r>
            <a:endParaRPr lang="en-US" sz="730" dirty="0"/>
          </a:p>
        </p:txBody>
      </p:sp>
      <p:sp>
        <p:nvSpPr>
          <p:cNvPr id="88" name="Text 86"/>
          <p:cNvSpPr/>
          <p:nvPr/>
        </p:nvSpPr>
        <p:spPr>
          <a:xfrm>
            <a:off x="8065008" y="3218688"/>
            <a:ext cx="557784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HDF5 serial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NetCDF serial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8796528" y="3218688"/>
            <a:ext cx="0" cy="493776"/>
          </a:xfrm>
          <a:prstGeom prst="line">
            <a:avLst/>
          </a:prstGeom>
          <a:noFill/>
          <a:ln w="6350">
            <a:solidFill>
              <a:srgbClr val="D65A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851392" y="3236976"/>
            <a:ext cx="393192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own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yaml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lock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view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mods</a:t>
            </a:r>
            <a:endParaRPr lang="en-US" sz="520" dirty="0"/>
          </a:p>
        </p:txBody>
      </p:sp>
      <p:sp>
        <p:nvSpPr>
          <p:cNvPr id="91" name="Shape 89"/>
          <p:cNvSpPr/>
          <p:nvPr/>
        </p:nvSpPr>
        <p:spPr>
          <a:xfrm>
            <a:off x="7059168" y="3950208"/>
            <a:ext cx="2249424" cy="786384"/>
          </a:xfrm>
          <a:prstGeom prst="roundRect">
            <a:avLst>
              <a:gd name="adj" fmla="val 9302"/>
            </a:avLst>
          </a:prstGeom>
          <a:solidFill>
            <a:srgbClr val="F7F0FF"/>
          </a:solidFill>
          <a:ln w="13970">
            <a:solidFill>
              <a:srgbClr val="6B2FB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132320" y="4023360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6B2FB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159752" y="405536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B2FB7"/>
                </a:solidFill>
              </a:rPr>
              <a:t>GCC / mpi-craympich</a:t>
            </a:r>
            <a:endParaRPr lang="en-US" sz="730" dirty="0"/>
          </a:p>
        </p:txBody>
      </p:sp>
      <p:sp>
        <p:nvSpPr>
          <p:cNvPr id="94" name="Text 92"/>
          <p:cNvSpPr/>
          <p:nvPr/>
        </p:nvSpPr>
        <p:spPr>
          <a:xfrm>
            <a:off x="8065008" y="4023360"/>
            <a:ext cx="5577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Cray MPICH external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HDF5 + MPI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NetCDF + MPI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PnetCDF / TAU</a:t>
            </a:r>
            <a:endParaRPr lang="en-US" sz="680" dirty="0"/>
          </a:p>
        </p:txBody>
      </p:sp>
      <p:sp>
        <p:nvSpPr>
          <p:cNvPr id="95" name="Shape 93"/>
          <p:cNvSpPr/>
          <p:nvPr/>
        </p:nvSpPr>
        <p:spPr>
          <a:xfrm>
            <a:off x="8796528" y="4023360"/>
            <a:ext cx="0" cy="640080"/>
          </a:xfrm>
          <a:prstGeom prst="line">
            <a:avLst/>
          </a:prstGeom>
          <a:noFill/>
          <a:ln w="6350">
            <a:solidFill>
              <a:srgbClr val="6B2FB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851392" y="4041648"/>
            <a:ext cx="3931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own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yaml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lock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view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mods</a:t>
            </a:r>
            <a:endParaRPr lang="en-US" sz="520" dirty="0"/>
          </a:p>
        </p:txBody>
      </p:sp>
      <p:sp>
        <p:nvSpPr>
          <p:cNvPr id="97" name="Shape 95"/>
          <p:cNvSpPr/>
          <p:nvPr/>
        </p:nvSpPr>
        <p:spPr>
          <a:xfrm>
            <a:off x="7059168" y="4937760"/>
            <a:ext cx="2249424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132320" y="5010912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5F636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59752" y="5042916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5F6368"/>
                </a:solidFill>
              </a:rPr>
              <a:t>Optional Open MPI</a:t>
            </a:r>
            <a:endParaRPr lang="en-US" sz="730" dirty="0"/>
          </a:p>
        </p:txBody>
      </p:sp>
      <p:sp>
        <p:nvSpPr>
          <p:cNvPr id="100" name="Text 98"/>
          <p:cNvSpPr/>
          <p:nvPr/>
        </p:nvSpPr>
        <p:spPr>
          <a:xfrm>
            <a:off x="8065008" y="5010912"/>
            <a:ext cx="55778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Secondary option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libfabric / CXI path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</a:rPr>
              <a:t>• Validate before production</a:t>
            </a:r>
            <a:endParaRPr lang="en-US" sz="680" dirty="0"/>
          </a:p>
        </p:txBody>
      </p:sp>
      <p:sp>
        <p:nvSpPr>
          <p:cNvPr id="101" name="Shape 99"/>
          <p:cNvSpPr/>
          <p:nvPr/>
        </p:nvSpPr>
        <p:spPr>
          <a:xfrm>
            <a:off x="8796528" y="5010912"/>
            <a:ext cx="0" cy="566928"/>
          </a:xfrm>
          <a:prstGeom prst="line">
            <a:avLst/>
          </a:prstGeom>
          <a:noFill/>
          <a:ln w="6350">
            <a:solidFill>
              <a:srgbClr val="5F636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851392" y="5029200"/>
            <a:ext cx="39319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own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yaml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lock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view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5F6368"/>
                </a:solidFill>
              </a:rPr>
              <a:t>mods</a:t>
            </a:r>
            <a:endParaRPr lang="en-US" sz="520" dirty="0"/>
          </a:p>
        </p:txBody>
      </p:sp>
      <p:sp>
        <p:nvSpPr>
          <p:cNvPr id="103" name="Shape 101"/>
          <p:cNvSpPr/>
          <p:nvPr/>
        </p:nvSpPr>
        <p:spPr>
          <a:xfrm>
            <a:off x="6858000" y="1847088"/>
            <a:ext cx="201168" cy="-164592"/>
          </a:xfrm>
          <a:prstGeom prst="line">
            <a:avLst/>
          </a:prstGeom>
          <a:noFill/>
          <a:ln w="15240">
            <a:solidFill>
              <a:srgbClr val="1557C8"/>
            </a:solidFill>
            <a:prstDash val="solid"/>
            <a:headEnd type="none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6858000" y="3282696"/>
            <a:ext cx="201168" cy="-722376"/>
          </a:xfrm>
          <a:prstGeom prst="line">
            <a:avLst/>
          </a:prstGeom>
          <a:noFill/>
          <a:ln w="15240">
            <a:solidFill>
              <a:srgbClr val="188038"/>
            </a:solidFill>
            <a:prstDash val="solid"/>
            <a:headEnd type="none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6858000" y="3282696"/>
            <a:ext cx="201168" cy="173736"/>
          </a:xfrm>
          <a:prstGeom prst="line">
            <a:avLst/>
          </a:prstGeom>
          <a:noFill/>
          <a:ln w="15240">
            <a:solidFill>
              <a:srgbClr val="D65A00"/>
            </a:solidFill>
            <a:prstDash val="solid"/>
            <a:headEnd type="none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6858000" y="3282696"/>
            <a:ext cx="201168" cy="1069848"/>
          </a:xfrm>
          <a:prstGeom prst="line">
            <a:avLst/>
          </a:prstGeom>
          <a:noFill/>
          <a:ln w="15240">
            <a:solidFill>
              <a:srgbClr val="6B2FB7"/>
            </a:solidFill>
            <a:prstDash val="solid"/>
            <a:headEnd type="none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6812280" y="4526280"/>
            <a:ext cx="246888" cy="758952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9528048" y="1307592"/>
            <a:ext cx="1188720" cy="4160520"/>
          </a:xfrm>
          <a:prstGeom prst="roundRect">
            <a:avLst>
              <a:gd name="adj" fmla="val 6154"/>
            </a:avLst>
          </a:prstGeom>
          <a:solidFill>
            <a:srgbClr val="ECFBFC"/>
          </a:solidFill>
          <a:ln w="15240">
            <a:solidFill>
              <a:srgbClr val="087E8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921240" y="14630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7E8B"/>
                </a:solidFill>
              </a:rPr>
              <a:t>☑</a:t>
            </a:r>
            <a:endParaRPr lang="en-US" sz="1800" dirty="0"/>
          </a:p>
        </p:txBody>
      </p:sp>
      <p:sp>
        <p:nvSpPr>
          <p:cNvPr id="110" name="Text 108"/>
          <p:cNvSpPr/>
          <p:nvPr/>
        </p:nvSpPr>
        <p:spPr>
          <a:xfrm>
            <a:off x="9765792" y="1874520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87E8B"/>
                </a:solidFill>
              </a:rPr>
              <a:t>Concretize</a:t>
            </a:r>
            <a:endParaRPr lang="en-US" sz="740" dirty="0"/>
          </a:p>
        </p:txBody>
      </p:sp>
      <p:sp>
        <p:nvSpPr>
          <p:cNvPr id="111" name="Shape 109"/>
          <p:cNvSpPr/>
          <p:nvPr/>
        </p:nvSpPr>
        <p:spPr>
          <a:xfrm>
            <a:off x="9646920" y="2139696"/>
            <a:ext cx="950976" cy="0"/>
          </a:xfrm>
          <a:prstGeom prst="line">
            <a:avLst/>
          </a:prstGeom>
          <a:noFill/>
          <a:ln w="6350">
            <a:solidFill>
              <a:srgbClr val="087E8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765792" y="2377440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87E8B"/>
                </a:solidFill>
              </a:rPr>
              <a:t>Fetch</a:t>
            </a:r>
            <a:endParaRPr lang="en-US" sz="740" dirty="0"/>
          </a:p>
        </p:txBody>
      </p:sp>
      <p:sp>
        <p:nvSpPr>
          <p:cNvPr id="113" name="Shape 111"/>
          <p:cNvSpPr/>
          <p:nvPr/>
        </p:nvSpPr>
        <p:spPr>
          <a:xfrm>
            <a:off x="9646920" y="2642616"/>
            <a:ext cx="950976" cy="0"/>
          </a:xfrm>
          <a:prstGeom prst="line">
            <a:avLst/>
          </a:prstGeom>
          <a:noFill/>
          <a:ln w="6350">
            <a:solidFill>
              <a:srgbClr val="087E8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765792" y="2880360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87E8B"/>
                </a:solidFill>
              </a:rPr>
              <a:t>Install</a:t>
            </a:r>
            <a:endParaRPr lang="en-US" sz="740" dirty="0"/>
          </a:p>
        </p:txBody>
      </p:sp>
      <p:sp>
        <p:nvSpPr>
          <p:cNvPr id="115" name="Shape 113"/>
          <p:cNvSpPr/>
          <p:nvPr/>
        </p:nvSpPr>
        <p:spPr>
          <a:xfrm>
            <a:off x="9646920" y="3145536"/>
            <a:ext cx="950976" cy="0"/>
          </a:xfrm>
          <a:prstGeom prst="line">
            <a:avLst/>
          </a:prstGeom>
          <a:noFill/>
          <a:ln w="6350">
            <a:solidFill>
              <a:srgbClr val="087E8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765792" y="3383280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87E8B"/>
                </a:solidFill>
              </a:rPr>
              <a:t>Test / verify</a:t>
            </a:r>
            <a:endParaRPr lang="en-US" sz="740" dirty="0"/>
          </a:p>
        </p:txBody>
      </p:sp>
      <p:sp>
        <p:nvSpPr>
          <p:cNvPr id="117" name="Shape 115"/>
          <p:cNvSpPr/>
          <p:nvPr/>
        </p:nvSpPr>
        <p:spPr>
          <a:xfrm>
            <a:off x="9646920" y="3648456"/>
            <a:ext cx="950976" cy="0"/>
          </a:xfrm>
          <a:prstGeom prst="line">
            <a:avLst/>
          </a:prstGeom>
          <a:noFill/>
          <a:ln w="6350">
            <a:solidFill>
              <a:srgbClr val="087E8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765792" y="3886200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87E8B"/>
                </a:solidFill>
              </a:rPr>
              <a:t>Microbenchmarks</a:t>
            </a:r>
            <a:endParaRPr lang="en-US" sz="740" dirty="0"/>
          </a:p>
        </p:txBody>
      </p:sp>
      <p:sp>
        <p:nvSpPr>
          <p:cNvPr id="119" name="Shape 117"/>
          <p:cNvSpPr/>
          <p:nvPr/>
        </p:nvSpPr>
        <p:spPr>
          <a:xfrm>
            <a:off x="9646920" y="4151376"/>
            <a:ext cx="950976" cy="0"/>
          </a:xfrm>
          <a:prstGeom prst="line">
            <a:avLst/>
          </a:prstGeom>
          <a:noFill/>
          <a:ln w="6350">
            <a:solidFill>
              <a:srgbClr val="087E8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765792" y="4389120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87E8B"/>
                </a:solidFill>
              </a:rPr>
              <a:t>Smoke tests</a:t>
            </a:r>
            <a:endParaRPr lang="en-US" sz="740" dirty="0"/>
          </a:p>
        </p:txBody>
      </p:sp>
      <p:sp>
        <p:nvSpPr>
          <p:cNvPr id="121" name="Shape 119"/>
          <p:cNvSpPr/>
          <p:nvPr/>
        </p:nvSpPr>
        <p:spPr>
          <a:xfrm>
            <a:off x="9646920" y="4654296"/>
            <a:ext cx="950976" cy="0"/>
          </a:xfrm>
          <a:prstGeom prst="line">
            <a:avLst/>
          </a:prstGeom>
          <a:noFill/>
          <a:ln w="6350">
            <a:solidFill>
              <a:srgbClr val="087E8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674352" y="4882896"/>
            <a:ext cx="941832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087E8B"/>
                </a:solidFill>
              </a:rPr>
              <a:t>Validate PALS / mpirun on PBS and srun on Slurm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9326880" y="2816352"/>
            <a:ext cx="18288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124" name="Shape 122"/>
          <p:cNvSpPr/>
          <p:nvPr/>
        </p:nvSpPr>
        <p:spPr>
          <a:xfrm>
            <a:off x="11018520" y="1307592"/>
            <a:ext cx="1033272" cy="4526280"/>
          </a:xfrm>
          <a:prstGeom prst="roundRect">
            <a:avLst>
              <a:gd name="adj" fmla="val 7080"/>
            </a:avLst>
          </a:prstGeom>
          <a:solidFill>
            <a:srgbClr val="F7F0FF"/>
          </a:solidFill>
          <a:ln w="15240">
            <a:solidFill>
              <a:srgbClr val="6B2FB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1356848" y="14447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2FB7"/>
                </a:solidFill>
              </a:rPr>
              <a:t>📣</a:t>
            </a:r>
            <a:endParaRPr lang="en-US" sz="1800" dirty="0"/>
          </a:p>
        </p:txBody>
      </p:sp>
      <p:sp>
        <p:nvSpPr>
          <p:cNvPr id="126" name="Text 124"/>
          <p:cNvSpPr/>
          <p:nvPr/>
        </p:nvSpPr>
        <p:spPr>
          <a:xfrm>
            <a:off x="11173968" y="2011680"/>
            <a:ext cx="7132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2FB7"/>
                </a:solidFill>
              </a:rPr>
              <a:t>Regenerate views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11137392" y="2304288"/>
            <a:ext cx="749808" cy="0"/>
          </a:xfrm>
          <a:prstGeom prst="line">
            <a:avLst/>
          </a:prstGeom>
          <a:noFill/>
          <a:ln w="6350">
            <a:solidFill>
              <a:srgbClr val="6B2FB7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1173968" y="2624328"/>
            <a:ext cx="7132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2FB7"/>
                </a:solidFill>
              </a:rPr>
              <a:t>Refresh modules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11137392" y="2916936"/>
            <a:ext cx="749808" cy="0"/>
          </a:xfrm>
          <a:prstGeom prst="line">
            <a:avLst/>
          </a:prstGeom>
          <a:noFill/>
          <a:ln w="6350">
            <a:solidFill>
              <a:srgbClr val="6B2FB7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1173968" y="3236976"/>
            <a:ext cx="7132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2FB7"/>
                </a:solidFill>
              </a:rPr>
              <a:t>Push build caches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11137392" y="3529584"/>
            <a:ext cx="749808" cy="0"/>
          </a:xfrm>
          <a:prstGeom prst="line">
            <a:avLst/>
          </a:prstGeom>
          <a:noFill/>
          <a:ln w="6350">
            <a:solidFill>
              <a:srgbClr val="6B2FB7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1173968" y="3849624"/>
            <a:ext cx="7132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2FB7"/>
                </a:solidFill>
              </a:rPr>
              <a:t>Promote release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11137392" y="4142232"/>
            <a:ext cx="749808" cy="0"/>
          </a:xfrm>
          <a:prstGeom prst="line">
            <a:avLst/>
          </a:prstGeom>
          <a:noFill/>
          <a:ln w="6350">
            <a:solidFill>
              <a:srgbClr val="6B2FB7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1155680" y="4754880"/>
            <a:ext cx="7863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071C4D"/>
                </a:solidFill>
              </a:rPr>
              <a:t>User modules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71C4D"/>
                </a:solidFill>
              </a:rPr>
              <a:t>• CSE/Core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71C4D"/>
                </a:solidFill>
              </a:rPr>
              <a:t>• CSE/CCE/serial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71C4D"/>
                </a:solidFill>
              </a:rPr>
              <a:t>• CSE/CCE/mpi-craympich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71C4D"/>
                </a:solidFill>
              </a:rPr>
              <a:t>• CSE/GCC/serial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71C4D"/>
                </a:solidFill>
              </a:rPr>
              <a:t>• CSE/GCC/mpi-craympich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71C4D"/>
                </a:solidFill>
              </a:rPr>
              <a:t>• CSE/optional/OpenMPI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10735056" y="2834640"/>
            <a:ext cx="265176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headEnd type="none"/>
            <a:tailEnd type="triangle"/>
          </a:ln>
        </p:spPr>
      </p:sp>
      <p:sp>
        <p:nvSpPr>
          <p:cNvPr id="136" name="Shape 134"/>
          <p:cNvSpPr/>
          <p:nvPr/>
        </p:nvSpPr>
        <p:spPr>
          <a:xfrm>
            <a:off x="4782312" y="6327648"/>
            <a:ext cx="1481328" cy="347472"/>
          </a:xfrm>
          <a:prstGeom prst="roundRect">
            <a:avLst>
              <a:gd name="adj" fmla="val 15789"/>
            </a:avLst>
          </a:prstGeom>
          <a:solidFill>
            <a:srgbClr val="EEF5FF"/>
          </a:solidFill>
          <a:ln w="8890">
            <a:solidFill>
              <a:srgbClr val="1557C8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809744" y="6359652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57C8"/>
                </a:solidFill>
              </a:rPr>
              <a:t>Core is built once, then reused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7242048" y="6327648"/>
            <a:ext cx="1856232" cy="347472"/>
          </a:xfrm>
          <a:prstGeom prst="roundRect">
            <a:avLst>
              <a:gd name="adj" fmla="val 15789"/>
            </a:avLst>
          </a:prstGeom>
          <a:solidFill>
            <a:srgbClr val="ECFBFC"/>
          </a:solidFill>
          <a:ln w="8890">
            <a:solidFill>
              <a:srgbClr val="087E8B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269480" y="6359652"/>
            <a:ext cx="1801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E8B"/>
                </a:solidFill>
              </a:rPr>
              <a:t>Compiler + MPI combinations stay isolated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7607808" y="5907024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7F0FF"/>
          </a:solidFill>
          <a:ln w="8890">
            <a:solidFill>
              <a:srgbClr val="6B2FB7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635240" y="5939028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B2FB7"/>
                </a:solidFill>
              </a:rPr>
              <a:t>Cray MPICH is the primary production MPI on Cray systems</a:t>
            </a:r>
            <a:endParaRPr lang="en-US" sz="770" dirty="0"/>
          </a:p>
        </p:txBody>
      </p:sp>
      <p:sp>
        <p:nvSpPr>
          <p:cNvPr id="142" name="Shape 140"/>
          <p:cNvSpPr/>
          <p:nvPr/>
        </p:nvSpPr>
        <p:spPr>
          <a:xfrm>
            <a:off x="201168" y="5989320"/>
            <a:ext cx="1664208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5240">
            <a:solidFill>
              <a:srgbClr val="C9D6E8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29184" y="6044184"/>
            <a:ext cx="5486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071C4D"/>
                </a:solidFill>
              </a:rPr>
              <a:t>Legend</a:t>
            </a:r>
            <a:endParaRPr lang="en-US" sz="630" dirty="0"/>
          </a:p>
        </p:txBody>
      </p:sp>
      <p:sp>
        <p:nvSpPr>
          <p:cNvPr id="144" name="Shape 142"/>
          <p:cNvSpPr/>
          <p:nvPr/>
        </p:nvSpPr>
        <p:spPr>
          <a:xfrm>
            <a:off x="329184" y="6281928"/>
            <a:ext cx="283464" cy="0"/>
          </a:xfrm>
          <a:prstGeom prst="line">
            <a:avLst/>
          </a:prstGeom>
          <a:noFill/>
          <a:ln w="15240">
            <a:solidFill>
              <a:srgbClr val="1557C8"/>
            </a:solidFill>
            <a:prstDash val="solid"/>
            <a:headEnd type="none"/>
            <a:tailEnd type="triangle"/>
          </a:ln>
        </p:spPr>
      </p:sp>
      <p:sp>
        <p:nvSpPr>
          <p:cNvPr id="145" name="Text 143"/>
          <p:cNvSpPr/>
          <p:nvPr/>
        </p:nvSpPr>
        <p:spPr>
          <a:xfrm>
            <a:off x="685800" y="6199632"/>
            <a:ext cx="47548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</a:rPr>
              <a:t>build flow</a:t>
            </a:r>
            <a:endParaRPr lang="en-US" sz="570" dirty="0"/>
          </a:p>
        </p:txBody>
      </p:sp>
      <p:sp>
        <p:nvSpPr>
          <p:cNvPr id="146" name="Shape 144"/>
          <p:cNvSpPr/>
          <p:nvPr/>
        </p:nvSpPr>
        <p:spPr>
          <a:xfrm>
            <a:off x="1115568" y="6281928"/>
            <a:ext cx="228600" cy="0"/>
          </a:xfrm>
          <a:prstGeom prst="line">
            <a:avLst/>
          </a:prstGeom>
          <a:noFill/>
          <a:ln w="15240">
            <a:solidFill>
              <a:srgbClr val="087E8B"/>
            </a:solidFill>
            <a:prstDash val="solid"/>
            <a:headEnd type="none"/>
            <a:tailEnd type="triangle"/>
          </a:ln>
        </p:spPr>
      </p:sp>
      <p:sp>
        <p:nvSpPr>
          <p:cNvPr id="147" name="Text 145"/>
          <p:cNvSpPr/>
          <p:nvPr/>
        </p:nvSpPr>
        <p:spPr>
          <a:xfrm>
            <a:off x="1399032" y="6199632"/>
            <a:ext cx="320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</a:rPr>
              <a:t>reuse</a:t>
            </a:r>
            <a:endParaRPr lang="en-US" sz="5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Spack Stack Build Flow Diagrams</dc:title>
  <dc:subject>Editable CSE Spack Stack build-flow diagrams</dc:subject>
  <dc:creator>OpenAI</dc:creator>
  <cp:lastModifiedBy>OpenAI</cp:lastModifiedBy>
  <cp:revision>1</cp:revision>
  <dcterms:created xsi:type="dcterms:W3CDTF">2026-05-30T16:19:46Z</dcterms:created>
  <dcterms:modified xsi:type="dcterms:W3CDTF">2026-05-30T16:19:46Z</dcterms:modified>
</cp:coreProperties>
</file>
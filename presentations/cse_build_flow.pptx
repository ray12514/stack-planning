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2300" b="1">
                <a:solidFill>
                  <a:srgbClr val="0F172A"/>
                </a:solidFill>
                <a:latin typeface="Avenir Next"/>
              </a:defRPr>
            </a:pPr>
            <a:r>
              <a:t>CSE Spack Stack Build Flow — Cray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48640"/>
            <a:ext cx="11430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1250" b="1">
                <a:solidFill>
                  <a:srgbClr val="2563EB"/>
                </a:solidFill>
                <a:latin typeface="Avenir Next"/>
              </a:defRPr>
            </a:pPr>
            <a:r>
              <a:t>Cray PE compiler surfaces + shared Core + fan-out Cray MPICH lanes</a:t>
            </a:r>
          </a:p>
        </p:txBody>
      </p:sp>
      <p:sp>
        <p:nvSpPr>
          <p:cNvPr id="5" name="Oval 4"/>
          <p:cNvSpPr/>
          <p:nvPr/>
        </p:nvSpPr>
        <p:spPr>
          <a:xfrm>
            <a:off x="969264" y="896112"/>
            <a:ext cx="256032" cy="256032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100" b="1">
                <a:solidFill>
                  <a:srgbClr val="FFFFFF"/>
                </a:solidFill>
                <a:latin typeface="Avenir Next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179576"/>
            <a:ext cx="1554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850" b="1">
                <a:solidFill>
                  <a:srgbClr val="0F172A"/>
                </a:solidFill>
                <a:latin typeface="Avenir Next"/>
              </a:defRPr>
            </a:pPr>
            <a:r>
              <a:t>System inspection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600200" y="1024128"/>
            <a:ext cx="685800" cy="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2660903" y="896112"/>
            <a:ext cx="256032" cy="256032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100" b="1">
                <a:solidFill>
                  <a:srgbClr val="FFFFFF"/>
                </a:solidFill>
                <a:latin typeface="Avenir Next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79" y="1179576"/>
            <a:ext cx="1554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850" b="1">
                <a:solidFill>
                  <a:srgbClr val="0F172A"/>
                </a:solidFill>
                <a:latin typeface="Avenir Next"/>
              </a:defRPr>
            </a:pPr>
            <a:r>
              <a:t>Register compilers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91839" y="1024128"/>
            <a:ext cx="521209" cy="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4187952" y="896112"/>
            <a:ext cx="256032" cy="256032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100" b="1">
                <a:solidFill>
                  <a:srgbClr val="FFFFFF"/>
                </a:solidFill>
                <a:latin typeface="Avenir Next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7" y="1179576"/>
            <a:ext cx="1554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850" b="1">
                <a:solidFill>
                  <a:srgbClr val="0F172A"/>
                </a:solidFill>
                <a:latin typeface="Avenir Next"/>
              </a:defRPr>
            </a:pPr>
            <a:r>
              <a:t>Compilers ready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818888" y="1024128"/>
            <a:ext cx="667512" cy="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5861304" y="896112"/>
            <a:ext cx="256032" cy="256032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100" b="1">
                <a:solidFill>
                  <a:srgbClr val="FFFFFF"/>
                </a:solidFill>
                <a:latin typeface="Avenir Next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1179576"/>
            <a:ext cx="1554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850" b="1">
                <a:solidFill>
                  <a:srgbClr val="0F172A"/>
                </a:solidFill>
                <a:latin typeface="Avenir Next"/>
              </a:defRPr>
            </a:pPr>
            <a:r>
              <a:t>Build Core once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92240" y="1024128"/>
            <a:ext cx="1737360" cy="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8604504" y="896112"/>
            <a:ext cx="256032" cy="256032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100" b="1">
                <a:solidFill>
                  <a:srgbClr val="FFFFFF"/>
                </a:solidFill>
                <a:latin typeface="Avenir Next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0" y="1179576"/>
            <a:ext cx="1554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850" b="1">
                <a:solidFill>
                  <a:srgbClr val="0F172A"/>
                </a:solidFill>
                <a:latin typeface="Avenir Next"/>
              </a:defRPr>
            </a:pPr>
            <a:r>
              <a:t>Fan-out lanes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235440" y="1024128"/>
            <a:ext cx="731519" cy="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10341863" y="896112"/>
            <a:ext cx="256032" cy="256032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100" b="1">
                <a:solidFill>
                  <a:srgbClr val="FFFFFF"/>
                </a:solidFill>
                <a:latin typeface="Avenir Next"/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1179576"/>
            <a:ext cx="1554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850" b="1">
                <a:solidFill>
                  <a:srgbClr val="0F172A"/>
                </a:solidFill>
                <a:latin typeface="Avenir Next"/>
              </a:defRPr>
            </a:pPr>
            <a:r>
              <a:t>Build and validate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972800" y="1024128"/>
            <a:ext cx="100584" cy="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11448288" y="896112"/>
            <a:ext cx="256032" cy="256032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100" b="1">
                <a:solidFill>
                  <a:srgbClr val="FFFFFF"/>
                </a:solidFill>
                <a:latin typeface="Avenir Next"/>
              </a:defRPr>
            </a:pPr>
            <a: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99064" y="1179576"/>
            <a:ext cx="1554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850" b="1">
                <a:solidFill>
                  <a:srgbClr val="0F172A"/>
                </a:solidFill>
                <a:latin typeface="Avenir Next"/>
              </a:defRPr>
            </a:pPr>
            <a:r>
              <a:t>Publish to users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2608" y="1691640"/>
            <a:ext cx="1609344" cy="4297679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2336" y="1783080"/>
            <a:ext cx="1417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1E3A8A"/>
                </a:solidFill>
                <a:latin typeface="Avenir Next"/>
              </a:defRPr>
            </a:pPr>
            <a:r>
              <a:t>🔍  Environment facts (probed)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2336" y="2350008"/>
            <a:ext cx="1389888" cy="42062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850">
                <a:solidFill>
                  <a:srgbClr val="334155"/>
                </a:solidFill>
                <a:latin typeface="Avenir Next"/>
              </a:defRPr>
            </a:pPr>
            <a:r>
              <a:t>OS = Cray Linux (SLES)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" y="2862072"/>
            <a:ext cx="1389888" cy="42062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850">
                <a:solidFill>
                  <a:srgbClr val="334155"/>
                </a:solidFill>
                <a:latin typeface="Avenir Next"/>
              </a:defRPr>
            </a:pPr>
            <a:r>
              <a:t>CPU target = zen4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2336" y="3374136"/>
            <a:ext cx="1389888" cy="42062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850">
                <a:solidFill>
                  <a:srgbClr val="334155"/>
                </a:solidFill>
                <a:latin typeface="Avenir Next"/>
              </a:defRPr>
            </a:pPr>
            <a:r>
              <a:t>Cray PE / PrgEnv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2336" y="3886200"/>
            <a:ext cx="1389888" cy="42062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850">
                <a:solidFill>
                  <a:srgbClr val="334155"/>
                </a:solidFill>
                <a:latin typeface="Avenir Next"/>
              </a:defRPr>
            </a:pPr>
            <a:r>
              <a:t>MPI = Cray MPICH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02336" y="4398264"/>
            <a:ext cx="1389888" cy="42062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850">
                <a:solidFill>
                  <a:srgbClr val="334155"/>
                </a:solidFill>
                <a:latin typeface="Avenir Next"/>
              </a:defRPr>
            </a:pPr>
            <a:r>
              <a:t>Fabric = Slingshot / CXI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02336" y="4910328"/>
            <a:ext cx="1389888" cy="42062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850">
                <a:solidFill>
                  <a:srgbClr val="334155"/>
                </a:solidFill>
                <a:latin typeface="Avenir Next"/>
              </a:defRPr>
            </a:pPr>
            <a:r>
              <a:t>GPU = MI300A (gfx942)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2336" y="5422392"/>
            <a:ext cx="1389888" cy="42062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850">
                <a:solidFill>
                  <a:srgbClr val="334155"/>
                </a:solidFill>
                <a:latin typeface="Avenir Next"/>
              </a:defRPr>
            </a:pPr>
            <a:r>
              <a:t>Scheduler = PBS / Slurm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029968" y="1691640"/>
            <a:ext cx="1517904" cy="4297679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139696" y="1783080"/>
            <a:ext cx="1325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1E3A8A"/>
                </a:solidFill>
                <a:latin typeface="Avenir Next"/>
              </a:defRPr>
            </a:pPr>
            <a:r>
              <a:t>Compiler surfaces (externals)</a:t>
            </a:r>
          </a:p>
        </p:txBody>
      </p:sp>
      <p:sp>
        <p:nvSpPr>
          <p:cNvPr id="36" name="Regular Pentagon 35"/>
          <p:cNvSpPr/>
          <p:nvPr/>
        </p:nvSpPr>
        <p:spPr>
          <a:xfrm>
            <a:off x="2560320" y="2468880"/>
            <a:ext cx="457200" cy="384048"/>
          </a:xfrm>
          <a:prstGeom prst="pentagon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76272" y="2889504"/>
            <a:ext cx="122529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1300" b="1">
                <a:solidFill>
                  <a:srgbClr val="15803D"/>
                </a:solidFill>
                <a:latin typeface="Avenir Next"/>
              </a:defRPr>
            </a:pPr>
            <a:r>
              <a:t>GCC</a:t>
            </a:r>
          </a:p>
          <a:p>
            <a:pPr algn="ctr">
              <a:defRPr sz="800" b="0">
                <a:solidFill>
                  <a:srgbClr val="64748B"/>
                </a:solidFill>
                <a:latin typeface="Avenir Next"/>
              </a:defRPr>
            </a:pPr>
            <a:r>
              <a:t>PrgEnv-gnu · default</a:t>
            </a:r>
          </a:p>
        </p:txBody>
      </p:sp>
      <p:sp>
        <p:nvSpPr>
          <p:cNvPr id="38" name="Regular Pentagon 37"/>
          <p:cNvSpPr/>
          <p:nvPr/>
        </p:nvSpPr>
        <p:spPr>
          <a:xfrm>
            <a:off x="2560320" y="3840480"/>
            <a:ext cx="457200" cy="384048"/>
          </a:xfrm>
          <a:prstGeom prst="pentagon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176272" y="4261104"/>
            <a:ext cx="122529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1300" b="1">
                <a:solidFill>
                  <a:srgbClr val="C2410C"/>
                </a:solidFill>
                <a:latin typeface="Avenir Next"/>
              </a:defRPr>
            </a:pPr>
            <a:r>
              <a:t>CCE</a:t>
            </a:r>
          </a:p>
          <a:p>
            <a:pPr algn="ctr">
              <a:defRPr sz="800" b="0">
                <a:solidFill>
                  <a:srgbClr val="64748B"/>
                </a:solidFill>
                <a:latin typeface="Avenir Next"/>
              </a:defRPr>
            </a:pPr>
            <a:r>
              <a:t>PrgEnv-cray · vendor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39696" y="5303520"/>
            <a:ext cx="13258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850" b="0">
                <a:solidFill>
                  <a:srgbClr val="64748B"/>
                </a:solidFill>
                <a:latin typeface="Avenir Next"/>
              </a:defRPr>
            </a:pPr>
            <a:r>
              <a:t>each surface = its own module tree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767328" y="3017520"/>
            <a:ext cx="1097280" cy="1371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822191" y="3127248"/>
            <a:ext cx="98755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1600" b="0">
                <a:solidFill>
                  <a:srgbClr val="0F172A"/>
                </a:solidFill>
                <a:latin typeface="Avenir Next"/>
              </a:defRPr>
            </a:pPr>
            <a:r>
              <a:t>🛠</a:t>
            </a:r>
          </a:p>
          <a:p>
            <a:pPr algn="ctr">
              <a:defRPr sz="850" b="1">
                <a:solidFill>
                  <a:srgbClr val="7C3AED"/>
                </a:solidFill>
                <a:latin typeface="Avenir Next"/>
              </a:defRPr>
            </a:pPr>
            <a:r>
              <a:t>compilers registered ·</a:t>
            </a:r>
          </a:p>
          <a:p>
            <a:pPr algn="ctr">
              <a:defRPr sz="850" b="1">
                <a:solidFill>
                  <a:srgbClr val="7C3AED"/>
                </a:solidFill>
                <a:latin typeface="Avenir Next"/>
              </a:defRPr>
            </a:pPr>
            <a:r>
              <a:t>toolchains defined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74920" y="1691640"/>
            <a:ext cx="1828800" cy="42976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12080" y="1783080"/>
            <a:ext cx="1572768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1E3A8A"/>
                </a:solidFill>
                <a:latin typeface="Avenir Next"/>
              </a:defRPr>
            </a:pPr>
            <a:r>
              <a:t>📦  Spack Core environment</a:t>
            </a:r>
          </a:p>
          <a:p>
            <a:pPr algn="l">
              <a:defRPr sz="850" b="0">
                <a:solidFill>
                  <a:srgbClr val="334155"/>
                </a:solidFill>
                <a:latin typeface="Avenir Next"/>
              </a:defRPr>
            </a:pPr>
          </a:p>
          <a:p>
            <a:pPr algn="l">
              <a:defRPr sz="850" b="0">
                <a:solidFill>
                  <a:srgbClr val="334155"/>
                </a:solidFill>
                <a:latin typeface="Avenir Next"/>
              </a:defRPr>
            </a:pPr>
            <a:r>
              <a:t>• built with GCC</a:t>
            </a:r>
          </a:p>
          <a:p>
            <a:pPr algn="l">
              <a:defRPr sz="850" b="0">
                <a:solidFill>
                  <a:srgbClr val="334155"/>
                </a:solidFill>
                <a:latin typeface="Avenir Next"/>
              </a:defRPr>
            </a:pPr>
            <a:r>
              <a:t>• portable target: x86_64_v3</a:t>
            </a:r>
          </a:p>
          <a:p>
            <a:pPr algn="l">
              <a:defRPr sz="850" b="0">
                <a:solidFill>
                  <a:srgbClr val="334155"/>
                </a:solidFill>
                <a:latin typeface="Avenir Next"/>
              </a:defRPr>
            </a:pPr>
            <a:r>
              <a:t>• cmake · ninja · git</a:t>
            </a:r>
          </a:p>
          <a:p>
            <a:pPr algn="l">
              <a:defRPr sz="850" b="0">
                <a:solidFill>
                  <a:srgbClr val="334155"/>
                </a:solidFill>
                <a:latin typeface="Avenir Next"/>
              </a:defRPr>
            </a:pPr>
            <a:r>
              <a:t>• python · miniforge · gsl</a:t>
            </a:r>
          </a:p>
          <a:p>
            <a:pPr algn="l">
              <a:defRPr sz="850" b="0">
                <a:solidFill>
                  <a:srgbClr val="334155"/>
                </a:solidFill>
                <a:latin typeface="Avenir Next"/>
              </a:defRPr>
            </a:pPr>
          </a:p>
          <a:p>
            <a:pPr algn="l">
              <a:defRPr sz="850" b="1">
                <a:solidFill>
                  <a:srgbClr val="475569"/>
                </a:solidFill>
                <a:latin typeface="Avenir Next"/>
              </a:defRPr>
            </a:pPr>
            <a:r>
              <a:t>foundation — in the view:</a:t>
            </a:r>
          </a:p>
          <a:p>
            <a:pPr algn="l">
              <a:defRPr sz="850" b="0">
                <a:solidFill>
                  <a:srgbClr val="334155"/>
                </a:solidFill>
                <a:latin typeface="Avenir Next"/>
              </a:defRPr>
            </a:pPr>
            <a:r>
              <a:t>• zlib · xz · zstd (pinned)</a:t>
            </a:r>
          </a:p>
          <a:p>
            <a:pPr algn="l">
              <a:defRPr sz="850" b="0">
                <a:solidFill>
                  <a:srgbClr val="334155"/>
                </a:solidFill>
                <a:latin typeface="Avenir Next"/>
              </a:defRPr>
            </a:pPr>
          </a:p>
          <a:p>
            <a:pPr algn="l">
              <a:defRPr sz="900" b="1">
                <a:solidFill>
                  <a:srgbClr val="0D9488"/>
                </a:solidFill>
                <a:latin typeface="Avenir Next"/>
              </a:defRPr>
            </a:pPr>
            <a:r>
              <a:t>shared across all surfaces and lanes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901952" y="3840480"/>
            <a:ext cx="128016" cy="0"/>
          </a:xfrm>
          <a:prstGeom prst="line">
            <a:avLst/>
          </a:prstGeom>
          <a:ln w="15875">
            <a:solidFill>
              <a:srgbClr val="1E3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547872" y="3703320"/>
            <a:ext cx="219456" cy="0"/>
          </a:xfrm>
          <a:prstGeom prst="line">
            <a:avLst/>
          </a:prstGeom>
          <a:ln w="15875">
            <a:solidFill>
              <a:srgbClr val="1E3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4864608" y="3703320"/>
            <a:ext cx="210312" cy="0"/>
          </a:xfrm>
          <a:prstGeom prst="line">
            <a:avLst/>
          </a:prstGeom>
          <a:ln w="15875">
            <a:solidFill>
              <a:srgbClr val="1E3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903720" y="3703320"/>
            <a:ext cx="155448" cy="0"/>
          </a:xfrm>
          <a:prstGeom prst="line">
            <a:avLst/>
          </a:prstGeom>
          <a:ln w="158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7059168" y="3310128"/>
            <a:ext cx="566928" cy="786384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50024" y="3383280"/>
            <a:ext cx="603504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1100" b="0">
                <a:solidFill>
                  <a:srgbClr val="0F172A"/>
                </a:solidFill>
                <a:latin typeface="Avenir Next"/>
              </a:defRPr>
            </a:pPr>
            <a:r>
              <a:t>🗂</a:t>
            </a:r>
          </a:p>
          <a:p>
            <a:pPr algn="ctr">
              <a:defRPr sz="700" b="1">
                <a:solidFill>
                  <a:srgbClr val="0D9488"/>
                </a:solidFill>
                <a:latin typeface="Avenir Next"/>
              </a:defRPr>
            </a:pPr>
            <a:r>
              <a:t>core view + cache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882127" y="1691640"/>
            <a:ext cx="2212848" cy="655319"/>
          </a:xfrm>
          <a:prstGeom prst="roundRect">
            <a:avLst/>
          </a:prstGeom>
          <a:solidFill>
            <a:srgbClr val="FDF3E3"/>
          </a:solidFill>
          <a:ln w="1587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91856" y="1746504"/>
            <a:ext cx="1691640" cy="5638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D97706"/>
                </a:solidFill>
                <a:latin typeface="Avenir Next"/>
              </a:defRPr>
            </a:pPr>
            <a:r>
              <a:t>GCC / Serial</a:t>
            </a:r>
          </a:p>
          <a:p>
            <a:pPr algn="l">
              <a:defRPr sz="750" b="0">
                <a:solidFill>
                  <a:srgbClr val="334155"/>
                </a:solidFill>
                <a:latin typeface="Avenir Next"/>
              </a:defRPr>
            </a:pPr>
            <a:r>
              <a:t>HDF5 · NetCDF — built without MPI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92640" y="1746504"/>
            <a:ext cx="384048" cy="5638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650" b="0">
                <a:solidFill>
                  <a:srgbClr val="64748B"/>
                </a:solidFill>
                <a:latin typeface="Avenir Next"/>
              </a:defRPr>
            </a:pPr>
            <a:r>
              <a:t>yaml lock view mods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790688" y="2019300"/>
            <a:ext cx="91439" cy="0"/>
          </a:xfrm>
          <a:prstGeom prst="line">
            <a:avLst/>
          </a:prstGeom>
          <a:ln w="19050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0094976" y="2019300"/>
            <a:ext cx="128016" cy="0"/>
          </a:xfrm>
          <a:prstGeom prst="line">
            <a:avLst/>
          </a:prstGeom>
          <a:ln w="15875">
            <a:solidFill>
              <a:srgbClr val="1E3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7882127" y="2420112"/>
            <a:ext cx="2212848" cy="655319"/>
          </a:xfrm>
          <a:prstGeom prst="roundRect">
            <a:avLst/>
          </a:prstGeom>
          <a:solidFill>
            <a:srgbClr val="EAF0FE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991856" y="2474976"/>
            <a:ext cx="1691640" cy="5638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2563EB"/>
                </a:solidFill>
                <a:latin typeface="Avenir Next"/>
              </a:defRPr>
            </a:pPr>
            <a:r>
              <a:t>GCC / MPI</a:t>
            </a:r>
          </a:p>
          <a:p>
            <a:pPr algn="l">
              <a:defRPr sz="750" b="0">
                <a:solidFill>
                  <a:srgbClr val="334155"/>
                </a:solidFill>
                <a:latin typeface="Avenir Next"/>
              </a:defRPr>
            </a:pPr>
            <a:r>
              <a:t>Cray MPICH · HDF5+MPI · PnetCDF · TAU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92640" y="2474976"/>
            <a:ext cx="384048" cy="5638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650" b="0">
                <a:solidFill>
                  <a:srgbClr val="64748B"/>
                </a:solidFill>
                <a:latin typeface="Avenir Next"/>
              </a:defRPr>
            </a:pPr>
            <a:r>
              <a:t>yaml lock view mods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790688" y="2747772"/>
            <a:ext cx="91439" cy="0"/>
          </a:xfrm>
          <a:prstGeom prst="line">
            <a:avLst/>
          </a:prstGeom>
          <a:ln w="19050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0094976" y="2747772"/>
            <a:ext cx="128016" cy="0"/>
          </a:xfrm>
          <a:prstGeom prst="line">
            <a:avLst/>
          </a:prstGeom>
          <a:ln w="15875">
            <a:solidFill>
              <a:srgbClr val="1E3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7882127" y="3148583"/>
            <a:ext cx="2212848" cy="655319"/>
          </a:xfrm>
          <a:prstGeom prst="roundRect">
            <a:avLst/>
          </a:prstGeom>
          <a:solidFill>
            <a:srgbClr val="F2EBFD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991856" y="3203447"/>
            <a:ext cx="1691640" cy="5638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7C3AED"/>
                </a:solidFill>
                <a:latin typeface="Avenir Next"/>
              </a:defRPr>
            </a:pPr>
            <a:r>
              <a:t>GCC / GPU</a:t>
            </a:r>
          </a:p>
          <a:p>
            <a:pPr algn="l">
              <a:defRPr sz="750" b="0">
                <a:solidFill>
                  <a:srgbClr val="334155"/>
                </a:solidFill>
                <a:latin typeface="Avenir Next"/>
              </a:defRPr>
            </a:pPr>
            <a:r>
              <a:t>Kokkos · ROCm gfx942 · GPU-aware MPICH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92640" y="3203447"/>
            <a:ext cx="384048" cy="5638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650" b="0">
                <a:solidFill>
                  <a:srgbClr val="64748B"/>
                </a:solidFill>
                <a:latin typeface="Avenir Next"/>
              </a:defRPr>
            </a:pPr>
            <a:r>
              <a:t>yaml lock view mods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790688" y="3476243"/>
            <a:ext cx="91439" cy="0"/>
          </a:xfrm>
          <a:prstGeom prst="line">
            <a:avLst/>
          </a:prstGeom>
          <a:ln w="19050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0094976" y="3476243"/>
            <a:ext cx="128016" cy="0"/>
          </a:xfrm>
          <a:prstGeom prst="line">
            <a:avLst/>
          </a:prstGeom>
          <a:ln w="15875">
            <a:solidFill>
              <a:srgbClr val="1E3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7882127" y="3877055"/>
            <a:ext cx="2212848" cy="655319"/>
          </a:xfrm>
          <a:prstGeom prst="roundRect">
            <a:avLst/>
          </a:prstGeom>
          <a:solidFill>
            <a:srgbClr val="FDF3E3"/>
          </a:solidFill>
          <a:ln w="1587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991856" y="3931919"/>
            <a:ext cx="1691640" cy="5638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D97706"/>
                </a:solidFill>
                <a:latin typeface="Avenir Next"/>
              </a:defRPr>
            </a:pPr>
            <a:r>
              <a:t>CCE / Serial</a:t>
            </a:r>
          </a:p>
          <a:p>
            <a:pPr algn="l">
              <a:defRPr sz="750" b="0">
                <a:solidFill>
                  <a:srgbClr val="334155"/>
                </a:solidFill>
                <a:latin typeface="Avenir Next"/>
              </a:defRPr>
            </a:pPr>
            <a:r>
              <a:t>HDF5 · NetCDF — built without MPI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692640" y="3931919"/>
            <a:ext cx="384048" cy="5638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650" b="0">
                <a:solidFill>
                  <a:srgbClr val="64748B"/>
                </a:solidFill>
                <a:latin typeface="Avenir Next"/>
              </a:defRPr>
            </a:pPr>
            <a:r>
              <a:t>yaml lock view mods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7790688" y="4204715"/>
            <a:ext cx="91439" cy="0"/>
          </a:xfrm>
          <a:prstGeom prst="line">
            <a:avLst/>
          </a:prstGeom>
          <a:ln w="19050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0094976" y="4204715"/>
            <a:ext cx="128016" cy="0"/>
          </a:xfrm>
          <a:prstGeom prst="line">
            <a:avLst/>
          </a:prstGeom>
          <a:ln w="15875">
            <a:solidFill>
              <a:srgbClr val="1E3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7882127" y="4605527"/>
            <a:ext cx="2212848" cy="655319"/>
          </a:xfrm>
          <a:prstGeom prst="roundRect">
            <a:avLst/>
          </a:prstGeom>
          <a:solidFill>
            <a:srgbClr val="EAF0FE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991856" y="4660391"/>
            <a:ext cx="1691640" cy="5638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2563EB"/>
                </a:solidFill>
                <a:latin typeface="Avenir Next"/>
              </a:defRPr>
            </a:pPr>
            <a:r>
              <a:t>CCE / MPI</a:t>
            </a:r>
          </a:p>
          <a:p>
            <a:pPr algn="l">
              <a:defRPr sz="750" b="0">
                <a:solidFill>
                  <a:srgbClr val="334155"/>
                </a:solidFill>
                <a:latin typeface="Avenir Next"/>
              </a:defRPr>
            </a:pPr>
            <a:r>
              <a:t>Cray MPICH · HDF5+MPI · PnetCDF · TAU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92640" y="4660391"/>
            <a:ext cx="384048" cy="5638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650" b="0">
                <a:solidFill>
                  <a:srgbClr val="64748B"/>
                </a:solidFill>
                <a:latin typeface="Avenir Next"/>
              </a:defRPr>
            </a:pPr>
            <a:r>
              <a:t>yaml lock view mods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7790688" y="4933187"/>
            <a:ext cx="91439" cy="0"/>
          </a:xfrm>
          <a:prstGeom prst="line">
            <a:avLst/>
          </a:prstGeom>
          <a:ln w="19050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0094976" y="4933187"/>
            <a:ext cx="128016" cy="0"/>
          </a:xfrm>
          <a:prstGeom prst="line">
            <a:avLst/>
          </a:prstGeom>
          <a:ln w="15875">
            <a:solidFill>
              <a:srgbClr val="1E3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7882127" y="5333999"/>
            <a:ext cx="2212848" cy="655319"/>
          </a:xfrm>
          <a:prstGeom prst="roundRect">
            <a:avLst/>
          </a:prstGeom>
          <a:solidFill>
            <a:srgbClr val="F2EBFD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991856" y="5388863"/>
            <a:ext cx="1691640" cy="5638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7C3AED"/>
                </a:solidFill>
                <a:latin typeface="Avenir Next"/>
              </a:defRPr>
            </a:pPr>
            <a:r>
              <a:t>CCE / GPU</a:t>
            </a:r>
          </a:p>
          <a:p>
            <a:pPr algn="l">
              <a:defRPr sz="750" b="0">
                <a:solidFill>
                  <a:srgbClr val="334155"/>
                </a:solidFill>
                <a:latin typeface="Avenir Next"/>
              </a:defRPr>
            </a:pPr>
            <a:r>
              <a:t>Kokkos · ROCm gfx942 · GPU-aware MPICH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92640" y="5388863"/>
            <a:ext cx="384048" cy="5638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650" b="0">
                <a:solidFill>
                  <a:srgbClr val="64748B"/>
                </a:solidFill>
                <a:latin typeface="Avenir Next"/>
              </a:defRPr>
            </a:pPr>
            <a:r>
              <a:t>yaml lock view mods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7790688" y="5661659"/>
            <a:ext cx="91439" cy="0"/>
          </a:xfrm>
          <a:prstGeom prst="line">
            <a:avLst/>
          </a:prstGeom>
          <a:ln w="19050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0094976" y="5661659"/>
            <a:ext cx="128016" cy="0"/>
          </a:xfrm>
          <a:prstGeom prst="line">
            <a:avLst/>
          </a:prstGeom>
          <a:ln w="15875">
            <a:solidFill>
              <a:srgbClr val="1E3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7626096" y="3703320"/>
            <a:ext cx="164592" cy="0"/>
          </a:xfrm>
          <a:prstGeom prst="line">
            <a:avLst/>
          </a:prstGeom>
          <a:ln w="22225">
            <a:solidFill>
              <a:srgbClr val="0D948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7790688" y="2019300"/>
            <a:ext cx="0" cy="3642359"/>
          </a:xfrm>
          <a:prstGeom prst="line">
            <a:avLst/>
          </a:prstGeom>
          <a:ln w="22225">
            <a:solidFill>
              <a:srgbClr val="0D948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0222992" y="2019300"/>
            <a:ext cx="0" cy="3642359"/>
          </a:xfrm>
          <a:prstGeom prst="line">
            <a:avLst/>
          </a:prstGeom>
          <a:ln w="15875">
            <a:solidFill>
              <a:srgbClr val="1E3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0222992" y="3703320"/>
            <a:ext cx="128016" cy="0"/>
          </a:xfrm>
          <a:prstGeom prst="line">
            <a:avLst/>
          </a:prstGeom>
          <a:ln w="22225">
            <a:solidFill>
              <a:srgbClr val="1E3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ounded Rectangle 84"/>
          <p:cNvSpPr/>
          <p:nvPr/>
        </p:nvSpPr>
        <p:spPr>
          <a:xfrm>
            <a:off x="10351008" y="1691640"/>
            <a:ext cx="868680" cy="4297679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424160" y="1783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1100" b="0">
                <a:solidFill>
                  <a:srgbClr val="0D9488"/>
                </a:solidFill>
                <a:latin typeface="Avenir Next"/>
              </a:defRPr>
            </a:pPr>
            <a:r>
              <a:t>✅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405872" y="2148840"/>
            <a:ext cx="7680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850" b="1">
                <a:solidFill>
                  <a:srgbClr val="334155"/>
                </a:solidFill>
                <a:latin typeface="Avenir Next"/>
              </a:defRPr>
            </a:pPr>
            <a:r>
              <a:t>Concretize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10561320" y="2532888"/>
            <a:ext cx="0" cy="128016"/>
          </a:xfrm>
          <a:prstGeom prst="line">
            <a:avLst/>
          </a:prstGeom>
          <a:ln w="12700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10405872" y="2715768"/>
            <a:ext cx="7680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850" b="1">
                <a:solidFill>
                  <a:srgbClr val="334155"/>
                </a:solidFill>
                <a:latin typeface="Avenir Next"/>
              </a:defRPr>
            </a:pPr>
            <a:r>
              <a:t>Fetch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10561320" y="3099816"/>
            <a:ext cx="0" cy="128016"/>
          </a:xfrm>
          <a:prstGeom prst="line">
            <a:avLst/>
          </a:prstGeom>
          <a:ln w="12700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10405872" y="3282696"/>
            <a:ext cx="7680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850" b="1">
                <a:solidFill>
                  <a:srgbClr val="334155"/>
                </a:solidFill>
                <a:latin typeface="Avenir Next"/>
              </a:defRPr>
            </a:pPr>
            <a:r>
              <a:t>Install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10561320" y="3666744"/>
            <a:ext cx="0" cy="128016"/>
          </a:xfrm>
          <a:prstGeom prst="line">
            <a:avLst/>
          </a:prstGeom>
          <a:ln w="12700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10405872" y="3849624"/>
            <a:ext cx="7680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850" b="1">
                <a:solidFill>
                  <a:srgbClr val="334155"/>
                </a:solidFill>
                <a:latin typeface="Avenir Next"/>
              </a:defRPr>
            </a:pPr>
            <a:r>
              <a:t>Test / verify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10561320" y="4233672"/>
            <a:ext cx="0" cy="128016"/>
          </a:xfrm>
          <a:prstGeom prst="line">
            <a:avLst/>
          </a:prstGeom>
          <a:ln w="12700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10405872" y="4416552"/>
            <a:ext cx="7680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850" b="1">
                <a:solidFill>
                  <a:srgbClr val="334155"/>
                </a:solidFill>
                <a:latin typeface="Avenir Next"/>
              </a:defRPr>
            </a:pPr>
            <a:r>
              <a:t>Benchmarks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10561320" y="4800600"/>
            <a:ext cx="0" cy="128016"/>
          </a:xfrm>
          <a:prstGeom prst="line">
            <a:avLst/>
          </a:prstGeom>
          <a:ln w="12700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10405872" y="4983480"/>
            <a:ext cx="7680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850" b="1">
                <a:solidFill>
                  <a:srgbClr val="334155"/>
                </a:solidFill>
                <a:latin typeface="Avenir Next"/>
              </a:defRPr>
            </a:pPr>
            <a:r>
              <a:t>Smoke runs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405872" y="5577840"/>
            <a:ext cx="7680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700" b="0">
                <a:solidFill>
                  <a:srgbClr val="64748B"/>
                </a:solidFill>
                <a:latin typeface="Avenir Next"/>
              </a:defRPr>
            </a:pPr>
            <a:r>
              <a:t>lanes build in parallel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11219688" y="3703320"/>
            <a:ext cx="118872" cy="0"/>
          </a:xfrm>
          <a:prstGeom prst="line">
            <a:avLst/>
          </a:prstGeom>
          <a:ln w="22225">
            <a:solidFill>
              <a:srgbClr val="1E3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ounded Rectangle 99"/>
          <p:cNvSpPr/>
          <p:nvPr/>
        </p:nvSpPr>
        <p:spPr>
          <a:xfrm>
            <a:off x="11338560" y="1691640"/>
            <a:ext cx="548640" cy="4297679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356848" y="1783080"/>
            <a:ext cx="512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1200" b="0">
                <a:solidFill>
                  <a:srgbClr val="0F172A"/>
                </a:solidFill>
                <a:latin typeface="Avenir Next"/>
              </a:defRPr>
            </a:pPr>
            <a:r>
              <a:t>📣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60" y="225856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800" b="1">
                <a:solidFill>
                  <a:srgbClr val="7C3AED"/>
                </a:solidFill>
                <a:latin typeface="Avenir Next"/>
              </a:defRPr>
            </a:pPr>
            <a:r>
              <a:t>views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338560" y="271576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800" b="1">
                <a:solidFill>
                  <a:srgbClr val="7C3AED"/>
                </a:solidFill>
                <a:latin typeface="Avenir Next"/>
              </a:defRPr>
            </a:pPr>
            <a:r>
              <a:t>modules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338560" y="317296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800" b="1">
                <a:solidFill>
                  <a:srgbClr val="7C3AED"/>
                </a:solidFill>
                <a:latin typeface="Avenir Next"/>
              </a:defRPr>
            </a:pPr>
            <a:r>
              <a:t>caches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338560" y="363016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800" b="1">
                <a:solidFill>
                  <a:srgbClr val="7C3AED"/>
                </a:solidFill>
                <a:latin typeface="Avenir Next"/>
              </a:defRPr>
            </a:pPr>
            <a:r>
              <a:t>release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51008" y="6044183"/>
            <a:ext cx="15544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750" b="1">
                <a:solidFill>
                  <a:srgbClr val="0F172A"/>
                </a:solidFill>
                <a:latin typeface="Avenir Next"/>
              </a:defRPr>
            </a:pPr>
            <a:r>
              <a:t>user modules</a:t>
            </a:r>
          </a:p>
          <a:p>
            <a:pPr algn="l">
              <a:defRPr sz="700" b="0">
                <a:solidFill>
                  <a:srgbClr val="64748B"/>
                </a:solidFill>
                <a:latin typeface="Avenir Next"/>
              </a:defRPr>
            </a:pPr>
            <a:r>
              <a:t>CSE/Core (auto)</a:t>
            </a:r>
          </a:p>
          <a:p>
            <a:pPr algn="l">
              <a:defRPr sz="700" b="0">
                <a:solidFill>
                  <a:srgbClr val="64748B"/>
                </a:solidFill>
                <a:latin typeface="Avenir Next"/>
              </a:defRPr>
            </a:pPr>
            <a:r>
              <a:t>CSE/GCC/Serial</a:t>
            </a:r>
          </a:p>
          <a:p>
            <a:pPr algn="l">
              <a:defRPr sz="700" b="0">
                <a:solidFill>
                  <a:srgbClr val="64748B"/>
                </a:solidFill>
                <a:latin typeface="Avenir Next"/>
              </a:defRPr>
            </a:pPr>
            <a:r>
              <a:t>CSE/GCC/MPI</a:t>
            </a:r>
          </a:p>
          <a:p>
            <a:pPr algn="l">
              <a:defRPr sz="700" b="0">
                <a:solidFill>
                  <a:srgbClr val="64748B"/>
                </a:solidFill>
                <a:latin typeface="Avenir Next"/>
              </a:defRPr>
            </a:pPr>
            <a:r>
              <a:t>CSE/GCC/GPU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10896" y="611733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50" b="1">
                <a:solidFill>
                  <a:srgbClr val="0F172A"/>
                </a:solidFill>
                <a:latin typeface="Avenir Next"/>
              </a:defRPr>
            </a:pPr>
            <a:r>
              <a:t>legend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1051560" y="6227064"/>
            <a:ext cx="365760" cy="0"/>
          </a:xfrm>
          <a:prstGeom prst="line">
            <a:avLst/>
          </a:prstGeom>
          <a:ln w="22225">
            <a:solidFill>
              <a:srgbClr val="1E3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1463040" y="61173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Avenir Next"/>
              </a:defRPr>
            </a:pPr>
            <a:r>
              <a:t>build flow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2377440" y="6227064"/>
            <a:ext cx="365760" cy="0"/>
          </a:xfrm>
          <a:prstGeom prst="line">
            <a:avLst/>
          </a:prstGeom>
          <a:ln w="22225">
            <a:solidFill>
              <a:srgbClr val="0D948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/>
          <p:cNvSpPr txBox="1"/>
          <p:nvPr/>
        </p:nvSpPr>
        <p:spPr>
          <a:xfrm>
            <a:off x="2788920" y="611733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Avenir Next"/>
              </a:defRPr>
            </a:pPr>
            <a:r>
              <a:t>reuse — built once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297680" y="6062472"/>
            <a:ext cx="3291840" cy="457200"/>
          </a:xfrm>
          <a:prstGeom prst="roundRect">
            <a:avLst/>
          </a:prstGeom>
          <a:solidFill>
            <a:srgbClr val="EAF0FE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E3A8A"/>
                </a:solidFill>
                <a:latin typeface="Avenir Next"/>
              </a:defRPr>
            </a:pPr>
            <a:r>
              <a:t>One MPI on the system → lanes stay unqualified: Serial · MPI · GPU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7772400" y="6062472"/>
            <a:ext cx="2377440" cy="457200"/>
          </a:xfrm>
          <a:prstGeom prst="roundRect">
            <a:avLst/>
          </a:prstGeom>
          <a:solidFill>
            <a:srgbClr val="F2EBFD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7C3AED"/>
                </a:solidFill>
                <a:latin typeface="Avenir Next"/>
              </a:defRPr>
            </a:pPr>
            <a:r>
              <a:t>Cray MPICH is the production MPI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2300" b="1">
                <a:solidFill>
                  <a:srgbClr val="0F172A"/>
                </a:solidFill>
                <a:latin typeface="Avenir Next"/>
              </a:defRPr>
            </a:pPr>
            <a:r>
              <a:t>CSE Spack Stack Build Flow — Linux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48640"/>
            <a:ext cx="11430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1250" b="1">
                <a:solidFill>
                  <a:srgbClr val="2563EB"/>
                </a:solidFill>
                <a:latin typeface="Avenir Next"/>
              </a:defRPr>
            </a:pPr>
            <a:r>
              <a:t>Site compiler surfaces + shared Core + lanes qualified per MPI implementation</a:t>
            </a:r>
          </a:p>
        </p:txBody>
      </p:sp>
      <p:sp>
        <p:nvSpPr>
          <p:cNvPr id="5" name="Oval 4"/>
          <p:cNvSpPr/>
          <p:nvPr/>
        </p:nvSpPr>
        <p:spPr>
          <a:xfrm>
            <a:off x="969264" y="896112"/>
            <a:ext cx="256032" cy="256032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100" b="1">
                <a:solidFill>
                  <a:srgbClr val="FFFFFF"/>
                </a:solidFill>
                <a:latin typeface="Avenir Next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179576"/>
            <a:ext cx="1554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850" b="1">
                <a:solidFill>
                  <a:srgbClr val="0F172A"/>
                </a:solidFill>
                <a:latin typeface="Avenir Next"/>
              </a:defRPr>
            </a:pPr>
            <a:r>
              <a:t>System inspection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600200" y="1024128"/>
            <a:ext cx="685800" cy="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2660903" y="896112"/>
            <a:ext cx="256032" cy="256032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100" b="1">
                <a:solidFill>
                  <a:srgbClr val="FFFFFF"/>
                </a:solidFill>
                <a:latin typeface="Avenir Next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79" y="1179576"/>
            <a:ext cx="1554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850" b="1">
                <a:solidFill>
                  <a:srgbClr val="0F172A"/>
                </a:solidFill>
                <a:latin typeface="Avenir Next"/>
              </a:defRPr>
            </a:pPr>
            <a:r>
              <a:t>Register compilers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91839" y="1024128"/>
            <a:ext cx="521209" cy="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4187952" y="896112"/>
            <a:ext cx="256032" cy="256032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100" b="1">
                <a:solidFill>
                  <a:srgbClr val="FFFFFF"/>
                </a:solidFill>
                <a:latin typeface="Avenir Next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7" y="1179576"/>
            <a:ext cx="1554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850" b="1">
                <a:solidFill>
                  <a:srgbClr val="0F172A"/>
                </a:solidFill>
                <a:latin typeface="Avenir Next"/>
              </a:defRPr>
            </a:pPr>
            <a:r>
              <a:t>Compilers ready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818888" y="1024128"/>
            <a:ext cx="667512" cy="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5861304" y="896112"/>
            <a:ext cx="256032" cy="256032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100" b="1">
                <a:solidFill>
                  <a:srgbClr val="FFFFFF"/>
                </a:solidFill>
                <a:latin typeface="Avenir Next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1179576"/>
            <a:ext cx="1554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850" b="1">
                <a:solidFill>
                  <a:srgbClr val="0F172A"/>
                </a:solidFill>
                <a:latin typeface="Avenir Next"/>
              </a:defRPr>
            </a:pPr>
            <a:r>
              <a:t>Build Core once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92240" y="1024128"/>
            <a:ext cx="1737360" cy="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8604504" y="896112"/>
            <a:ext cx="256032" cy="256032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100" b="1">
                <a:solidFill>
                  <a:srgbClr val="FFFFFF"/>
                </a:solidFill>
                <a:latin typeface="Avenir Next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0" y="1179576"/>
            <a:ext cx="1554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850" b="1">
                <a:solidFill>
                  <a:srgbClr val="0F172A"/>
                </a:solidFill>
                <a:latin typeface="Avenir Next"/>
              </a:defRPr>
            </a:pPr>
            <a:r>
              <a:t>Fan-out lanes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235440" y="1024128"/>
            <a:ext cx="731519" cy="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10341863" y="896112"/>
            <a:ext cx="256032" cy="256032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100" b="1">
                <a:solidFill>
                  <a:srgbClr val="FFFFFF"/>
                </a:solidFill>
                <a:latin typeface="Avenir Next"/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1179576"/>
            <a:ext cx="1554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850" b="1">
                <a:solidFill>
                  <a:srgbClr val="0F172A"/>
                </a:solidFill>
                <a:latin typeface="Avenir Next"/>
              </a:defRPr>
            </a:pPr>
            <a:r>
              <a:t>Build and validate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972800" y="1024128"/>
            <a:ext cx="100584" cy="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11448288" y="896112"/>
            <a:ext cx="256032" cy="256032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100" b="1">
                <a:solidFill>
                  <a:srgbClr val="FFFFFF"/>
                </a:solidFill>
                <a:latin typeface="Avenir Next"/>
              </a:defRPr>
            </a:pPr>
            <a: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99064" y="1179576"/>
            <a:ext cx="1554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850" b="1">
                <a:solidFill>
                  <a:srgbClr val="0F172A"/>
                </a:solidFill>
                <a:latin typeface="Avenir Next"/>
              </a:defRPr>
            </a:pPr>
            <a:r>
              <a:t>Publish to users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2608" y="1691640"/>
            <a:ext cx="1609344" cy="4297679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2336" y="1783080"/>
            <a:ext cx="1417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1E3A8A"/>
                </a:solidFill>
                <a:latin typeface="Avenir Next"/>
              </a:defRPr>
            </a:pPr>
            <a:r>
              <a:t>🔍  Environment facts (probed)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2336" y="2350008"/>
            <a:ext cx="1389888" cy="42062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850">
                <a:solidFill>
                  <a:srgbClr val="334155"/>
                </a:solidFill>
                <a:latin typeface="Avenir Next"/>
              </a:defRPr>
            </a:pPr>
            <a:r>
              <a:t>OS = RHEL 9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" y="2862072"/>
            <a:ext cx="1389888" cy="42062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850">
                <a:solidFill>
                  <a:srgbClr val="334155"/>
                </a:solidFill>
                <a:latin typeface="Avenir Next"/>
              </a:defRPr>
            </a:pPr>
            <a:r>
              <a:t>CPU target = zen3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2336" y="3374136"/>
            <a:ext cx="1389888" cy="42062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850">
                <a:solidFill>
                  <a:srgbClr val="334155"/>
                </a:solidFill>
                <a:latin typeface="Avenir Next"/>
              </a:defRPr>
            </a:pPr>
            <a:r>
              <a:t>Site MPIs = Open MPI + MPICH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2336" y="3886200"/>
            <a:ext cx="1389888" cy="42062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850">
                <a:solidFill>
                  <a:srgbClr val="334155"/>
                </a:solidFill>
                <a:latin typeface="Avenir Next"/>
              </a:defRPr>
            </a:pPr>
            <a:r>
              <a:t>Fabric = InfiniBand / UCX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02336" y="4398264"/>
            <a:ext cx="1389888" cy="42062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850">
                <a:solidFill>
                  <a:srgbClr val="334155"/>
                </a:solidFill>
                <a:latin typeface="Avenir Next"/>
              </a:defRPr>
            </a:pPr>
            <a:r>
              <a:t>GPU = A100 (sm_80)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02336" y="4910328"/>
            <a:ext cx="1389888" cy="42062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850">
                <a:solidFill>
                  <a:srgbClr val="334155"/>
                </a:solidFill>
                <a:latin typeface="Avenir Next"/>
              </a:defRPr>
            </a:pPr>
            <a:r>
              <a:t>Scheduler = Slurm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2336" y="5422392"/>
            <a:ext cx="1389888" cy="42062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850">
                <a:solidFill>
                  <a:srgbClr val="334155"/>
                </a:solidFill>
                <a:latin typeface="Avenir Next"/>
              </a:defRPr>
            </a:pPr>
            <a:r>
              <a:t>Modules = Lmod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029968" y="1691640"/>
            <a:ext cx="1517904" cy="4297679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139696" y="1783080"/>
            <a:ext cx="1325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1E3A8A"/>
                </a:solidFill>
                <a:latin typeface="Avenir Next"/>
              </a:defRPr>
            </a:pPr>
            <a:r>
              <a:t>Compiler surfaces (externals)</a:t>
            </a:r>
          </a:p>
        </p:txBody>
      </p:sp>
      <p:sp>
        <p:nvSpPr>
          <p:cNvPr id="36" name="Regular Pentagon 35"/>
          <p:cNvSpPr/>
          <p:nvPr/>
        </p:nvSpPr>
        <p:spPr>
          <a:xfrm>
            <a:off x="2560320" y="2468880"/>
            <a:ext cx="457200" cy="384048"/>
          </a:xfrm>
          <a:prstGeom prst="pentagon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76272" y="2889504"/>
            <a:ext cx="122529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1300" b="1">
                <a:solidFill>
                  <a:srgbClr val="15803D"/>
                </a:solidFill>
                <a:latin typeface="Avenir Next"/>
              </a:defRPr>
            </a:pPr>
            <a:r>
              <a:t>GCC</a:t>
            </a:r>
          </a:p>
          <a:p>
            <a:pPr algn="ctr">
              <a:defRPr sz="800" b="0">
                <a:solidFill>
                  <a:srgbClr val="64748B"/>
                </a:solidFill>
                <a:latin typeface="Avenir Next"/>
              </a:defRPr>
            </a:pPr>
            <a:r>
              <a:t>site default</a:t>
            </a:r>
          </a:p>
        </p:txBody>
      </p:sp>
      <p:sp>
        <p:nvSpPr>
          <p:cNvPr id="38" name="Regular Pentagon 37"/>
          <p:cNvSpPr/>
          <p:nvPr/>
        </p:nvSpPr>
        <p:spPr>
          <a:xfrm>
            <a:off x="2560320" y="3840480"/>
            <a:ext cx="457200" cy="384048"/>
          </a:xfrm>
          <a:prstGeom prst="pentagon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176272" y="4261104"/>
            <a:ext cx="122529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1300" b="1">
                <a:solidFill>
                  <a:srgbClr val="C2410C"/>
                </a:solidFill>
                <a:latin typeface="Avenir Next"/>
              </a:defRPr>
            </a:pPr>
            <a:r>
              <a:t>AOCC</a:t>
            </a:r>
          </a:p>
          <a:p>
            <a:pPr algn="ctr">
              <a:defRPr sz="800" b="0">
                <a:solidFill>
                  <a:srgbClr val="64748B"/>
                </a:solidFill>
                <a:latin typeface="Avenir Next"/>
              </a:defRPr>
            </a:pPr>
            <a:r>
              <a:t>external · optional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39696" y="5303520"/>
            <a:ext cx="13258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850" b="0">
                <a:solidFill>
                  <a:srgbClr val="64748B"/>
                </a:solidFill>
                <a:latin typeface="Avenir Next"/>
              </a:defRPr>
            </a:pPr>
            <a:r>
              <a:t>each surface = its own module tree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767328" y="3017520"/>
            <a:ext cx="1097280" cy="1371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822191" y="3127248"/>
            <a:ext cx="98755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1600" b="0">
                <a:solidFill>
                  <a:srgbClr val="0F172A"/>
                </a:solidFill>
                <a:latin typeface="Avenir Next"/>
              </a:defRPr>
            </a:pPr>
            <a:r>
              <a:t>🛠</a:t>
            </a:r>
          </a:p>
          <a:p>
            <a:pPr algn="ctr">
              <a:defRPr sz="850" b="1">
                <a:solidFill>
                  <a:srgbClr val="7C3AED"/>
                </a:solidFill>
                <a:latin typeface="Avenir Next"/>
              </a:defRPr>
            </a:pPr>
            <a:r>
              <a:t>compilers registered ·</a:t>
            </a:r>
          </a:p>
          <a:p>
            <a:pPr algn="ctr">
              <a:defRPr sz="850" b="1">
                <a:solidFill>
                  <a:srgbClr val="7C3AED"/>
                </a:solidFill>
                <a:latin typeface="Avenir Next"/>
              </a:defRPr>
            </a:pPr>
            <a:r>
              <a:t>toolchains defined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74920" y="1691640"/>
            <a:ext cx="1828800" cy="42976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12080" y="1783080"/>
            <a:ext cx="1572768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1E3A8A"/>
                </a:solidFill>
                <a:latin typeface="Avenir Next"/>
              </a:defRPr>
            </a:pPr>
            <a:r>
              <a:t>📦  Spack Core environment</a:t>
            </a:r>
          </a:p>
          <a:p>
            <a:pPr algn="l">
              <a:defRPr sz="850" b="0">
                <a:solidFill>
                  <a:srgbClr val="334155"/>
                </a:solidFill>
                <a:latin typeface="Avenir Next"/>
              </a:defRPr>
            </a:pPr>
          </a:p>
          <a:p>
            <a:pPr algn="l">
              <a:defRPr sz="850" b="0">
                <a:solidFill>
                  <a:srgbClr val="334155"/>
                </a:solidFill>
                <a:latin typeface="Avenir Next"/>
              </a:defRPr>
            </a:pPr>
            <a:r>
              <a:t>• built with GCC</a:t>
            </a:r>
          </a:p>
          <a:p>
            <a:pPr algn="l">
              <a:defRPr sz="850" b="0">
                <a:solidFill>
                  <a:srgbClr val="334155"/>
                </a:solidFill>
                <a:latin typeface="Avenir Next"/>
              </a:defRPr>
            </a:pPr>
            <a:r>
              <a:t>• portable target: x86_64_v3</a:t>
            </a:r>
          </a:p>
          <a:p>
            <a:pPr algn="l">
              <a:defRPr sz="850" b="0">
                <a:solidFill>
                  <a:srgbClr val="334155"/>
                </a:solidFill>
                <a:latin typeface="Avenir Next"/>
              </a:defRPr>
            </a:pPr>
            <a:r>
              <a:t>• cmake · ninja · git</a:t>
            </a:r>
          </a:p>
          <a:p>
            <a:pPr algn="l">
              <a:defRPr sz="850" b="0">
                <a:solidFill>
                  <a:srgbClr val="334155"/>
                </a:solidFill>
                <a:latin typeface="Avenir Next"/>
              </a:defRPr>
            </a:pPr>
            <a:r>
              <a:t>• python · miniforge · gsl</a:t>
            </a:r>
          </a:p>
          <a:p>
            <a:pPr algn="l">
              <a:defRPr sz="850" b="0">
                <a:solidFill>
                  <a:srgbClr val="334155"/>
                </a:solidFill>
                <a:latin typeface="Avenir Next"/>
              </a:defRPr>
            </a:pPr>
          </a:p>
          <a:p>
            <a:pPr algn="l">
              <a:defRPr sz="850" b="1">
                <a:solidFill>
                  <a:srgbClr val="475569"/>
                </a:solidFill>
                <a:latin typeface="Avenir Next"/>
              </a:defRPr>
            </a:pPr>
            <a:r>
              <a:t>foundation — in the view:</a:t>
            </a:r>
          </a:p>
          <a:p>
            <a:pPr algn="l">
              <a:defRPr sz="850" b="0">
                <a:solidFill>
                  <a:srgbClr val="334155"/>
                </a:solidFill>
                <a:latin typeface="Avenir Next"/>
              </a:defRPr>
            </a:pPr>
            <a:r>
              <a:t>• zlib · xz · zstd (pinned)</a:t>
            </a:r>
          </a:p>
          <a:p>
            <a:pPr algn="l">
              <a:defRPr sz="850" b="0">
                <a:solidFill>
                  <a:srgbClr val="334155"/>
                </a:solidFill>
                <a:latin typeface="Avenir Next"/>
              </a:defRPr>
            </a:pPr>
          </a:p>
          <a:p>
            <a:pPr algn="l">
              <a:defRPr sz="900" b="1">
                <a:solidFill>
                  <a:srgbClr val="0D9488"/>
                </a:solidFill>
                <a:latin typeface="Avenir Next"/>
              </a:defRPr>
            </a:pPr>
            <a:r>
              <a:t>shared across all surfaces and lanes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901952" y="3840480"/>
            <a:ext cx="128016" cy="0"/>
          </a:xfrm>
          <a:prstGeom prst="line">
            <a:avLst/>
          </a:prstGeom>
          <a:ln w="15875">
            <a:solidFill>
              <a:srgbClr val="1E3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547872" y="3703320"/>
            <a:ext cx="219456" cy="0"/>
          </a:xfrm>
          <a:prstGeom prst="line">
            <a:avLst/>
          </a:prstGeom>
          <a:ln w="15875">
            <a:solidFill>
              <a:srgbClr val="1E3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4864608" y="3703320"/>
            <a:ext cx="210312" cy="0"/>
          </a:xfrm>
          <a:prstGeom prst="line">
            <a:avLst/>
          </a:prstGeom>
          <a:ln w="15875">
            <a:solidFill>
              <a:srgbClr val="1E3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903720" y="3703320"/>
            <a:ext cx="155448" cy="0"/>
          </a:xfrm>
          <a:prstGeom prst="line">
            <a:avLst/>
          </a:prstGeom>
          <a:ln w="158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7059168" y="3310128"/>
            <a:ext cx="566928" cy="786384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50024" y="3383280"/>
            <a:ext cx="603504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1100" b="0">
                <a:solidFill>
                  <a:srgbClr val="0F172A"/>
                </a:solidFill>
                <a:latin typeface="Avenir Next"/>
              </a:defRPr>
            </a:pPr>
            <a:r>
              <a:t>🗂</a:t>
            </a:r>
          </a:p>
          <a:p>
            <a:pPr algn="ctr">
              <a:defRPr sz="700" b="1">
                <a:solidFill>
                  <a:srgbClr val="0D9488"/>
                </a:solidFill>
                <a:latin typeface="Avenir Next"/>
              </a:defRPr>
            </a:pPr>
            <a:r>
              <a:t>core view + cache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882127" y="1691640"/>
            <a:ext cx="2212848" cy="655319"/>
          </a:xfrm>
          <a:prstGeom prst="roundRect">
            <a:avLst/>
          </a:prstGeom>
          <a:solidFill>
            <a:srgbClr val="FDF3E3"/>
          </a:solidFill>
          <a:ln w="1587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91856" y="1746504"/>
            <a:ext cx="1691640" cy="5638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D97706"/>
                </a:solidFill>
                <a:latin typeface="Avenir Next"/>
              </a:defRPr>
            </a:pPr>
            <a:r>
              <a:t>GCC / Serial</a:t>
            </a:r>
          </a:p>
          <a:p>
            <a:pPr algn="l">
              <a:defRPr sz="750" b="0">
                <a:solidFill>
                  <a:srgbClr val="334155"/>
                </a:solidFill>
                <a:latin typeface="Avenir Next"/>
              </a:defRPr>
            </a:pPr>
            <a:r>
              <a:t>HDF5 · NetCDF — built without MPI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92640" y="1746504"/>
            <a:ext cx="384048" cy="5638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650" b="0">
                <a:solidFill>
                  <a:srgbClr val="64748B"/>
                </a:solidFill>
                <a:latin typeface="Avenir Next"/>
              </a:defRPr>
            </a:pPr>
            <a:r>
              <a:t>yaml lock view mods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790688" y="2019300"/>
            <a:ext cx="91439" cy="0"/>
          </a:xfrm>
          <a:prstGeom prst="line">
            <a:avLst/>
          </a:prstGeom>
          <a:ln w="19050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0094976" y="2019300"/>
            <a:ext cx="128016" cy="0"/>
          </a:xfrm>
          <a:prstGeom prst="line">
            <a:avLst/>
          </a:prstGeom>
          <a:ln w="15875">
            <a:solidFill>
              <a:srgbClr val="1E3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7882127" y="2420112"/>
            <a:ext cx="2212848" cy="655319"/>
          </a:xfrm>
          <a:prstGeom prst="roundRect">
            <a:avLst/>
          </a:prstGeom>
          <a:solidFill>
            <a:srgbClr val="EAF0FE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991856" y="2474976"/>
            <a:ext cx="1691640" cy="5638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2563EB"/>
                </a:solidFill>
                <a:latin typeface="Avenir Next"/>
              </a:defRPr>
            </a:pPr>
            <a:r>
              <a:t>GCC / MPI-openmpi</a:t>
            </a:r>
          </a:p>
          <a:p>
            <a:pPr algn="l">
              <a:defRPr sz="750" b="0">
                <a:solidFill>
                  <a:srgbClr val="334155"/>
                </a:solidFill>
                <a:latin typeface="Avenir Next"/>
              </a:defRPr>
            </a:pPr>
            <a:r>
              <a:t>Open MPI 5 (UCX) · HDF5+MPI · TAU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92640" y="2474976"/>
            <a:ext cx="384048" cy="5638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650" b="0">
                <a:solidFill>
                  <a:srgbClr val="64748B"/>
                </a:solidFill>
                <a:latin typeface="Avenir Next"/>
              </a:defRPr>
            </a:pPr>
            <a:r>
              <a:t>yaml lock view mods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790688" y="2747772"/>
            <a:ext cx="91439" cy="0"/>
          </a:xfrm>
          <a:prstGeom prst="line">
            <a:avLst/>
          </a:prstGeom>
          <a:ln w="19050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0094976" y="2747772"/>
            <a:ext cx="128016" cy="0"/>
          </a:xfrm>
          <a:prstGeom prst="line">
            <a:avLst/>
          </a:prstGeom>
          <a:ln w="15875">
            <a:solidFill>
              <a:srgbClr val="1E3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7882127" y="3148583"/>
            <a:ext cx="2212848" cy="655319"/>
          </a:xfrm>
          <a:prstGeom prst="roundRect">
            <a:avLst/>
          </a:prstGeom>
          <a:solidFill>
            <a:srgbClr val="EAF0FE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991856" y="3203447"/>
            <a:ext cx="1691640" cy="5638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2563EB"/>
                </a:solidFill>
                <a:latin typeface="Avenir Next"/>
              </a:defRPr>
            </a:pPr>
            <a:r>
              <a:t>GCC / MPI-mpich</a:t>
            </a:r>
          </a:p>
          <a:p>
            <a:pPr algn="l">
              <a:defRPr sz="750" b="0">
                <a:solidFill>
                  <a:srgbClr val="334155"/>
                </a:solidFill>
                <a:latin typeface="Avenir Next"/>
              </a:defRPr>
            </a:pPr>
            <a:r>
              <a:t>MPICH 4 · HDF5+MPI · TAU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92640" y="3203447"/>
            <a:ext cx="384048" cy="5638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650" b="0">
                <a:solidFill>
                  <a:srgbClr val="64748B"/>
                </a:solidFill>
                <a:latin typeface="Avenir Next"/>
              </a:defRPr>
            </a:pPr>
            <a:r>
              <a:t>yaml lock view mods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790688" y="3476243"/>
            <a:ext cx="91439" cy="0"/>
          </a:xfrm>
          <a:prstGeom prst="line">
            <a:avLst/>
          </a:prstGeom>
          <a:ln w="19050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0094976" y="3476243"/>
            <a:ext cx="128016" cy="0"/>
          </a:xfrm>
          <a:prstGeom prst="line">
            <a:avLst/>
          </a:prstGeom>
          <a:ln w="15875">
            <a:solidFill>
              <a:srgbClr val="1E3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7882127" y="3877055"/>
            <a:ext cx="2212848" cy="655319"/>
          </a:xfrm>
          <a:prstGeom prst="roundRect">
            <a:avLst/>
          </a:prstGeom>
          <a:solidFill>
            <a:srgbClr val="F2EBFD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991856" y="3931919"/>
            <a:ext cx="1691640" cy="5638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7C3AED"/>
                </a:solidFill>
                <a:latin typeface="Avenir Next"/>
              </a:defRPr>
            </a:pPr>
            <a:r>
              <a:t>GCC / GPU-openmpi</a:t>
            </a:r>
          </a:p>
          <a:p>
            <a:pPr algn="l">
              <a:defRPr sz="750" b="0">
                <a:solidFill>
                  <a:srgbClr val="334155"/>
                </a:solidFill>
                <a:latin typeface="Avenir Next"/>
              </a:defRPr>
            </a:pPr>
            <a:r>
              <a:t>Kokkos · CUDA sm_80 · over Open MPI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692640" y="3931919"/>
            <a:ext cx="384048" cy="5638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650" b="0">
                <a:solidFill>
                  <a:srgbClr val="64748B"/>
                </a:solidFill>
                <a:latin typeface="Avenir Next"/>
              </a:defRPr>
            </a:pPr>
            <a:r>
              <a:t>yaml lock view mods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7790688" y="4204715"/>
            <a:ext cx="91439" cy="0"/>
          </a:xfrm>
          <a:prstGeom prst="line">
            <a:avLst/>
          </a:prstGeom>
          <a:ln w="19050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0094976" y="4204715"/>
            <a:ext cx="128016" cy="0"/>
          </a:xfrm>
          <a:prstGeom prst="line">
            <a:avLst/>
          </a:prstGeom>
          <a:ln w="15875">
            <a:solidFill>
              <a:srgbClr val="1E3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7882127" y="4605527"/>
            <a:ext cx="2212848" cy="655319"/>
          </a:xfrm>
          <a:prstGeom prst="roundRect">
            <a:avLst/>
          </a:prstGeom>
          <a:solidFill>
            <a:srgbClr val="F2EBFD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991856" y="4660391"/>
            <a:ext cx="1691640" cy="5638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7C3AED"/>
                </a:solidFill>
                <a:latin typeface="Avenir Next"/>
              </a:defRPr>
            </a:pPr>
            <a:r>
              <a:t>GCC / GPU-mpich</a:t>
            </a:r>
          </a:p>
          <a:p>
            <a:pPr algn="l">
              <a:defRPr sz="750" b="0">
                <a:solidFill>
                  <a:srgbClr val="334155"/>
                </a:solidFill>
                <a:latin typeface="Avenir Next"/>
              </a:defRPr>
            </a:pPr>
            <a:r>
              <a:t>Kokkos · CUDA sm_80 · over MPICH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92640" y="4660391"/>
            <a:ext cx="384048" cy="5638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650" b="0">
                <a:solidFill>
                  <a:srgbClr val="64748B"/>
                </a:solidFill>
                <a:latin typeface="Avenir Next"/>
              </a:defRPr>
            </a:pPr>
            <a:r>
              <a:t>yaml lock view mods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7790688" y="4933187"/>
            <a:ext cx="91439" cy="0"/>
          </a:xfrm>
          <a:prstGeom prst="line">
            <a:avLst/>
          </a:prstGeom>
          <a:ln w="19050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0094976" y="4933187"/>
            <a:ext cx="128016" cy="0"/>
          </a:xfrm>
          <a:prstGeom prst="line">
            <a:avLst/>
          </a:prstGeom>
          <a:ln w="15875">
            <a:solidFill>
              <a:srgbClr val="1E3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7882127" y="5333999"/>
            <a:ext cx="2212848" cy="655319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991856" y="5388863"/>
            <a:ext cx="1691640" cy="5638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475569"/>
                </a:solidFill>
                <a:latin typeface="Avenir Next"/>
              </a:defRPr>
            </a:pPr>
            <a:r>
              <a:t>AOCC / …</a:t>
            </a:r>
          </a:p>
          <a:p>
            <a:pPr algn="l">
              <a:defRPr sz="750" b="0">
                <a:solidFill>
                  <a:srgbClr val="334155"/>
                </a:solidFill>
                <a:latin typeface="Avenir Next"/>
              </a:defRPr>
            </a:pPr>
            <a:r>
              <a:t>same lane set per compiler surface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92640" y="5388863"/>
            <a:ext cx="384048" cy="5638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650" b="0">
                <a:solidFill>
                  <a:srgbClr val="64748B"/>
                </a:solidFill>
                <a:latin typeface="Avenir Next"/>
              </a:defRPr>
            </a:pPr>
            <a:r>
              <a:t>yaml lock view mods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7790688" y="5661659"/>
            <a:ext cx="91439" cy="0"/>
          </a:xfrm>
          <a:prstGeom prst="line">
            <a:avLst/>
          </a:prstGeom>
          <a:ln w="19050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0094976" y="5661659"/>
            <a:ext cx="128016" cy="0"/>
          </a:xfrm>
          <a:prstGeom prst="line">
            <a:avLst/>
          </a:prstGeom>
          <a:ln w="15875">
            <a:solidFill>
              <a:srgbClr val="1E3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7626096" y="3703320"/>
            <a:ext cx="164592" cy="0"/>
          </a:xfrm>
          <a:prstGeom prst="line">
            <a:avLst/>
          </a:prstGeom>
          <a:ln w="22225">
            <a:solidFill>
              <a:srgbClr val="0D948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7790688" y="2019300"/>
            <a:ext cx="0" cy="3642359"/>
          </a:xfrm>
          <a:prstGeom prst="line">
            <a:avLst/>
          </a:prstGeom>
          <a:ln w="22225">
            <a:solidFill>
              <a:srgbClr val="0D948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0222992" y="2019300"/>
            <a:ext cx="0" cy="3642359"/>
          </a:xfrm>
          <a:prstGeom prst="line">
            <a:avLst/>
          </a:prstGeom>
          <a:ln w="15875">
            <a:solidFill>
              <a:srgbClr val="1E3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0222992" y="3703320"/>
            <a:ext cx="128016" cy="0"/>
          </a:xfrm>
          <a:prstGeom prst="line">
            <a:avLst/>
          </a:prstGeom>
          <a:ln w="22225">
            <a:solidFill>
              <a:srgbClr val="1E3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ounded Rectangle 84"/>
          <p:cNvSpPr/>
          <p:nvPr/>
        </p:nvSpPr>
        <p:spPr>
          <a:xfrm>
            <a:off x="10351008" y="1691640"/>
            <a:ext cx="868680" cy="4297679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424160" y="1783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1100" b="0">
                <a:solidFill>
                  <a:srgbClr val="0D9488"/>
                </a:solidFill>
                <a:latin typeface="Avenir Next"/>
              </a:defRPr>
            </a:pPr>
            <a:r>
              <a:t>✅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405872" y="2148840"/>
            <a:ext cx="7680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850" b="1">
                <a:solidFill>
                  <a:srgbClr val="334155"/>
                </a:solidFill>
                <a:latin typeface="Avenir Next"/>
              </a:defRPr>
            </a:pPr>
            <a:r>
              <a:t>Concretize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10561320" y="2532888"/>
            <a:ext cx="0" cy="128016"/>
          </a:xfrm>
          <a:prstGeom prst="line">
            <a:avLst/>
          </a:prstGeom>
          <a:ln w="12700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10405872" y="2715768"/>
            <a:ext cx="7680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850" b="1">
                <a:solidFill>
                  <a:srgbClr val="334155"/>
                </a:solidFill>
                <a:latin typeface="Avenir Next"/>
              </a:defRPr>
            </a:pPr>
            <a:r>
              <a:t>Fetch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10561320" y="3099816"/>
            <a:ext cx="0" cy="128016"/>
          </a:xfrm>
          <a:prstGeom prst="line">
            <a:avLst/>
          </a:prstGeom>
          <a:ln w="12700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10405872" y="3282696"/>
            <a:ext cx="7680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850" b="1">
                <a:solidFill>
                  <a:srgbClr val="334155"/>
                </a:solidFill>
                <a:latin typeface="Avenir Next"/>
              </a:defRPr>
            </a:pPr>
            <a:r>
              <a:t>Install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10561320" y="3666744"/>
            <a:ext cx="0" cy="128016"/>
          </a:xfrm>
          <a:prstGeom prst="line">
            <a:avLst/>
          </a:prstGeom>
          <a:ln w="12700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10405872" y="3849624"/>
            <a:ext cx="7680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850" b="1">
                <a:solidFill>
                  <a:srgbClr val="334155"/>
                </a:solidFill>
                <a:latin typeface="Avenir Next"/>
              </a:defRPr>
            </a:pPr>
            <a:r>
              <a:t>Test / verify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10561320" y="4233672"/>
            <a:ext cx="0" cy="128016"/>
          </a:xfrm>
          <a:prstGeom prst="line">
            <a:avLst/>
          </a:prstGeom>
          <a:ln w="12700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10405872" y="4416552"/>
            <a:ext cx="7680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850" b="1">
                <a:solidFill>
                  <a:srgbClr val="334155"/>
                </a:solidFill>
                <a:latin typeface="Avenir Next"/>
              </a:defRPr>
            </a:pPr>
            <a:r>
              <a:t>Benchmarks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10561320" y="4800600"/>
            <a:ext cx="0" cy="128016"/>
          </a:xfrm>
          <a:prstGeom prst="line">
            <a:avLst/>
          </a:prstGeom>
          <a:ln w="12700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10405872" y="4983480"/>
            <a:ext cx="7680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850" b="1">
                <a:solidFill>
                  <a:srgbClr val="334155"/>
                </a:solidFill>
                <a:latin typeface="Avenir Next"/>
              </a:defRPr>
            </a:pPr>
            <a:r>
              <a:t>Smoke runs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405872" y="5577840"/>
            <a:ext cx="7680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700" b="0">
                <a:solidFill>
                  <a:srgbClr val="64748B"/>
                </a:solidFill>
                <a:latin typeface="Avenir Next"/>
              </a:defRPr>
            </a:pPr>
            <a:r>
              <a:t>lanes build in parallel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11219688" y="3703320"/>
            <a:ext cx="118872" cy="0"/>
          </a:xfrm>
          <a:prstGeom prst="line">
            <a:avLst/>
          </a:prstGeom>
          <a:ln w="22225">
            <a:solidFill>
              <a:srgbClr val="1E3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ounded Rectangle 99"/>
          <p:cNvSpPr/>
          <p:nvPr/>
        </p:nvSpPr>
        <p:spPr>
          <a:xfrm>
            <a:off x="11338560" y="1691640"/>
            <a:ext cx="548640" cy="4297679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356848" y="1783080"/>
            <a:ext cx="512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1200" b="0">
                <a:solidFill>
                  <a:srgbClr val="0F172A"/>
                </a:solidFill>
                <a:latin typeface="Avenir Next"/>
              </a:defRPr>
            </a:pPr>
            <a:r>
              <a:t>📣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60" y="225856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800" b="1">
                <a:solidFill>
                  <a:srgbClr val="7C3AED"/>
                </a:solidFill>
                <a:latin typeface="Avenir Next"/>
              </a:defRPr>
            </a:pPr>
            <a:r>
              <a:t>views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338560" y="271576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800" b="1">
                <a:solidFill>
                  <a:srgbClr val="7C3AED"/>
                </a:solidFill>
                <a:latin typeface="Avenir Next"/>
              </a:defRPr>
            </a:pPr>
            <a:r>
              <a:t>modules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338560" y="317296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800" b="1">
                <a:solidFill>
                  <a:srgbClr val="7C3AED"/>
                </a:solidFill>
                <a:latin typeface="Avenir Next"/>
              </a:defRPr>
            </a:pPr>
            <a:r>
              <a:t>caches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338560" y="363016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800" b="1">
                <a:solidFill>
                  <a:srgbClr val="7C3AED"/>
                </a:solidFill>
                <a:latin typeface="Avenir Next"/>
              </a:defRPr>
            </a:pPr>
            <a:r>
              <a:t>release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51008" y="6044183"/>
            <a:ext cx="15544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750" b="1">
                <a:solidFill>
                  <a:srgbClr val="0F172A"/>
                </a:solidFill>
                <a:latin typeface="Avenir Next"/>
              </a:defRPr>
            </a:pPr>
            <a:r>
              <a:t>user modules</a:t>
            </a:r>
          </a:p>
          <a:p>
            <a:pPr algn="l">
              <a:defRPr sz="700" b="0">
                <a:solidFill>
                  <a:srgbClr val="64748B"/>
                </a:solidFill>
                <a:latin typeface="Avenir Next"/>
              </a:defRPr>
            </a:pPr>
            <a:r>
              <a:t>CSE/Core (auto)</a:t>
            </a:r>
          </a:p>
          <a:p>
            <a:pPr algn="l">
              <a:defRPr sz="700" b="0">
                <a:solidFill>
                  <a:srgbClr val="64748B"/>
                </a:solidFill>
                <a:latin typeface="Avenir Next"/>
              </a:defRPr>
            </a:pPr>
            <a:r>
              <a:t>CSE/GCC/Serial</a:t>
            </a:r>
          </a:p>
          <a:p>
            <a:pPr algn="l">
              <a:defRPr sz="700" b="0">
                <a:solidFill>
                  <a:srgbClr val="64748B"/>
                </a:solidFill>
                <a:latin typeface="Avenir Next"/>
              </a:defRPr>
            </a:pPr>
            <a:r>
              <a:t>CSE/GCC/MPI-openmpi</a:t>
            </a:r>
          </a:p>
          <a:p>
            <a:pPr algn="l">
              <a:defRPr sz="700" b="0">
                <a:solidFill>
                  <a:srgbClr val="64748B"/>
                </a:solidFill>
                <a:latin typeface="Avenir Next"/>
              </a:defRPr>
            </a:pPr>
            <a:r>
              <a:t>CSE/GCC/GPU-openmpi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10896" y="611733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50" b="1">
                <a:solidFill>
                  <a:srgbClr val="0F172A"/>
                </a:solidFill>
                <a:latin typeface="Avenir Next"/>
              </a:defRPr>
            </a:pPr>
            <a:r>
              <a:t>legend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1051560" y="6227064"/>
            <a:ext cx="365760" cy="0"/>
          </a:xfrm>
          <a:prstGeom prst="line">
            <a:avLst/>
          </a:prstGeom>
          <a:ln w="22225">
            <a:solidFill>
              <a:srgbClr val="1E3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1463040" y="61173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Avenir Next"/>
              </a:defRPr>
            </a:pPr>
            <a:r>
              <a:t>build flow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2377440" y="6227064"/>
            <a:ext cx="365760" cy="0"/>
          </a:xfrm>
          <a:prstGeom prst="line">
            <a:avLst/>
          </a:prstGeom>
          <a:ln w="22225">
            <a:solidFill>
              <a:srgbClr val="0D948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/>
          <p:cNvSpPr txBox="1"/>
          <p:nvPr/>
        </p:nvSpPr>
        <p:spPr>
          <a:xfrm>
            <a:off x="2788920" y="611733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Avenir Next"/>
              </a:defRPr>
            </a:pPr>
            <a:r>
              <a:t>reuse — built once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297680" y="6062472"/>
            <a:ext cx="3291840" cy="457200"/>
          </a:xfrm>
          <a:prstGeom prst="roundRect">
            <a:avLst/>
          </a:prstGeom>
          <a:solidFill>
            <a:srgbClr val="EAF0FE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E3A8A"/>
                </a:solidFill>
                <a:latin typeface="Avenir Next"/>
              </a:defRPr>
            </a:pPr>
            <a:r>
              <a:t>Two MPIs on the system → lanes qualify: MPI-&lt;impl&gt; · GPU-&lt;impl&gt;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7772400" y="6062472"/>
            <a:ext cx="2377440" cy="457200"/>
          </a:xfrm>
          <a:prstGeom prst="roundRect">
            <a:avLst/>
          </a:prstGeom>
          <a:solidFill>
            <a:srgbClr val="F2EBFD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7C3AED"/>
                </a:solidFill>
                <a:latin typeface="Avenir Next"/>
              </a:defRPr>
            </a:pPr>
            <a:r>
              <a:t>Open MPI typically built with UCX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
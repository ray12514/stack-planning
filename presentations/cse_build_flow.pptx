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Avenir Next"/>
              </a:defRPr>
            </a:pPr>
            <a:r>
              <a:t>CSE BUILD FLOW ·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venir Next"/>
              </a:defRPr>
            </a:pPr>
            <a:r>
              <a:t>Cray system  ·  Blueback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15568"/>
            <a:ext cx="1371600" cy="411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566928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50" b="0">
                <a:solidFill>
                  <a:srgbClr val="64748B"/>
                </a:solidFill>
                <a:latin typeface="Avenir Next"/>
              </a:defRPr>
            </a:pPr>
            <a:r>
              <a:t>Cray MPICH is the primary production MPI on Cray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PROBE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cluster-inspector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reads the 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40864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87168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POLICY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one small site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defaults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79392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25696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RENDER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stack-composer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emits every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1792224"/>
            <a:ext cx="137159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64224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BUILD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Spack · lanes build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in parallel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02752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VALIDATE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tests · benchmarks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smoke runs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94976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41280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PUBLISH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modules · views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build caches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390" y="2212848"/>
            <a:ext cx="0" cy="27432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167128" y="2487168"/>
            <a:ext cx="786384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50" b="1">
                <a:solidFill>
                  <a:srgbClr val="0F172A"/>
                </a:solidFill>
                <a:latin typeface="Avenir Next"/>
              </a:defRPr>
            </a:pPr>
            <a:r>
              <a:t>Core + Foundation — built once per surface · portable target (x86_64_v3)</a:t>
            </a:r>
          </a:p>
          <a:p>
            <a:pPr algn="ctr">
              <a:defRPr sz="1050" b="0">
                <a:solidFill>
                  <a:srgbClr val="64748B"/>
                </a:solidFill>
                <a:latin typeface="Avenir Next"/>
              </a:defRPr>
            </a:pPr>
            <a:r>
              <a:t>core: cmake · ninja · git · python · miniforge · gsl     foundation: zlib · xz · zstd (single pinned version, ambient in the view)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383280" y="3310128"/>
            <a:ext cx="914400" cy="365759"/>
          </a:xfrm>
          <a:prstGeom prst="line">
            <a:avLst/>
          </a:prstGeom>
          <a:ln w="25400">
            <a:solidFill>
              <a:srgbClr val="47556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91272" y="3310128"/>
            <a:ext cx="914400" cy="365759"/>
          </a:xfrm>
          <a:prstGeom prst="line">
            <a:avLst/>
          </a:prstGeom>
          <a:ln w="25400">
            <a:solidFill>
              <a:srgbClr val="47556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3675887"/>
            <a:ext cx="5074920" cy="1828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785615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  <a:latin typeface="Avenir Next"/>
              </a:defRPr>
            </a:pPr>
            <a:r>
              <a:t>cse/gcc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169663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venir Next"/>
              </a:defRPr>
            </a:pPr>
            <a:r>
              <a:t>PrgEnv-gnu — system default surface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590288"/>
            <a:ext cx="1572768" cy="7132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serial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4590288"/>
            <a:ext cx="1572768" cy="7132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mpi-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craympich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4590288"/>
            <a:ext cx="1572768" cy="7132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gpu-craympich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gfx942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675887"/>
            <a:ext cx="5074920" cy="1828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785615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  <a:latin typeface="Avenir Next"/>
              </a:defRPr>
            </a:pPr>
            <a:r>
              <a:t>cse/cce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169663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venir Next"/>
              </a:defRPr>
            </a:pPr>
            <a:r>
              <a:t>PrgEnv-cray — vendor compiler surface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8232" y="4590288"/>
            <a:ext cx="1572768" cy="7132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serial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590288"/>
            <a:ext cx="1572768" cy="7132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mpi-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craympich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6648" y="4590288"/>
            <a:ext cx="1572768" cy="7132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gpu-craympich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gfx942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06440"/>
            <a:ext cx="7955279" cy="6217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50" b="1">
                <a:solidFill>
                  <a:srgbClr val="0F172A"/>
                </a:solidFill>
                <a:latin typeface="Avenir Next"/>
              </a:defRPr>
            </a:pPr>
            <a:r>
              <a:t>User:  module load cse/&lt;compiler&gt;  →  core loads · foundation in the view  →  choose exactly one 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833872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venir Next"/>
              </a:defRPr>
            </a:pPr>
            <a:r>
              <a:t>——  build flow</a:t>
            </a:r>
          </a:p>
          <a:p>
            <a:pPr algn="l">
              <a:defRPr sz="1000" b="0">
                <a:solidFill>
                  <a:srgbClr val="64748B"/>
                </a:solidFill>
                <a:latin typeface="Avenir Next"/>
              </a:defRPr>
            </a:pPr>
            <a:r>
              <a:t>- - -  reuse (built once)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Avenir Next"/>
              </a:defRPr>
            </a:pPr>
            <a:r>
              <a:t>CSE BUILD FLOW ·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venir Next"/>
              </a:defRPr>
            </a:pPr>
            <a:r>
              <a:t>Generic Linux system  ·  Raider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15568"/>
            <a:ext cx="1371600" cy="411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566928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50" b="0">
                <a:solidFill>
                  <a:srgbClr val="64748B"/>
                </a:solidFill>
                <a:latin typeface="Avenir Next"/>
              </a:defRPr>
            </a:pPr>
            <a:r>
              <a:t>Open MPI on InfiniBand/Slingshot fabrics · newest site version by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PROBE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cluster-inspector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reads the 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40864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87168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POLICY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one small site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defaults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79392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25696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RENDER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stack-composer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emits every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1792224"/>
            <a:ext cx="137159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64224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BUILD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Spack · lanes build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in parallel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02752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VALIDATE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tests · benchmarks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smoke runs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94976" y="1792224"/>
            <a:ext cx="13716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41280" y="1371600"/>
            <a:ext cx="1783080" cy="8412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0F172A"/>
                </a:solidFill>
                <a:latin typeface="Avenir Next"/>
              </a:defRPr>
            </a:pPr>
            <a:r>
              <a:t>PUBLISH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modules · views</a:t>
            </a:r>
          </a:p>
          <a:p>
            <a:pPr algn="ctr">
              <a:defRPr sz="950" b="0">
                <a:solidFill>
                  <a:srgbClr val="64748B"/>
                </a:solidFill>
                <a:latin typeface="Avenir Next"/>
              </a:defRPr>
            </a:pPr>
            <a:r>
              <a:t>build caches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390" y="2212848"/>
            <a:ext cx="0" cy="27432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167128" y="2487168"/>
            <a:ext cx="786384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50" b="1">
                <a:solidFill>
                  <a:srgbClr val="0F172A"/>
                </a:solidFill>
                <a:latin typeface="Avenir Next"/>
              </a:defRPr>
            </a:pPr>
            <a:r>
              <a:t>Core + Foundation — built once per surface · portable target (x86_64_v3)</a:t>
            </a:r>
          </a:p>
          <a:p>
            <a:pPr algn="ctr">
              <a:defRPr sz="1050" b="0">
                <a:solidFill>
                  <a:srgbClr val="64748B"/>
                </a:solidFill>
                <a:latin typeface="Avenir Next"/>
              </a:defRPr>
            </a:pPr>
            <a:r>
              <a:t>core: cmake · ninja · git · python · miniforge · gsl     foundation: zlib · xz · zstd (single pinned version, ambient in the view)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383280" y="3310128"/>
            <a:ext cx="914400" cy="365759"/>
          </a:xfrm>
          <a:prstGeom prst="line">
            <a:avLst/>
          </a:prstGeom>
          <a:ln w="25400">
            <a:solidFill>
              <a:srgbClr val="47556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91272" y="3310128"/>
            <a:ext cx="914400" cy="365759"/>
          </a:xfrm>
          <a:prstGeom prst="line">
            <a:avLst/>
          </a:prstGeom>
          <a:ln w="25400">
            <a:solidFill>
              <a:srgbClr val="47556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3675887"/>
            <a:ext cx="5074920" cy="1828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785615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  <a:latin typeface="Avenir Next"/>
              </a:defRPr>
            </a:pPr>
            <a:r>
              <a:t>cse/gcc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169663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venir Next"/>
              </a:defRPr>
            </a:pPr>
            <a:r>
              <a:t>site GCC — reference surface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590288"/>
            <a:ext cx="1572768" cy="7132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serial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4590288"/>
            <a:ext cx="1572768" cy="7132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mpi-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openmpi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4590288"/>
            <a:ext cx="1572768" cy="7132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gpu-openmpi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sm_80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675887"/>
            <a:ext cx="5074920" cy="1828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785615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  <a:latin typeface="Avenir Next"/>
              </a:defRPr>
            </a:pPr>
            <a:r>
              <a:t>cse/&lt;system-default&gt;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169663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venir Next"/>
              </a:defRPr>
            </a:pPr>
            <a:r>
              <a:t>the machine's blessed 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8232" y="4590288"/>
            <a:ext cx="1572768" cy="7132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serial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590288"/>
            <a:ext cx="1572768" cy="7132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mpi-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openmpi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6648" y="4590288"/>
            <a:ext cx="1572768" cy="7132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gpu-openmpi</a:t>
            </a:r>
          </a:p>
          <a:p>
            <a:pPr algn="ctr">
              <a:defRPr sz="900" b="0">
                <a:solidFill>
                  <a:srgbClr val="FFFFFF"/>
                </a:solidFill>
                <a:latin typeface="Avenir Next"/>
              </a:defRPr>
            </a:pPr>
            <a:r>
              <a:t>sm_80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06440"/>
            <a:ext cx="7955279" cy="6217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50" b="1">
                <a:solidFill>
                  <a:srgbClr val="0F172A"/>
                </a:solidFill>
                <a:latin typeface="Avenir Next"/>
              </a:defRPr>
            </a:pPr>
            <a:r>
              <a:t>User:  module load cse/&lt;compiler&gt;  →  core loads · foundation in the view  →  choose exactly one 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833872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venir Next"/>
              </a:defRPr>
            </a:pPr>
            <a:r>
              <a:t>——  build flow</a:t>
            </a:r>
          </a:p>
          <a:p>
            <a:pPr algn="l">
              <a:defRPr sz="1000" b="0">
                <a:solidFill>
                  <a:srgbClr val="64748B"/>
                </a:solidFill>
                <a:latin typeface="Avenir Next"/>
              </a:defRPr>
            </a:pPr>
            <a:r>
              <a:t>- - -  reuse (built once)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